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1675"/>
  <p:notesSz cx="6858000" cy="9144000"/>
  <p:embeddedFontLst>
    <p:embeddedFont>
      <p:font typeface="Average"/>
      <p:regular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Average-regular.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640c65cc84a55ab4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640c65cc84a55ab4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5800154" y="3807170"/>
            <a:ext cx="591423" cy="140843"/>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894986" y="1321067"/>
            <a:ext cx="10401600" cy="23067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p:txBody>
      </p:sp>
      <p:sp>
        <p:nvSpPr>
          <p:cNvPr id="15" name="Google Shape;15;p2"/>
          <p:cNvSpPr txBox="1"/>
          <p:nvPr>
            <p:ph idx="1" type="subTitle"/>
          </p:nvPr>
        </p:nvSpPr>
        <p:spPr>
          <a:xfrm>
            <a:off x="894976" y="4233168"/>
            <a:ext cx="104016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894976" y="2855000"/>
            <a:ext cx="10469400" cy="11481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2" name="Google Shape;22;p4"/>
          <p:cNvSpPr txBox="1"/>
          <p:nvPr>
            <p:ph idx="1" type="body"/>
          </p:nvPr>
        </p:nvSpPr>
        <p:spPr>
          <a:xfrm>
            <a:off x="415589" y="1536633"/>
            <a:ext cx="113604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3" name="Google Shape;23;p4"/>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26" name="Google Shape;26;p5"/>
          <p:cNvSpPr txBox="1"/>
          <p:nvPr>
            <p:ph idx="1" type="body"/>
          </p:nvPr>
        </p:nvSpPr>
        <p:spPr>
          <a:xfrm>
            <a:off x="415589"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7" name="Google Shape;27;p5"/>
          <p:cNvSpPr txBox="1"/>
          <p:nvPr>
            <p:ph idx="2" type="body"/>
          </p:nvPr>
        </p:nvSpPr>
        <p:spPr>
          <a:xfrm>
            <a:off x="6443028"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8" name="Google Shape;28;p5"/>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415589" y="593367"/>
            <a:ext cx="113604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31" name="Google Shape;31;p6"/>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415589"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4" name="Google Shape;34;p7"/>
          <p:cNvSpPr txBox="1"/>
          <p:nvPr>
            <p:ph idx="1" type="body"/>
          </p:nvPr>
        </p:nvSpPr>
        <p:spPr>
          <a:xfrm>
            <a:off x="415589"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5" name="Google Shape;35;p7"/>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653649" y="701800"/>
            <a:ext cx="83025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38" name="Google Shape;38;p8"/>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6095838" y="0"/>
            <a:ext cx="60957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41" name="Google Shape;41;p9"/>
          <p:cNvCxnSpPr/>
          <p:nvPr/>
        </p:nvCxnSpPr>
        <p:spPr>
          <a:xfrm>
            <a:off x="6706055" y="5994000"/>
            <a:ext cx="624300" cy="0"/>
          </a:xfrm>
          <a:prstGeom prst="straightConnector1">
            <a:avLst/>
          </a:prstGeom>
          <a:noFill/>
          <a:ln cap="flat" cmpd="sng" w="25400">
            <a:solidFill>
              <a:schemeClr val="lt1"/>
            </a:solidFill>
            <a:prstDash val="solid"/>
            <a:round/>
            <a:headEnd len="sm" w="sm" type="none"/>
            <a:tailEnd len="sm" w="sm" type="none"/>
          </a:ln>
        </p:spPr>
      </p:cxnSp>
      <p:sp>
        <p:nvSpPr>
          <p:cNvPr id="42" name="Google Shape;42;p9"/>
          <p:cNvSpPr txBox="1"/>
          <p:nvPr>
            <p:ph type="title"/>
          </p:nvPr>
        </p:nvSpPr>
        <p:spPr>
          <a:xfrm>
            <a:off x="353991" y="1441867"/>
            <a:ext cx="5393400" cy="22803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43" name="Google Shape;43;p9"/>
          <p:cNvSpPr txBox="1"/>
          <p:nvPr>
            <p:ph idx="1" type="subTitle"/>
          </p:nvPr>
        </p:nvSpPr>
        <p:spPr>
          <a:xfrm>
            <a:off x="353991" y="3793601"/>
            <a:ext cx="5393400" cy="17940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44" name="Google Shape;44;p9"/>
          <p:cNvSpPr txBox="1"/>
          <p:nvPr>
            <p:ph idx="2" type="body"/>
          </p:nvPr>
        </p:nvSpPr>
        <p:spPr>
          <a:xfrm>
            <a:off x="6585824"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45" name="Google Shape;45;p9"/>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415589"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415589" y="1673700"/>
            <a:ext cx="11360400" cy="2520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1" name="Google Shape;51;p11"/>
          <p:cNvSpPr txBox="1"/>
          <p:nvPr>
            <p:ph idx="1" type="body"/>
          </p:nvPr>
        </p:nvSpPr>
        <p:spPr>
          <a:xfrm>
            <a:off x="415589" y="4304567"/>
            <a:ext cx="113604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52" name="Google Shape;52;p11"/>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11320032" y="6241346"/>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589" y="593367"/>
            <a:ext cx="113604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1pPr>
            <a:lvl2pPr lvl="1">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2pPr>
            <a:lvl3pPr lvl="2">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3pPr>
            <a:lvl4pPr lvl="3">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4pPr>
            <a:lvl5pPr lvl="4">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5pPr>
            <a:lvl6pPr lvl="5">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6pPr>
            <a:lvl7pPr lvl="6">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7pPr>
            <a:lvl8pPr lvl="7">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8pPr>
            <a:lvl9pPr lvl="8">
              <a:spcBef>
                <a:spcPts val="0"/>
              </a:spcBef>
              <a:spcAft>
                <a:spcPts val="0"/>
              </a:spcAft>
              <a:buClr>
                <a:schemeClr val="dk1"/>
              </a:buClr>
              <a:buSzPts val="4000"/>
              <a:buFont typeface="Oswald"/>
              <a:buNone/>
              <a:defRPr sz="4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415589" y="1536633"/>
            <a:ext cx="113604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accent3"/>
              </a:buClr>
              <a:buSzPts val="2400"/>
              <a:buFont typeface="Average"/>
              <a:buChar char="●"/>
              <a:defRPr sz="2400">
                <a:solidFill>
                  <a:schemeClr val="accent3"/>
                </a:solidFill>
                <a:latin typeface="Average"/>
                <a:ea typeface="Average"/>
                <a:cs typeface="Average"/>
                <a:sym typeface="Average"/>
              </a:defRPr>
            </a:lvl1pPr>
            <a:lvl2pPr indent="-349250" lvl="1" marL="9144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2pPr>
            <a:lvl3pPr indent="-349250" lvl="2" marL="13716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3pPr>
            <a:lvl4pPr indent="-349250" lvl="3" marL="18288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4pPr>
            <a:lvl5pPr indent="-349250" lvl="4" marL="22860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5pPr>
            <a:lvl6pPr indent="-349250" lvl="5" marL="27432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6pPr>
            <a:lvl7pPr indent="-349250" lvl="6" marL="32004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7pPr>
            <a:lvl8pPr indent="-349250" lvl="7" marL="36576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8pPr>
            <a:lvl9pPr indent="-349250" lvl="8" marL="4114800">
              <a:lnSpc>
                <a:spcPct val="115000"/>
              </a:lnSpc>
              <a:spcBef>
                <a:spcPts val="0"/>
              </a:spcBef>
              <a:spcAft>
                <a:spcPts val="0"/>
              </a:spcAft>
              <a:buClr>
                <a:schemeClr val="accent3"/>
              </a:buClr>
              <a:buSzPts val="1900"/>
              <a:buFont typeface="Average"/>
              <a:buChar char="■"/>
              <a:defRPr sz="1900">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11320032" y="6241346"/>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accent3"/>
                </a:solidFill>
                <a:latin typeface="Average"/>
                <a:ea typeface="Average"/>
                <a:cs typeface="Average"/>
                <a:sym typeface="Average"/>
              </a:defRPr>
            </a:lvl1pPr>
            <a:lvl2pPr lvl="1" algn="r">
              <a:buNone/>
              <a:defRPr sz="1300">
                <a:solidFill>
                  <a:schemeClr val="accent3"/>
                </a:solidFill>
                <a:latin typeface="Average"/>
                <a:ea typeface="Average"/>
                <a:cs typeface="Average"/>
                <a:sym typeface="Average"/>
              </a:defRPr>
            </a:lvl2pPr>
            <a:lvl3pPr lvl="2" algn="r">
              <a:buNone/>
              <a:defRPr sz="1300">
                <a:solidFill>
                  <a:schemeClr val="accent3"/>
                </a:solidFill>
                <a:latin typeface="Average"/>
                <a:ea typeface="Average"/>
                <a:cs typeface="Average"/>
                <a:sym typeface="Average"/>
              </a:defRPr>
            </a:lvl3pPr>
            <a:lvl4pPr lvl="3" algn="r">
              <a:buNone/>
              <a:defRPr sz="1300">
                <a:solidFill>
                  <a:schemeClr val="accent3"/>
                </a:solidFill>
                <a:latin typeface="Average"/>
                <a:ea typeface="Average"/>
                <a:cs typeface="Average"/>
                <a:sym typeface="Average"/>
              </a:defRPr>
            </a:lvl4pPr>
            <a:lvl5pPr lvl="4" algn="r">
              <a:buNone/>
              <a:defRPr sz="1300">
                <a:solidFill>
                  <a:schemeClr val="accent3"/>
                </a:solidFill>
                <a:latin typeface="Average"/>
                <a:ea typeface="Average"/>
                <a:cs typeface="Average"/>
                <a:sym typeface="Average"/>
              </a:defRPr>
            </a:lvl5pPr>
            <a:lvl6pPr lvl="5" algn="r">
              <a:buNone/>
              <a:defRPr sz="1300">
                <a:solidFill>
                  <a:schemeClr val="accent3"/>
                </a:solidFill>
                <a:latin typeface="Average"/>
                <a:ea typeface="Average"/>
                <a:cs typeface="Average"/>
                <a:sym typeface="Average"/>
              </a:defRPr>
            </a:lvl6pPr>
            <a:lvl7pPr lvl="6" algn="r">
              <a:buNone/>
              <a:defRPr sz="1300">
                <a:solidFill>
                  <a:schemeClr val="accent3"/>
                </a:solidFill>
                <a:latin typeface="Average"/>
                <a:ea typeface="Average"/>
                <a:cs typeface="Average"/>
                <a:sym typeface="Average"/>
              </a:defRPr>
            </a:lvl7pPr>
            <a:lvl8pPr lvl="7" algn="r">
              <a:buNone/>
              <a:defRPr sz="1300">
                <a:solidFill>
                  <a:schemeClr val="accent3"/>
                </a:solidFill>
                <a:latin typeface="Average"/>
                <a:ea typeface="Average"/>
                <a:cs typeface="Average"/>
                <a:sym typeface="Average"/>
              </a:defRPr>
            </a:lvl8pPr>
            <a:lvl9pPr lvl="8" algn="r">
              <a:buNone/>
              <a:defRPr sz="13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13"/>
          <p:cNvSpPr txBox="1"/>
          <p:nvPr/>
        </p:nvSpPr>
        <p:spPr>
          <a:xfrm>
            <a:off x="777240" y="685800"/>
            <a:ext cx="4572000" cy="206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100" u="none" cap="none" strike="noStrike">
                <a:solidFill>
                  <a:srgbClr val="3E6897"/>
                </a:solidFill>
                <a:latin typeface="Arial"/>
                <a:ea typeface="Arial"/>
                <a:cs typeface="Arial"/>
                <a:sym typeface="Arial"/>
              </a:rPr>
              <a:t>STAC WARS  |  PS 4| </a:t>
            </a:r>
            <a:r>
              <a:rPr b="1" lang="en-US" sz="1100">
                <a:solidFill>
                  <a:srgbClr val="3E6897"/>
                </a:solidFill>
              </a:rPr>
              <a:t>MINING THE ASTROIDS</a:t>
            </a:r>
            <a:endParaRPr/>
          </a:p>
        </p:txBody>
      </p:sp>
      <p:sp>
        <p:nvSpPr>
          <p:cNvPr id="60" name="Google Shape;60;p13"/>
          <p:cNvSpPr txBox="1"/>
          <p:nvPr/>
        </p:nvSpPr>
        <p:spPr>
          <a:xfrm>
            <a:off x="777240" y="1508760"/>
            <a:ext cx="97842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t/>
            </a:r>
            <a:endParaRPr/>
          </a:p>
        </p:txBody>
      </p:sp>
      <p:sp>
        <p:nvSpPr>
          <p:cNvPr id="61" name="Google Shape;61;p13"/>
          <p:cNvSpPr txBox="1"/>
          <p:nvPr/>
        </p:nvSpPr>
        <p:spPr>
          <a:xfrm>
            <a:off x="804672" y="2743200"/>
            <a:ext cx="87783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a:solidFill>
                  <a:srgbClr val="FF0000"/>
                </a:solidFill>
                <a:highlight>
                  <a:schemeClr val="dk1"/>
                </a:highlight>
              </a:rPr>
              <a:t>This is where the fun begins…</a:t>
            </a:r>
            <a:endParaRPr b="1">
              <a:solidFill>
                <a:srgbClr val="FF0000"/>
              </a:solidFill>
              <a:highlight>
                <a:schemeClr val="dk1"/>
              </a:highlight>
            </a:endParaRPr>
          </a:p>
        </p:txBody>
      </p:sp>
      <p:sp>
        <p:nvSpPr>
          <p:cNvPr id="62" name="Google Shape;62;p13"/>
          <p:cNvSpPr txBox="1"/>
          <p:nvPr/>
        </p:nvSpPr>
        <p:spPr>
          <a:xfrm>
            <a:off x="804672" y="3520440"/>
            <a:ext cx="8961000" cy="89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a:solidFill>
                  <a:srgbClr val="626E7A"/>
                </a:solidFill>
              </a:rPr>
              <a:t>Governments of the world have come together to create a massive deep space habitat and industrial complex at Earth-Sun L4 as a stepping stone to making humanity truly space faring and are looking for partners and suppliers for the same….</a:t>
            </a:r>
            <a:endParaRPr>
              <a:solidFill>
                <a:srgbClr val="626E7A"/>
              </a:solidFill>
            </a:endParaRPr>
          </a:p>
          <a:p>
            <a:pPr indent="0" lvl="0" marL="0" marR="0" rtl="0" algn="l">
              <a:spcBef>
                <a:spcPts val="0"/>
              </a:spcBef>
              <a:spcAft>
                <a:spcPts val="0"/>
              </a:spcAft>
              <a:buNone/>
            </a:pPr>
            <a:r>
              <a:t/>
            </a:r>
            <a:endParaRPr>
              <a:solidFill>
                <a:srgbClr val="626E7A"/>
              </a:solidFill>
            </a:endParaRPr>
          </a:p>
        </p:txBody>
      </p:sp>
      <p:sp>
        <p:nvSpPr>
          <p:cNvPr id="63" name="Google Shape;63;p13"/>
          <p:cNvSpPr/>
          <p:nvPr/>
        </p:nvSpPr>
        <p:spPr>
          <a:xfrm>
            <a:off x="804672" y="4663440"/>
            <a:ext cx="4754880" cy="36576"/>
          </a:xfrm>
          <a:prstGeom prst="rect">
            <a:avLst/>
          </a:prstGeom>
          <a:solidFill>
            <a:srgbClr val="3E6897"/>
          </a:solidFill>
          <a:ln cap="flat" cmpd="sng" w="10150">
            <a:solidFill>
              <a:srgbClr val="3E689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 name="Google Shape;64;p13"/>
          <p:cNvSpPr txBox="1"/>
          <p:nvPr/>
        </p:nvSpPr>
        <p:spPr>
          <a:xfrm>
            <a:off x="804672" y="4983480"/>
            <a:ext cx="36576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400" u="none" cap="none" strike="noStrike">
                <a:solidFill>
                  <a:srgbClr val="1F3752"/>
                </a:solidFill>
                <a:latin typeface="Arial"/>
                <a:ea typeface="Arial"/>
                <a:cs typeface="Arial"/>
                <a:sym typeface="Arial"/>
              </a:rPr>
              <a:t>Team: AKS-3   (Hello there!)</a:t>
            </a:r>
            <a:endParaRPr/>
          </a:p>
        </p:txBody>
      </p:sp>
      <p:sp>
        <p:nvSpPr>
          <p:cNvPr id="65" name="Google Shape;65;p13"/>
          <p:cNvSpPr txBox="1"/>
          <p:nvPr/>
        </p:nvSpPr>
        <p:spPr>
          <a:xfrm>
            <a:off x="804672" y="6126480"/>
            <a:ext cx="91440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t/>
            </a:r>
            <a:endParaRPr/>
          </a:p>
        </p:txBody>
      </p:sp>
      <p:sp>
        <p:nvSpPr>
          <p:cNvPr id="66" name="Google Shape;66;p13"/>
          <p:cNvSpPr txBox="1"/>
          <p:nvPr/>
        </p:nvSpPr>
        <p:spPr>
          <a:xfrm>
            <a:off x="1368278" y="1357850"/>
            <a:ext cx="84078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900">
                <a:solidFill>
                  <a:schemeClr val="lt1"/>
                </a:solidFill>
                <a:latin typeface="Average"/>
                <a:ea typeface="Average"/>
                <a:cs typeface="Average"/>
                <a:sym typeface="Average"/>
              </a:rPr>
              <a:t>AKS-3 Presents</a:t>
            </a:r>
            <a:endParaRPr b="1" sz="2900">
              <a:solidFill>
                <a:schemeClr val="lt1"/>
              </a:solidFill>
              <a:latin typeface="Average"/>
              <a:ea typeface="Average"/>
              <a:cs typeface="Average"/>
              <a:sym typeface="Average"/>
            </a:endParaRPr>
          </a:p>
          <a:p>
            <a:pPr indent="0" lvl="0" marL="0" rtl="0" algn="ctr">
              <a:spcBef>
                <a:spcPts val="0"/>
              </a:spcBef>
              <a:spcAft>
                <a:spcPts val="0"/>
              </a:spcAft>
              <a:buNone/>
            </a:pPr>
            <a:r>
              <a:rPr b="1" lang="en-US" sz="2900">
                <a:solidFill>
                  <a:schemeClr val="lt1"/>
                </a:solidFill>
                <a:latin typeface="Average"/>
                <a:ea typeface="Average"/>
                <a:cs typeface="Average"/>
                <a:sym typeface="Average"/>
              </a:rPr>
              <a:t>Mining the </a:t>
            </a:r>
            <a:r>
              <a:rPr b="1" lang="en-US" sz="2900">
                <a:solidFill>
                  <a:schemeClr val="lt1"/>
                </a:solidFill>
                <a:latin typeface="Average"/>
                <a:ea typeface="Average"/>
                <a:cs typeface="Average"/>
                <a:sym typeface="Average"/>
              </a:rPr>
              <a:t>Asteroids</a:t>
            </a:r>
            <a:r>
              <a:rPr b="1" lang="en-US" sz="2900">
                <a:solidFill>
                  <a:schemeClr val="lt1"/>
                </a:solidFill>
                <a:latin typeface="Average"/>
                <a:ea typeface="Average"/>
                <a:cs typeface="Average"/>
                <a:sym typeface="Average"/>
              </a:rPr>
              <a:t> with no propellant needed</a:t>
            </a:r>
            <a:endParaRPr b="1" sz="2900">
              <a:solidFill>
                <a:schemeClr val="lt1"/>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title="IMG_20261025_033008.jpg"/>
          <p:cNvPicPr preferRelativeResize="0"/>
          <p:nvPr/>
        </p:nvPicPr>
        <p:blipFill>
          <a:blip r:embed="rId3">
            <a:alphaModFix/>
          </a:blip>
          <a:stretch>
            <a:fillRect/>
          </a:stretch>
        </p:blipFill>
        <p:spPr>
          <a:xfrm>
            <a:off x="152400" y="0"/>
            <a:ext cx="12039276" cy="6705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15"/>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STAC WARS • PS 4  |  03</a:t>
            </a:r>
            <a:endParaRPr/>
          </a:p>
        </p:txBody>
      </p:sp>
      <p:sp>
        <p:nvSpPr>
          <p:cNvPr id="77" name="Google Shape;77;p15"/>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How it operates</a:t>
            </a:r>
            <a:endParaRPr/>
          </a:p>
        </p:txBody>
      </p:sp>
      <p:sp>
        <p:nvSpPr>
          <p:cNvPr id="78" name="Google Shape;78;p15"/>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 name="Google Shape;79;p15"/>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None/>
            </a:pPr>
            <a:r>
              <a:rPr b="1" i="0" lang="en-US" sz="900" u="none" cap="none" strike="noStrike">
                <a:solidFill>
                  <a:srgbClr val="626E7A"/>
                </a:solidFill>
                <a:latin typeface="Arial"/>
                <a:ea typeface="Arial"/>
                <a:cs typeface="Arial"/>
                <a:sym typeface="Arial"/>
              </a:rPr>
              <a:t>3</a:t>
            </a:r>
            <a:endParaRPr/>
          </a:p>
        </p:txBody>
      </p:sp>
      <p:sp>
        <p:nvSpPr>
          <p:cNvPr id="80" name="Google Shape;80;p15"/>
          <p:cNvSpPr/>
          <p:nvPr/>
        </p:nvSpPr>
        <p:spPr>
          <a:xfrm>
            <a:off x="594360" y="182880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 name="Google Shape;81;p15"/>
          <p:cNvSpPr txBox="1"/>
          <p:nvPr/>
        </p:nvSpPr>
        <p:spPr>
          <a:xfrm>
            <a:off x="740664" y="1938528"/>
            <a:ext cx="5056631"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1. Scout and anchor</a:t>
            </a:r>
            <a:endParaRPr/>
          </a:p>
        </p:txBody>
      </p:sp>
      <p:sp>
        <p:nvSpPr>
          <p:cNvPr id="82" name="Google Shape;82;p15"/>
          <p:cNvSpPr txBox="1"/>
          <p:nvPr/>
        </p:nvSpPr>
        <p:spPr>
          <a:xfrm>
            <a:off x="740664" y="2267712"/>
            <a:ext cx="50565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Survey the targ</a:t>
            </a:r>
            <a:r>
              <a:rPr lang="en-US" sz="1050">
                <a:solidFill>
                  <a:srgbClr val="232B34"/>
                </a:solidFill>
              </a:rPr>
              <a:t>e</a:t>
            </a:r>
            <a:r>
              <a:rPr b="0" i="0" lang="en-US" sz="1050" u="none" cap="none" strike="noStrike">
                <a:solidFill>
                  <a:srgbClr val="232B34"/>
                </a:solidFill>
                <a:latin typeface="Arial"/>
                <a:ea typeface="Arial"/>
                <a:cs typeface="Arial"/>
                <a:sym typeface="Arial"/>
              </a:rPr>
              <a:t>t</a:t>
            </a:r>
            <a:r>
              <a:rPr lang="en-US" sz="1050">
                <a:solidFill>
                  <a:srgbClr val="232B34"/>
                </a:solidFill>
              </a:rPr>
              <a:t> near earth asteroid</a:t>
            </a:r>
            <a:r>
              <a:rPr b="0" i="0" lang="en-US" sz="1050" u="none" cap="none" strike="noStrike">
                <a:solidFill>
                  <a:srgbClr val="232B34"/>
                </a:solidFill>
                <a:latin typeface="Arial"/>
                <a:ea typeface="Arial"/>
                <a:cs typeface="Arial"/>
                <a:sym typeface="Arial"/>
              </a:rPr>
              <a:t>; approach at walking pace. Drill into solid rock or use a net/mesh for rubble piles</a:t>
            </a:r>
            <a:r>
              <a:rPr lang="en-US" sz="1050">
                <a:solidFill>
                  <a:srgbClr val="232B34"/>
                </a:solidFill>
              </a:rPr>
              <a:t>.</a:t>
            </a:r>
            <a:endParaRPr/>
          </a:p>
        </p:txBody>
      </p:sp>
      <p:sp>
        <p:nvSpPr>
          <p:cNvPr id="83" name="Google Shape;83;p15"/>
          <p:cNvSpPr/>
          <p:nvPr/>
        </p:nvSpPr>
        <p:spPr>
          <a:xfrm>
            <a:off x="594360" y="292608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4" name="Google Shape;84;p15"/>
          <p:cNvSpPr txBox="1"/>
          <p:nvPr/>
        </p:nvSpPr>
        <p:spPr>
          <a:xfrm>
            <a:off x="740664" y="303580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2. </a:t>
            </a:r>
            <a:r>
              <a:rPr b="1" lang="en-US" sz="1200">
                <a:solidFill>
                  <a:srgbClr val="3E6897"/>
                </a:solidFill>
              </a:rPr>
              <a:t>Mining and refining</a:t>
            </a:r>
            <a:endParaRPr/>
          </a:p>
        </p:txBody>
      </p:sp>
      <p:sp>
        <p:nvSpPr>
          <p:cNvPr id="85" name="Google Shape;85;p15"/>
          <p:cNvSpPr txBox="1"/>
          <p:nvPr/>
        </p:nvSpPr>
        <p:spPr>
          <a:xfrm>
            <a:off x="740664" y="3364992"/>
            <a:ext cx="50565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50">
                <a:solidFill>
                  <a:srgbClr val="232B34"/>
                </a:solidFill>
              </a:rPr>
              <a:t>robotic arms dig up rock and crush it. solar powered furnace </a:t>
            </a:r>
            <a:r>
              <a:rPr lang="en-US" sz="1050">
                <a:solidFill>
                  <a:srgbClr val="232B34"/>
                </a:solidFill>
              </a:rPr>
              <a:t>separates</a:t>
            </a:r>
            <a:r>
              <a:rPr lang="en-US" sz="1050">
                <a:solidFill>
                  <a:srgbClr val="232B34"/>
                </a:solidFill>
              </a:rPr>
              <a:t> metal from slag</a:t>
            </a:r>
            <a:endParaRPr/>
          </a:p>
        </p:txBody>
      </p:sp>
      <p:sp>
        <p:nvSpPr>
          <p:cNvPr id="86" name="Google Shape;86;p15"/>
          <p:cNvSpPr/>
          <p:nvPr/>
        </p:nvSpPr>
        <p:spPr>
          <a:xfrm>
            <a:off x="594360" y="4023360"/>
            <a:ext cx="534924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5"/>
          <p:cNvSpPr txBox="1"/>
          <p:nvPr/>
        </p:nvSpPr>
        <p:spPr>
          <a:xfrm>
            <a:off x="740664" y="413308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200">
                <a:solidFill>
                  <a:srgbClr val="3E6897"/>
                </a:solidFill>
              </a:rPr>
              <a:t>3. launch and catch</a:t>
            </a:r>
            <a:endParaRPr/>
          </a:p>
        </p:txBody>
      </p:sp>
      <p:sp>
        <p:nvSpPr>
          <p:cNvPr id="88" name="Google Shape;88;p15"/>
          <p:cNvSpPr txBox="1"/>
          <p:nvPr/>
        </p:nvSpPr>
        <p:spPr>
          <a:xfrm>
            <a:off x="740664" y="4462272"/>
            <a:ext cx="5056500" cy="5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50">
                <a:solidFill>
                  <a:srgbClr val="232B34"/>
                </a:solidFill>
              </a:rPr>
              <a:t>the solar powered arms throw containers </a:t>
            </a:r>
            <a:r>
              <a:rPr lang="en-US" sz="1050">
                <a:solidFill>
                  <a:srgbClr val="232B34"/>
                </a:solidFill>
              </a:rPr>
              <a:t>containing</a:t>
            </a:r>
            <a:r>
              <a:rPr lang="en-US" sz="1050">
                <a:solidFill>
                  <a:srgbClr val="232B34"/>
                </a:solidFill>
              </a:rPr>
              <a:t> metal and slag towards the destination where robotic arms catch it using </a:t>
            </a:r>
            <a:r>
              <a:rPr lang="en-US" sz="1050">
                <a:solidFill>
                  <a:srgbClr val="232B34"/>
                </a:solidFill>
              </a:rPr>
              <a:t>electromagnets</a:t>
            </a:r>
            <a:r>
              <a:rPr lang="en-US" sz="1050">
                <a:solidFill>
                  <a:srgbClr val="232B34"/>
                </a:solidFill>
              </a:rPr>
              <a:t> after they are moving at little relative velocity</a:t>
            </a:r>
            <a:endParaRPr/>
          </a:p>
        </p:txBody>
      </p:sp>
      <p:sp>
        <p:nvSpPr>
          <p:cNvPr id="89" name="Google Shape;89;p15"/>
          <p:cNvSpPr/>
          <p:nvPr/>
        </p:nvSpPr>
        <p:spPr>
          <a:xfrm>
            <a:off x="6217920" y="1828800"/>
            <a:ext cx="5349240" cy="132588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 name="Google Shape;90;p15"/>
          <p:cNvSpPr txBox="1"/>
          <p:nvPr/>
        </p:nvSpPr>
        <p:spPr>
          <a:xfrm>
            <a:off x="6364225" y="1904199"/>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200">
                <a:solidFill>
                  <a:srgbClr val="BE7D32"/>
                </a:solidFill>
              </a:rPr>
              <a:t> navigation and communication</a:t>
            </a:r>
            <a:endParaRPr/>
          </a:p>
        </p:txBody>
      </p:sp>
      <p:sp>
        <p:nvSpPr>
          <p:cNvPr id="91" name="Google Shape;91;p15"/>
          <p:cNvSpPr txBox="1"/>
          <p:nvPr/>
        </p:nvSpPr>
        <p:spPr>
          <a:xfrm>
            <a:off x="6364225" y="2160224"/>
            <a:ext cx="5056500" cy="1006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50">
                <a:solidFill>
                  <a:srgbClr val="232B34"/>
                </a:solidFill>
              </a:rPr>
              <a:t>containers only has basic star navigation along with transponder and communication devices. </a:t>
            </a:r>
            <a:endParaRPr sz="1050">
              <a:solidFill>
                <a:srgbClr val="232B34"/>
              </a:solidFill>
            </a:endParaRPr>
          </a:p>
          <a:p>
            <a:pPr indent="0" lvl="0" marL="0" marR="0" rtl="0" algn="l">
              <a:spcBef>
                <a:spcPts val="0"/>
              </a:spcBef>
              <a:spcAft>
                <a:spcPts val="0"/>
              </a:spcAft>
              <a:buNone/>
            </a:pPr>
            <a:r>
              <a:rPr lang="en-US" sz="1050">
                <a:solidFill>
                  <a:srgbClr val="232B34"/>
                </a:solidFill>
              </a:rPr>
              <a:t>containers have small thrusters for </a:t>
            </a:r>
            <a:r>
              <a:rPr lang="en-US" sz="1050">
                <a:solidFill>
                  <a:srgbClr val="232B34"/>
                </a:solidFill>
              </a:rPr>
              <a:t>maneuvering</a:t>
            </a:r>
            <a:r>
              <a:rPr lang="en-US" sz="1050">
                <a:solidFill>
                  <a:srgbClr val="232B34"/>
                </a:solidFill>
              </a:rPr>
              <a:t> and are solar powered. autonomous control available to control thrusters, can also be remote </a:t>
            </a:r>
            <a:r>
              <a:rPr lang="en-US" sz="1050">
                <a:solidFill>
                  <a:srgbClr val="232B34"/>
                </a:solidFill>
              </a:rPr>
              <a:t>controlled</a:t>
            </a:r>
            <a:endParaRPr sz="1050">
              <a:solidFill>
                <a:srgbClr val="232B34"/>
              </a:solidFill>
            </a:endParaRPr>
          </a:p>
          <a:p>
            <a:pPr indent="0" lvl="0" marL="0" marR="0" rtl="0" algn="l">
              <a:spcBef>
                <a:spcPts val="0"/>
              </a:spcBef>
              <a:spcAft>
                <a:spcPts val="0"/>
              </a:spcAft>
              <a:buNone/>
            </a:pPr>
            <a:r>
              <a:rPr lang="en-US" sz="1050">
                <a:solidFill>
                  <a:srgbClr val="232B34"/>
                </a:solidFill>
              </a:rPr>
              <a:t> Navigation is mostly </a:t>
            </a:r>
            <a:r>
              <a:rPr lang="en-US" sz="1050">
                <a:solidFill>
                  <a:srgbClr val="232B34"/>
                </a:solidFill>
              </a:rPr>
              <a:t>handled</a:t>
            </a:r>
            <a:r>
              <a:rPr lang="en-US" sz="1050">
                <a:solidFill>
                  <a:srgbClr val="232B34"/>
                </a:solidFill>
              </a:rPr>
              <a:t> from both L4 and </a:t>
            </a:r>
            <a:r>
              <a:rPr lang="en-US" sz="1050">
                <a:solidFill>
                  <a:srgbClr val="232B34"/>
                </a:solidFill>
              </a:rPr>
              <a:t>asteroid</a:t>
            </a:r>
            <a:r>
              <a:rPr lang="en-US" sz="1050">
                <a:solidFill>
                  <a:srgbClr val="232B34"/>
                </a:solidFill>
              </a:rPr>
              <a:t> mine acting as relay stations. </a:t>
            </a:r>
            <a:endParaRPr/>
          </a:p>
        </p:txBody>
      </p:sp>
      <p:sp>
        <p:nvSpPr>
          <p:cNvPr id="92" name="Google Shape;92;p15"/>
          <p:cNvSpPr/>
          <p:nvPr/>
        </p:nvSpPr>
        <p:spPr>
          <a:xfrm>
            <a:off x="6217920" y="3383280"/>
            <a:ext cx="5349240" cy="155448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5"/>
          <p:cNvSpPr txBox="1"/>
          <p:nvPr/>
        </p:nvSpPr>
        <p:spPr>
          <a:xfrm>
            <a:off x="6364224" y="3493008"/>
            <a:ext cx="5056500" cy="221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200">
                <a:solidFill>
                  <a:srgbClr val="BE7D32"/>
                </a:solidFill>
              </a:rPr>
              <a:t>Repair and maintenance </a:t>
            </a:r>
            <a:endParaRPr/>
          </a:p>
        </p:txBody>
      </p:sp>
      <p:sp>
        <p:nvSpPr>
          <p:cNvPr id="94" name="Google Shape;94;p15"/>
          <p:cNvSpPr txBox="1"/>
          <p:nvPr/>
        </p:nvSpPr>
        <p:spPr>
          <a:xfrm>
            <a:off x="6364224" y="3822191"/>
            <a:ext cx="5056500" cy="683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50">
                <a:solidFill>
                  <a:srgbClr val="232B34"/>
                </a:solidFill>
              </a:rPr>
              <a:t>on site robots and spare parts available  for repairs. </a:t>
            </a:r>
            <a:endParaRPr sz="1050">
              <a:solidFill>
                <a:srgbClr val="232B34"/>
              </a:solidFill>
            </a:endParaRPr>
          </a:p>
          <a:p>
            <a:pPr indent="0" lvl="0" marL="0" marR="0" rtl="0" algn="l">
              <a:spcBef>
                <a:spcPts val="0"/>
              </a:spcBef>
              <a:spcAft>
                <a:spcPts val="0"/>
              </a:spcAft>
              <a:buNone/>
            </a:pPr>
            <a:r>
              <a:rPr lang="en-US" sz="1050">
                <a:solidFill>
                  <a:srgbClr val="232B34"/>
                </a:solidFill>
              </a:rPr>
              <a:t>sensors installed to detect any damage or malfunction</a:t>
            </a:r>
            <a:endParaRPr sz="1050">
              <a:solidFill>
                <a:srgbClr val="232B34"/>
              </a:solidFill>
            </a:endParaRPr>
          </a:p>
          <a:p>
            <a:pPr indent="0" lvl="0" marL="0" marR="0" rtl="0" algn="l">
              <a:spcBef>
                <a:spcPts val="0"/>
              </a:spcBef>
              <a:spcAft>
                <a:spcPts val="0"/>
              </a:spcAft>
              <a:buNone/>
            </a:pPr>
            <a:r>
              <a:rPr lang="en-US" sz="1050">
                <a:solidFill>
                  <a:srgbClr val="232B34"/>
                </a:solidFill>
              </a:rPr>
              <a:t>minimum complexity refining and no contact motors for minimum wear and tear</a:t>
            </a:r>
            <a:endParaRPr sz="1050">
              <a:solidFill>
                <a:srgbClr val="232B34"/>
              </a:solidFill>
            </a:endParaRPr>
          </a:p>
          <a:p>
            <a:pPr indent="0" lvl="0" marL="0" marR="0" rtl="0" algn="l">
              <a:spcBef>
                <a:spcPts val="0"/>
              </a:spcBef>
              <a:spcAft>
                <a:spcPts val="0"/>
              </a:spcAft>
              <a:buNone/>
            </a:pPr>
            <a:r>
              <a:t/>
            </a:r>
            <a:endParaRPr sz="1050">
              <a:solidFill>
                <a:srgbClr val="232B34"/>
              </a:solidFill>
            </a:endParaRPr>
          </a:p>
        </p:txBody>
      </p:sp>
      <p:sp>
        <p:nvSpPr>
          <p:cNvPr id="95" name="Google Shape;95;p15"/>
          <p:cNvSpPr txBox="1"/>
          <p:nvPr/>
        </p:nvSpPr>
        <p:spPr>
          <a:xfrm>
            <a:off x="685800" y="5715000"/>
            <a:ext cx="10698600" cy="3756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100">
                <a:solidFill>
                  <a:srgbClr val="626E7A"/>
                </a:solidFill>
              </a:rPr>
              <a:t>bonus: materials existing in 2026 can be used to make the launcher for near earth asteroids’s but to ensure that the system can be scaled up to be used in astroid belt, we are proposing a technological breakthrough: carbon fibre nano tubes to maximum strength at the high velocities required at the hook</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6"/>
          <p:cNvSpPr txBox="1"/>
          <p:nvPr/>
        </p:nvSpPr>
        <p:spPr>
          <a:xfrm>
            <a:off x="502920" y="228600"/>
            <a:ext cx="10789800" cy="201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STAC WARS • PS 4  |  04</a:t>
            </a:r>
            <a:endParaRPr/>
          </a:p>
        </p:txBody>
      </p:sp>
      <p:sp>
        <p:nvSpPr>
          <p:cNvPr id="101" name="Google Shape;101;p16"/>
          <p:cNvSpPr txBox="1"/>
          <p:nvPr/>
        </p:nvSpPr>
        <p:spPr>
          <a:xfrm>
            <a:off x="502920" y="530352"/>
            <a:ext cx="11064300" cy="502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Three major cost drivers</a:t>
            </a:r>
            <a:endParaRPr/>
          </a:p>
        </p:txBody>
      </p:sp>
      <p:sp>
        <p:nvSpPr>
          <p:cNvPr id="102" name="Google Shape;102;p16"/>
          <p:cNvSpPr txBox="1"/>
          <p:nvPr/>
        </p:nvSpPr>
        <p:spPr>
          <a:xfrm>
            <a:off x="530352" y="1078992"/>
            <a:ext cx="109728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t/>
            </a:r>
            <a:endParaRPr/>
          </a:p>
        </p:txBody>
      </p:sp>
      <p:sp>
        <p:nvSpPr>
          <p:cNvPr id="103" name="Google Shape;103;p16"/>
          <p:cNvSpPr/>
          <p:nvPr/>
        </p:nvSpPr>
        <p:spPr>
          <a:xfrm>
            <a:off x="530352" y="1481328"/>
            <a:ext cx="11064300" cy="13800"/>
          </a:xfrm>
          <a:prstGeom prst="rect">
            <a:avLst/>
          </a:prstGeom>
          <a:solidFill>
            <a:srgbClr val="CDD8E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6"/>
          <p:cNvSpPr txBox="1"/>
          <p:nvPr/>
        </p:nvSpPr>
        <p:spPr>
          <a:xfrm>
            <a:off x="11064240" y="6510528"/>
            <a:ext cx="457200" cy="18300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None/>
            </a:pPr>
            <a:r>
              <a:rPr b="1" i="0" lang="en-US" sz="900" u="none" cap="none" strike="noStrike">
                <a:solidFill>
                  <a:srgbClr val="626E7A"/>
                </a:solidFill>
                <a:latin typeface="Arial"/>
                <a:ea typeface="Arial"/>
                <a:cs typeface="Arial"/>
                <a:sym typeface="Arial"/>
              </a:rPr>
              <a:t>4</a:t>
            </a:r>
            <a:endParaRPr/>
          </a:p>
        </p:txBody>
      </p:sp>
      <p:sp>
        <p:nvSpPr>
          <p:cNvPr id="105" name="Google Shape;105;p16"/>
          <p:cNvSpPr/>
          <p:nvPr/>
        </p:nvSpPr>
        <p:spPr>
          <a:xfrm>
            <a:off x="594360"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6"/>
          <p:cNvSpPr txBox="1"/>
          <p:nvPr/>
        </p:nvSpPr>
        <p:spPr>
          <a:xfrm>
            <a:off x="740664"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BE7D32"/>
                </a:solidFill>
                <a:latin typeface="Arial"/>
                <a:ea typeface="Arial"/>
                <a:cs typeface="Arial"/>
                <a:sym typeface="Arial"/>
              </a:rPr>
              <a:t>1. Hardware from Earth</a:t>
            </a:r>
            <a:endParaRPr/>
          </a:p>
        </p:txBody>
      </p:sp>
      <p:sp>
        <p:nvSpPr>
          <p:cNvPr id="107" name="Google Shape;107;p16"/>
          <p:cNvSpPr txBox="1"/>
          <p:nvPr/>
        </p:nvSpPr>
        <p:spPr>
          <a:xfrm>
            <a:off x="740664" y="2267712"/>
            <a:ext cx="3291900" cy="1322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Problem: launching every replacement part is expensive.</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Proposed fix: make frames and wear parts from asteroid iro</a:t>
            </a:r>
            <a:r>
              <a:rPr lang="en-US" sz="1050">
                <a:solidFill>
                  <a:srgbClr val="232B34"/>
                </a:solidFill>
              </a:rPr>
              <a:t>n.</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Assumption: on-site iron processing work</a:t>
            </a:r>
            <a:r>
              <a:rPr lang="en-US" sz="1050">
                <a:solidFill>
                  <a:srgbClr val="232B34"/>
                </a:solidFill>
              </a:rPr>
              <a:t>s.</a:t>
            </a:r>
            <a:endParaRPr/>
          </a:p>
        </p:txBody>
      </p:sp>
      <p:sp>
        <p:nvSpPr>
          <p:cNvPr id="108" name="Google Shape;108;p16"/>
          <p:cNvSpPr/>
          <p:nvPr/>
        </p:nvSpPr>
        <p:spPr>
          <a:xfrm>
            <a:off x="4416552"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6"/>
          <p:cNvSpPr txBox="1"/>
          <p:nvPr/>
        </p:nvSpPr>
        <p:spPr>
          <a:xfrm>
            <a:off x="4562856"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2. Moving the cargo</a:t>
            </a:r>
            <a:endParaRPr/>
          </a:p>
        </p:txBody>
      </p:sp>
      <p:sp>
        <p:nvSpPr>
          <p:cNvPr id="110" name="Google Shape;110;p16"/>
          <p:cNvSpPr txBox="1"/>
          <p:nvPr/>
        </p:nvSpPr>
        <p:spPr>
          <a:xfrm>
            <a:off x="4562856" y="2267712"/>
            <a:ext cx="3291900" cy="278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Problem: tugs need engines and propellant to move each load.</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Proposed fix: solar tether launch plus light reusable containers.</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Assumption: shell mass is ~2% of payload.</a:t>
            </a:r>
            <a:endParaRPr/>
          </a:p>
        </p:txBody>
      </p:sp>
      <p:sp>
        <p:nvSpPr>
          <p:cNvPr id="111" name="Google Shape;111;p16"/>
          <p:cNvSpPr/>
          <p:nvPr/>
        </p:nvSpPr>
        <p:spPr>
          <a:xfrm>
            <a:off x="8238744" y="1828800"/>
            <a:ext cx="3584400" cy="32919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6"/>
          <p:cNvSpPr txBox="1"/>
          <p:nvPr/>
        </p:nvSpPr>
        <p:spPr>
          <a:xfrm>
            <a:off x="8385048" y="1938528"/>
            <a:ext cx="3291900" cy="255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498267"/>
                </a:solidFill>
                <a:latin typeface="Arial"/>
                <a:ea typeface="Arial"/>
                <a:cs typeface="Arial"/>
                <a:sym typeface="Arial"/>
              </a:rPr>
              <a:t>3. Downtime and repair</a:t>
            </a:r>
            <a:endParaRPr/>
          </a:p>
        </p:txBody>
      </p:sp>
      <p:sp>
        <p:nvSpPr>
          <p:cNvPr id="113" name="Google Shape;113;p16"/>
          <p:cNvSpPr txBox="1"/>
          <p:nvPr/>
        </p:nvSpPr>
        <p:spPr>
          <a:xfrm>
            <a:off x="8385048" y="2267712"/>
            <a:ext cx="3291900" cy="2788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Problem: help is far away and repairs can take a long time.</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Proposed fix: modular parts, parallel units and repair robots.</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Assumption: robots can replace parts autonomously.</a:t>
            </a:r>
            <a:endParaRPr/>
          </a:p>
        </p:txBody>
      </p:sp>
      <p:sp>
        <p:nvSpPr>
          <p:cNvPr id="114" name="Google Shape;114;p16"/>
          <p:cNvSpPr/>
          <p:nvPr/>
        </p:nvSpPr>
        <p:spPr>
          <a:xfrm>
            <a:off x="594360" y="5394960"/>
            <a:ext cx="11018400" cy="658500"/>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6"/>
          <p:cNvSpPr txBox="1"/>
          <p:nvPr/>
        </p:nvSpPr>
        <p:spPr>
          <a:xfrm>
            <a:off x="757639" y="5559552"/>
            <a:ext cx="10607100" cy="2061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100" u="none" cap="none" strike="noStrike">
                <a:solidFill>
                  <a:srgbClr val="1F3752"/>
                </a:solidFill>
                <a:latin typeface="Arial"/>
                <a:ea typeface="Arial"/>
                <a:cs typeface="Arial"/>
                <a:sym typeface="Arial"/>
              </a:rPr>
              <a:t>Model baseline: 100,000 t/year</a:t>
            </a:r>
            <a:r>
              <a:rPr b="1" lang="en-US" sz="1100">
                <a:solidFill>
                  <a:srgbClr val="1F3752"/>
                </a:solidFill>
              </a:rPr>
              <a:t>; </a:t>
            </a:r>
            <a:r>
              <a:rPr b="1" i="0" lang="en-US" sz="1100" u="none" cap="none" strike="noStrike">
                <a:solidFill>
                  <a:srgbClr val="1F3752"/>
                </a:solidFill>
                <a:latin typeface="Arial"/>
                <a:ea typeface="Arial"/>
                <a:cs typeface="Arial"/>
                <a:sym typeface="Arial"/>
              </a:rPr>
              <a:t> 1</a:t>
            </a:r>
            <a:r>
              <a:rPr b="1" lang="en-US" sz="1100">
                <a:solidFill>
                  <a:srgbClr val="1F3752"/>
                </a:solidFill>
              </a:rPr>
              <a:t>5</a:t>
            </a:r>
            <a:r>
              <a:rPr b="1" i="0" lang="en-US" sz="1100" u="none" cap="none" strike="noStrike">
                <a:solidFill>
                  <a:srgbClr val="1F3752"/>
                </a:solidFill>
                <a:latin typeface="Arial"/>
                <a:ea typeface="Arial"/>
                <a:cs typeface="Arial"/>
                <a:sym typeface="Arial"/>
              </a:rPr>
              <a:t>-year </a:t>
            </a:r>
            <a:r>
              <a:rPr b="1" lang="en-US" sz="1100">
                <a:solidFill>
                  <a:srgbClr val="1F3752"/>
                </a:solidFill>
              </a:rPr>
              <a:t>expected life; </a:t>
            </a:r>
            <a:r>
              <a:rPr b="1" i="0" lang="en-US" sz="1100" u="none" cap="none" strike="noStrike">
                <a:solidFill>
                  <a:srgbClr val="1F3752"/>
                </a:solidFill>
                <a:latin typeface="Arial"/>
                <a:ea typeface="Arial"/>
                <a:cs typeface="Arial"/>
                <a:sym typeface="Arial"/>
              </a:rPr>
              <a:t>container fleet estimated at ~90% of transport cost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7"/>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STAC WARS • PS 4  |  05</a:t>
            </a:r>
            <a:endParaRPr/>
          </a:p>
        </p:txBody>
      </p:sp>
      <p:sp>
        <p:nvSpPr>
          <p:cNvPr id="121" name="Google Shape;121;p17"/>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Comparison with other approaches</a:t>
            </a:r>
            <a:endParaRPr/>
          </a:p>
        </p:txBody>
      </p:sp>
      <p:sp>
        <p:nvSpPr>
          <p:cNvPr id="122" name="Google Shape;122;p17"/>
          <p:cNvSpPr txBox="1"/>
          <p:nvPr/>
        </p:nvSpPr>
        <p:spPr>
          <a:xfrm>
            <a:off x="530352" y="1078992"/>
            <a:ext cx="10972800" cy="375600"/>
          </a:xfrm>
          <a:prstGeom prst="rect">
            <a:avLst/>
          </a:prstGeom>
          <a:noFill/>
          <a:ln>
            <a:noFill/>
          </a:ln>
        </p:spPr>
        <p:txBody>
          <a:bodyPr anchorCtr="0" anchor="t" bIns="18275" lIns="36575" spcFirstLastPara="1" rIns="36575" wrap="square" tIns="18275">
            <a:spAutoFit/>
          </a:bodyPr>
          <a:lstStyle/>
          <a:p>
            <a:pPr indent="0" lvl="0" marL="0" rtl="0" algn="l">
              <a:spcBef>
                <a:spcPts val="0"/>
              </a:spcBef>
              <a:spcAft>
                <a:spcPts val="0"/>
              </a:spcAft>
              <a:buNone/>
            </a:pPr>
            <a:r>
              <a:rPr b="1" lang="en-US" sz="1100">
                <a:solidFill>
                  <a:srgbClr val="FF0000"/>
                </a:solidFill>
              </a:rPr>
              <a:t>“</a:t>
            </a:r>
            <a:r>
              <a:rPr b="1" lang="en-US" sz="1100">
                <a:solidFill>
                  <a:srgbClr val="FF0000"/>
                </a:solidFill>
              </a:rPr>
              <a:t>Never tell me the odds” -Han solo</a:t>
            </a:r>
            <a:endParaRPr>
              <a:solidFill>
                <a:srgbClr val="FF0000"/>
              </a:solidFill>
            </a:endParaRPr>
          </a:p>
          <a:p>
            <a:pPr indent="0" lvl="0" marL="0" marR="0" rtl="0" algn="l">
              <a:spcBef>
                <a:spcPts val="0"/>
              </a:spcBef>
              <a:spcAft>
                <a:spcPts val="0"/>
              </a:spcAft>
              <a:buNone/>
            </a:pPr>
            <a:r>
              <a:t/>
            </a:r>
            <a:endParaRPr sz="1100">
              <a:solidFill>
                <a:srgbClr val="FF0000"/>
              </a:solidFill>
            </a:endParaRPr>
          </a:p>
        </p:txBody>
      </p:sp>
      <p:sp>
        <p:nvSpPr>
          <p:cNvPr id="123" name="Google Shape;123;p17"/>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7"/>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None/>
            </a:pPr>
            <a:r>
              <a:rPr b="1" i="0" lang="en-US" sz="900" u="none" cap="none" strike="noStrike">
                <a:solidFill>
                  <a:srgbClr val="626E7A"/>
                </a:solidFill>
                <a:latin typeface="Arial"/>
                <a:ea typeface="Arial"/>
                <a:cs typeface="Arial"/>
                <a:sym typeface="Arial"/>
              </a:rPr>
              <a:t>5</a:t>
            </a:r>
            <a:endParaRPr/>
          </a:p>
        </p:txBody>
      </p:sp>
      <p:sp>
        <p:nvSpPr>
          <p:cNvPr id="125" name="Google Shape;125;p17"/>
          <p:cNvSpPr/>
          <p:nvPr/>
        </p:nvSpPr>
        <p:spPr>
          <a:xfrm>
            <a:off x="594360" y="1828800"/>
            <a:ext cx="164592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7"/>
          <p:cNvSpPr txBox="1"/>
          <p:nvPr/>
        </p:nvSpPr>
        <p:spPr>
          <a:xfrm>
            <a:off x="667512" y="1938528"/>
            <a:ext cx="149961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Dimension</a:t>
            </a:r>
            <a:endParaRPr/>
          </a:p>
        </p:txBody>
      </p:sp>
      <p:sp>
        <p:nvSpPr>
          <p:cNvPr id="127" name="Google Shape;127;p17"/>
          <p:cNvSpPr/>
          <p:nvPr/>
        </p:nvSpPr>
        <p:spPr>
          <a:xfrm>
            <a:off x="2331720" y="1828800"/>
            <a:ext cx="27432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7"/>
          <p:cNvSpPr txBox="1"/>
          <p:nvPr/>
        </p:nvSpPr>
        <p:spPr>
          <a:xfrm>
            <a:off x="2404872" y="1938528"/>
            <a:ext cx="259689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Tug-based mining</a:t>
            </a:r>
            <a:endParaRPr/>
          </a:p>
        </p:txBody>
      </p:sp>
      <p:sp>
        <p:nvSpPr>
          <p:cNvPr id="129" name="Google Shape;129;p17"/>
          <p:cNvSpPr/>
          <p:nvPr/>
        </p:nvSpPr>
        <p:spPr>
          <a:xfrm>
            <a:off x="5166360" y="1828800"/>
            <a:ext cx="274320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7"/>
          <p:cNvSpPr/>
          <p:nvPr/>
        </p:nvSpPr>
        <p:spPr>
          <a:xfrm>
            <a:off x="8001000" y="1828800"/>
            <a:ext cx="3611880" cy="438912"/>
          </a:xfrm>
          <a:prstGeom prst="rect">
            <a:avLst/>
          </a:prstGeom>
          <a:solidFill>
            <a:srgbClr val="1F3752"/>
          </a:solidFill>
          <a:ln cap="flat" cmpd="sng" w="10150">
            <a:solidFill>
              <a:srgbClr val="1F375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7"/>
          <p:cNvSpPr txBox="1"/>
          <p:nvPr/>
        </p:nvSpPr>
        <p:spPr>
          <a:xfrm>
            <a:off x="8074152" y="1938528"/>
            <a:ext cx="3465576"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FFFFFF"/>
                </a:solidFill>
                <a:latin typeface="Arial"/>
                <a:ea typeface="Arial"/>
                <a:cs typeface="Arial"/>
                <a:sym typeface="Arial"/>
              </a:rPr>
              <a:t>AKS-3 concept</a:t>
            </a:r>
            <a:endParaRPr/>
          </a:p>
        </p:txBody>
      </p:sp>
      <p:sp>
        <p:nvSpPr>
          <p:cNvPr id="132" name="Google Shape;132;p17"/>
          <p:cNvSpPr/>
          <p:nvPr/>
        </p:nvSpPr>
        <p:spPr>
          <a:xfrm>
            <a:off x="594360" y="2359152"/>
            <a:ext cx="164592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7"/>
          <p:cNvSpPr txBox="1"/>
          <p:nvPr/>
        </p:nvSpPr>
        <p:spPr>
          <a:xfrm>
            <a:off x="667512" y="244144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50" u="none" cap="none" strike="noStrike">
                <a:solidFill>
                  <a:srgbClr val="1F3752"/>
                </a:solidFill>
                <a:latin typeface="Arial"/>
                <a:ea typeface="Arial"/>
                <a:cs typeface="Arial"/>
                <a:sym typeface="Arial"/>
              </a:rPr>
              <a:t>Cargo movement</a:t>
            </a:r>
            <a:endParaRPr/>
          </a:p>
        </p:txBody>
      </p:sp>
      <p:sp>
        <p:nvSpPr>
          <p:cNvPr id="134" name="Google Shape;134;p17"/>
          <p:cNvSpPr/>
          <p:nvPr/>
        </p:nvSpPr>
        <p:spPr>
          <a:xfrm>
            <a:off x="2331720" y="2359152"/>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7"/>
          <p:cNvSpPr txBox="1"/>
          <p:nvPr/>
        </p:nvSpPr>
        <p:spPr>
          <a:xfrm>
            <a:off x="2404872" y="244144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Tug carries each load with its own engines</a:t>
            </a:r>
            <a:endParaRPr/>
          </a:p>
        </p:txBody>
      </p:sp>
      <p:sp>
        <p:nvSpPr>
          <p:cNvPr id="136" name="Google Shape;136;p17"/>
          <p:cNvSpPr/>
          <p:nvPr/>
        </p:nvSpPr>
        <p:spPr>
          <a:xfrm>
            <a:off x="5166360" y="2359152"/>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7"/>
          <p:cNvSpPr txBox="1"/>
          <p:nvPr/>
        </p:nvSpPr>
        <p:spPr>
          <a:xfrm>
            <a:off x="5239512" y="2441448"/>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solidFill>
                  <a:srgbClr val="232B34"/>
                </a:solidFill>
              </a:rPr>
              <a:t>Complete</a:t>
            </a:r>
            <a:r>
              <a:rPr lang="en-US" sz="950">
                <a:solidFill>
                  <a:srgbClr val="232B34"/>
                </a:solidFill>
              </a:rPr>
              <a:t> asteroid moved </a:t>
            </a:r>
            <a:endParaRPr/>
          </a:p>
        </p:txBody>
      </p:sp>
      <p:sp>
        <p:nvSpPr>
          <p:cNvPr id="138" name="Google Shape;138;p17"/>
          <p:cNvSpPr/>
          <p:nvPr/>
        </p:nvSpPr>
        <p:spPr>
          <a:xfrm>
            <a:off x="8001000" y="2359152"/>
            <a:ext cx="361188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7"/>
          <p:cNvSpPr txBox="1"/>
          <p:nvPr/>
        </p:nvSpPr>
        <p:spPr>
          <a:xfrm>
            <a:off x="8074152" y="2441448"/>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Solar tether and reusable containers</a:t>
            </a:r>
            <a:endParaRPr/>
          </a:p>
        </p:txBody>
      </p:sp>
      <p:sp>
        <p:nvSpPr>
          <p:cNvPr id="140" name="Google Shape;140;p17"/>
          <p:cNvSpPr/>
          <p:nvPr/>
        </p:nvSpPr>
        <p:spPr>
          <a:xfrm>
            <a:off x="594360" y="3090672"/>
            <a:ext cx="164592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667512" y="317296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50" u="none" cap="none" strike="noStrike">
                <a:solidFill>
                  <a:srgbClr val="1F3752"/>
                </a:solidFill>
                <a:latin typeface="Arial"/>
                <a:ea typeface="Arial"/>
                <a:cs typeface="Arial"/>
                <a:sym typeface="Arial"/>
              </a:rPr>
              <a:t>Propellant</a:t>
            </a:r>
            <a:endParaRPr/>
          </a:p>
        </p:txBody>
      </p:sp>
      <p:sp>
        <p:nvSpPr>
          <p:cNvPr id="142" name="Google Shape;142;p17"/>
          <p:cNvSpPr/>
          <p:nvPr/>
        </p:nvSpPr>
        <p:spPr>
          <a:xfrm>
            <a:off x="2331720" y="309067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txBox="1"/>
          <p:nvPr/>
        </p:nvSpPr>
        <p:spPr>
          <a:xfrm>
            <a:off x="2404872" y="317296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Chemical ~40% of cargo; electric ~5% at 1.5 km/s</a:t>
            </a:r>
            <a:endParaRPr/>
          </a:p>
        </p:txBody>
      </p:sp>
      <p:sp>
        <p:nvSpPr>
          <p:cNvPr id="144" name="Google Shape;144;p17"/>
          <p:cNvSpPr/>
          <p:nvPr/>
        </p:nvSpPr>
        <p:spPr>
          <a:xfrm>
            <a:off x="5166360" y="309067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7"/>
          <p:cNvSpPr txBox="1"/>
          <p:nvPr/>
        </p:nvSpPr>
        <p:spPr>
          <a:xfrm>
            <a:off x="5202950" y="3172968"/>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solidFill>
                  <a:srgbClr val="232B34"/>
                </a:solidFill>
              </a:rPr>
              <a:t>alot of propellant required</a:t>
            </a:r>
            <a:endParaRPr/>
          </a:p>
        </p:txBody>
      </p:sp>
      <p:sp>
        <p:nvSpPr>
          <p:cNvPr id="146" name="Google Shape;146;p17"/>
          <p:cNvSpPr/>
          <p:nvPr/>
        </p:nvSpPr>
        <p:spPr>
          <a:xfrm>
            <a:off x="8001000" y="3090672"/>
            <a:ext cx="361188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7"/>
          <p:cNvSpPr txBox="1"/>
          <p:nvPr/>
        </p:nvSpPr>
        <p:spPr>
          <a:xfrm>
            <a:off x="8074152" y="3172968"/>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~0.3% for station-keeping (assumed)</a:t>
            </a:r>
            <a:endParaRPr/>
          </a:p>
        </p:txBody>
      </p:sp>
      <p:sp>
        <p:nvSpPr>
          <p:cNvPr id="148" name="Google Shape;148;p17"/>
          <p:cNvSpPr/>
          <p:nvPr/>
        </p:nvSpPr>
        <p:spPr>
          <a:xfrm>
            <a:off x="594360" y="3822191"/>
            <a:ext cx="164592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7"/>
          <p:cNvSpPr txBox="1"/>
          <p:nvPr/>
        </p:nvSpPr>
        <p:spPr>
          <a:xfrm>
            <a:off x="667512" y="3904487"/>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50" u="none" cap="none" strike="noStrike">
                <a:solidFill>
                  <a:srgbClr val="1F3752"/>
                </a:solidFill>
                <a:latin typeface="Arial"/>
                <a:ea typeface="Arial"/>
                <a:cs typeface="Arial"/>
                <a:sym typeface="Arial"/>
              </a:rPr>
              <a:t>Throughput</a:t>
            </a:r>
            <a:endParaRPr/>
          </a:p>
        </p:txBody>
      </p:sp>
      <p:sp>
        <p:nvSpPr>
          <p:cNvPr id="150" name="Google Shape;150;p17"/>
          <p:cNvSpPr/>
          <p:nvPr/>
        </p:nvSpPr>
        <p:spPr>
          <a:xfrm>
            <a:off x="2331720" y="3822191"/>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7"/>
          <p:cNvSpPr txBox="1"/>
          <p:nvPr/>
        </p:nvSpPr>
        <p:spPr>
          <a:xfrm>
            <a:off x="2404872" y="3904487"/>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Batches per trip</a:t>
            </a:r>
            <a:endParaRPr/>
          </a:p>
        </p:txBody>
      </p:sp>
      <p:sp>
        <p:nvSpPr>
          <p:cNvPr id="152" name="Google Shape;152;p17"/>
          <p:cNvSpPr/>
          <p:nvPr/>
        </p:nvSpPr>
        <p:spPr>
          <a:xfrm>
            <a:off x="5166360" y="3822191"/>
            <a:ext cx="274320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txBox="1"/>
          <p:nvPr/>
        </p:nvSpPr>
        <p:spPr>
          <a:xfrm>
            <a:off x="5166387" y="3904487"/>
            <a:ext cx="25968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solidFill>
                  <a:srgbClr val="232B34"/>
                </a:solidFill>
              </a:rPr>
              <a:t>the</a:t>
            </a:r>
            <a:r>
              <a:rPr lang="en-US" sz="950">
                <a:solidFill>
                  <a:srgbClr val="232B34"/>
                </a:solidFill>
              </a:rPr>
              <a:t> entire asteroid</a:t>
            </a:r>
            <a:endParaRPr/>
          </a:p>
        </p:txBody>
      </p:sp>
      <p:sp>
        <p:nvSpPr>
          <p:cNvPr id="154" name="Google Shape;154;p17"/>
          <p:cNvSpPr/>
          <p:nvPr/>
        </p:nvSpPr>
        <p:spPr>
          <a:xfrm>
            <a:off x="8001000" y="3822191"/>
            <a:ext cx="3611880" cy="658368"/>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7"/>
          <p:cNvSpPr txBox="1"/>
          <p:nvPr/>
        </p:nvSpPr>
        <p:spPr>
          <a:xfrm>
            <a:off x="8074152" y="3904487"/>
            <a:ext cx="346557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Target: 100,000 t/year</a:t>
            </a:r>
            <a:endParaRPr/>
          </a:p>
        </p:txBody>
      </p:sp>
      <p:sp>
        <p:nvSpPr>
          <p:cNvPr id="156" name="Google Shape;156;p17"/>
          <p:cNvSpPr/>
          <p:nvPr/>
        </p:nvSpPr>
        <p:spPr>
          <a:xfrm>
            <a:off x="594360" y="4553712"/>
            <a:ext cx="164592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7"/>
          <p:cNvSpPr txBox="1"/>
          <p:nvPr/>
        </p:nvSpPr>
        <p:spPr>
          <a:xfrm>
            <a:off x="667512" y="4636008"/>
            <a:ext cx="149961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50" u="none" cap="none" strike="noStrike">
                <a:solidFill>
                  <a:srgbClr val="1F3752"/>
                </a:solidFill>
                <a:latin typeface="Arial"/>
                <a:ea typeface="Arial"/>
                <a:cs typeface="Arial"/>
                <a:sym typeface="Arial"/>
              </a:rPr>
              <a:t>Weak point</a:t>
            </a:r>
            <a:endParaRPr/>
          </a:p>
        </p:txBody>
      </p:sp>
      <p:sp>
        <p:nvSpPr>
          <p:cNvPr id="158" name="Google Shape;158;p17"/>
          <p:cNvSpPr/>
          <p:nvPr/>
        </p:nvSpPr>
        <p:spPr>
          <a:xfrm>
            <a:off x="2331720" y="455371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7"/>
          <p:cNvSpPr txBox="1"/>
          <p:nvPr/>
        </p:nvSpPr>
        <p:spPr>
          <a:xfrm>
            <a:off x="2404872" y="4636008"/>
            <a:ext cx="2596896" cy="49377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Fleet cost rises with volume</a:t>
            </a:r>
            <a:endParaRPr/>
          </a:p>
        </p:txBody>
      </p:sp>
      <p:sp>
        <p:nvSpPr>
          <p:cNvPr id="160" name="Google Shape;160;p17"/>
          <p:cNvSpPr/>
          <p:nvPr/>
        </p:nvSpPr>
        <p:spPr>
          <a:xfrm>
            <a:off x="5166360" y="4553712"/>
            <a:ext cx="274320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7"/>
          <p:cNvSpPr txBox="1"/>
          <p:nvPr/>
        </p:nvSpPr>
        <p:spPr>
          <a:xfrm>
            <a:off x="5239512" y="4636008"/>
            <a:ext cx="2596800" cy="329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solidFill>
                  <a:srgbClr val="232B34"/>
                </a:solidFill>
              </a:rPr>
              <a:t>a lot of fuel wasted in transporting; high risk near the habitat</a:t>
            </a:r>
            <a:endParaRPr sz="950">
              <a:solidFill>
                <a:srgbClr val="232B34"/>
              </a:solidFill>
            </a:endParaRPr>
          </a:p>
        </p:txBody>
      </p:sp>
      <p:sp>
        <p:nvSpPr>
          <p:cNvPr id="162" name="Google Shape;162;p17"/>
          <p:cNvSpPr/>
          <p:nvPr/>
        </p:nvSpPr>
        <p:spPr>
          <a:xfrm>
            <a:off x="8001000" y="4553712"/>
            <a:ext cx="3611880" cy="658368"/>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7"/>
          <p:cNvSpPr txBox="1"/>
          <p:nvPr/>
        </p:nvSpPr>
        <p:spPr>
          <a:xfrm>
            <a:off x="8074152" y="4636008"/>
            <a:ext cx="34656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Tether is unproven; container mass matters </a:t>
            </a:r>
            <a:endParaRPr/>
          </a:p>
        </p:txBody>
      </p:sp>
      <p:sp>
        <p:nvSpPr>
          <p:cNvPr id="164" name="Google Shape;164;p17"/>
          <p:cNvSpPr/>
          <p:nvPr/>
        </p:nvSpPr>
        <p:spPr>
          <a:xfrm>
            <a:off x="594360" y="5486400"/>
            <a:ext cx="11018520" cy="621792"/>
          </a:xfrm>
          <a:prstGeom prst="rect">
            <a:avLst/>
          </a:prstGeom>
          <a:solidFill>
            <a:srgbClr val="EDF3F8"/>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5" name="Google Shape;165;p17"/>
          <p:cNvSpPr txBox="1"/>
          <p:nvPr/>
        </p:nvSpPr>
        <p:spPr>
          <a:xfrm>
            <a:off x="777240" y="5641848"/>
            <a:ext cx="10607100" cy="25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a:t>our concept is clearly superior to chemical </a:t>
            </a:r>
            <a:r>
              <a:rPr lang="en-US"/>
              <a:t>propulsion</a:t>
            </a:r>
            <a:r>
              <a:rPr lang="en-US"/>
              <a:t> and easily beats electric propulsion at higher volumes</a:t>
            </a:r>
            <a:endParaRPr/>
          </a:p>
        </p:txBody>
      </p:sp>
      <p:sp>
        <p:nvSpPr>
          <p:cNvPr id="166" name="Google Shape;166;p17"/>
          <p:cNvSpPr txBox="1"/>
          <p:nvPr/>
        </p:nvSpPr>
        <p:spPr>
          <a:xfrm>
            <a:off x="5239572" y="1966578"/>
            <a:ext cx="2596800" cy="190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000">
                <a:solidFill>
                  <a:srgbClr val="FFFFFF"/>
                </a:solidFill>
              </a:rPr>
              <a:t>Full Astroid Relocation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8"/>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STAC WARS • PS 4  |  06</a:t>
            </a:r>
            <a:endParaRPr/>
          </a:p>
        </p:txBody>
      </p:sp>
      <p:sp>
        <p:nvSpPr>
          <p:cNvPr id="172" name="Google Shape;172;p18"/>
          <p:cNvSpPr txBox="1"/>
          <p:nvPr/>
        </p:nvSpPr>
        <p:spPr>
          <a:xfrm>
            <a:off x="502920" y="530352"/>
            <a:ext cx="11064300" cy="406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2400">
                <a:solidFill>
                  <a:srgbClr val="1F3752"/>
                </a:solidFill>
              </a:rPr>
              <a:t>Part C: </a:t>
            </a:r>
            <a:r>
              <a:rPr b="1" i="0" lang="en-US" sz="2400" u="none" cap="none" strike="noStrike">
                <a:solidFill>
                  <a:srgbClr val="1F3752"/>
                </a:solidFill>
                <a:latin typeface="Arial"/>
                <a:ea typeface="Arial"/>
                <a:cs typeface="Arial"/>
                <a:sym typeface="Arial"/>
              </a:rPr>
              <a:t>Business model</a:t>
            </a:r>
            <a:endParaRPr/>
          </a:p>
        </p:txBody>
      </p:sp>
      <p:sp>
        <p:nvSpPr>
          <p:cNvPr id="173" name="Google Shape;173;p18"/>
          <p:cNvSpPr txBox="1"/>
          <p:nvPr/>
        </p:nvSpPr>
        <p:spPr>
          <a:xfrm>
            <a:off x="530352" y="1078992"/>
            <a:ext cx="10972800" cy="3200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100" u="none" cap="none" strike="noStrike">
                <a:solidFill>
                  <a:srgbClr val="626E7A"/>
                </a:solidFill>
                <a:latin typeface="Arial"/>
                <a:ea typeface="Arial"/>
                <a:cs typeface="Arial"/>
                <a:sym typeface="Arial"/>
              </a:rPr>
              <a:t>The business case depends on a reliable customer at L4.</a:t>
            </a:r>
            <a:endParaRPr/>
          </a:p>
        </p:txBody>
      </p:sp>
      <p:sp>
        <p:nvSpPr>
          <p:cNvPr id="174" name="Google Shape;174;p18"/>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8"/>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None/>
            </a:pPr>
            <a:r>
              <a:rPr b="1" i="0" lang="en-US" sz="900" u="none" cap="none" strike="noStrike">
                <a:solidFill>
                  <a:srgbClr val="626E7A"/>
                </a:solidFill>
                <a:latin typeface="Arial"/>
                <a:ea typeface="Arial"/>
                <a:cs typeface="Arial"/>
                <a:sym typeface="Arial"/>
              </a:rPr>
              <a:t>6</a:t>
            </a:r>
            <a:endParaRPr/>
          </a:p>
        </p:txBody>
      </p:sp>
      <p:sp>
        <p:nvSpPr>
          <p:cNvPr id="176" name="Google Shape;176;p18"/>
          <p:cNvSpPr/>
          <p:nvPr/>
        </p:nvSpPr>
        <p:spPr>
          <a:xfrm>
            <a:off x="594360" y="1828800"/>
            <a:ext cx="347472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8"/>
          <p:cNvSpPr txBox="1"/>
          <p:nvPr/>
        </p:nvSpPr>
        <p:spPr>
          <a:xfrm>
            <a:off x="740664" y="1938528"/>
            <a:ext cx="318211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What we sell</a:t>
            </a:r>
            <a:endParaRPr/>
          </a:p>
        </p:txBody>
      </p:sp>
      <p:sp>
        <p:nvSpPr>
          <p:cNvPr id="178" name="Google Shape;178;p18"/>
          <p:cNvSpPr txBox="1"/>
          <p:nvPr/>
        </p:nvSpPr>
        <p:spPr>
          <a:xfrm>
            <a:off x="740664" y="2267712"/>
            <a:ext cx="3182100" cy="15609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 Rubble for shielding</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 Iron-nickel for hulls</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 Water and volatiles. water as possible propellant feedstock as a later addition</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 Platinum-group metals as a byproduct</a:t>
            </a:r>
            <a:endParaRPr/>
          </a:p>
        </p:txBody>
      </p:sp>
      <p:sp>
        <p:nvSpPr>
          <p:cNvPr id="179" name="Google Shape;179;p18"/>
          <p:cNvSpPr/>
          <p:nvPr/>
        </p:nvSpPr>
        <p:spPr>
          <a:xfrm>
            <a:off x="4343400" y="1828800"/>
            <a:ext cx="347472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18"/>
          <p:cNvSpPr txBox="1"/>
          <p:nvPr/>
        </p:nvSpPr>
        <p:spPr>
          <a:xfrm>
            <a:off x="4489704" y="1938528"/>
            <a:ext cx="318211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BE7D32"/>
                </a:solidFill>
                <a:latin typeface="Arial"/>
                <a:ea typeface="Arial"/>
                <a:cs typeface="Arial"/>
                <a:sym typeface="Arial"/>
              </a:rPr>
              <a:t>Who buys it?</a:t>
            </a:r>
            <a:endParaRPr/>
          </a:p>
        </p:txBody>
      </p:sp>
      <p:sp>
        <p:nvSpPr>
          <p:cNvPr id="181" name="Google Shape;181;p18"/>
          <p:cNvSpPr txBox="1"/>
          <p:nvPr/>
        </p:nvSpPr>
        <p:spPr>
          <a:xfrm>
            <a:off x="4489704" y="2267712"/>
            <a:ext cx="3182112" cy="27432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Anchor customer: L4 project organising committee.</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Possible second buyer: a shipyard building deep-space craft at L4.</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Assumption: customers value in-space supply because it avoids launching from Earth.</a:t>
            </a:r>
            <a:endParaRPr/>
          </a:p>
        </p:txBody>
      </p:sp>
      <p:sp>
        <p:nvSpPr>
          <p:cNvPr id="182" name="Google Shape;182;p18"/>
          <p:cNvSpPr/>
          <p:nvPr/>
        </p:nvSpPr>
        <p:spPr>
          <a:xfrm>
            <a:off x="8092440" y="1828800"/>
            <a:ext cx="3520440" cy="324612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18"/>
          <p:cNvSpPr txBox="1"/>
          <p:nvPr/>
        </p:nvSpPr>
        <p:spPr>
          <a:xfrm>
            <a:off x="8238744" y="1938528"/>
            <a:ext cx="322783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498267"/>
                </a:solidFill>
                <a:latin typeface="Arial"/>
                <a:ea typeface="Arial"/>
                <a:cs typeface="Arial"/>
                <a:sym typeface="Arial"/>
              </a:rPr>
              <a:t>How funding works</a:t>
            </a:r>
            <a:endParaRPr/>
          </a:p>
        </p:txBody>
      </p:sp>
      <p:sp>
        <p:nvSpPr>
          <p:cNvPr id="184" name="Google Shape;184;p18"/>
          <p:cNvSpPr txBox="1"/>
          <p:nvPr/>
        </p:nvSpPr>
        <p:spPr>
          <a:xfrm>
            <a:off x="8238744" y="2267712"/>
            <a:ext cx="3227700" cy="1722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1. Han funds a technical demo.</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2. Demo milestones unlock a capex advance</a:t>
            </a:r>
            <a:r>
              <a:rPr lang="en-US" sz="1050">
                <a:solidFill>
                  <a:srgbClr val="232B34"/>
                </a:solidFill>
              </a:rPr>
              <a:t> from the L4 organising </a:t>
            </a:r>
            <a:r>
              <a:rPr lang="en-US" sz="1050">
                <a:solidFill>
                  <a:srgbClr val="232B34"/>
                </a:solidFill>
              </a:rPr>
              <a:t>committee</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3. Deliveries repay the advance through rebates.</a:t>
            </a:r>
            <a:endParaRPr/>
          </a:p>
          <a:p>
            <a:pPr indent="0" lvl="0" marL="0" marR="0" rtl="0" algn="l">
              <a:spcBef>
                <a:spcPts val="300"/>
              </a:spcBef>
              <a:spcAft>
                <a:spcPts val="0"/>
              </a:spcAft>
              <a:buNone/>
            </a:pPr>
            <a:r>
              <a:t/>
            </a:r>
            <a:endParaRPr b="0" i="0" sz="1050" u="none" cap="none" strike="noStrike">
              <a:solidFill>
                <a:srgbClr val="232B34"/>
              </a:solidFill>
              <a:latin typeface="Arial"/>
              <a:ea typeface="Arial"/>
              <a:cs typeface="Arial"/>
              <a:sym typeface="Arial"/>
            </a:endParaRPr>
          </a:p>
          <a:p>
            <a:pPr indent="0" lvl="0" marL="0" marR="0" rtl="0" algn="l">
              <a:spcBef>
                <a:spcPts val="300"/>
              </a:spcBef>
              <a:spcAft>
                <a:spcPts val="0"/>
              </a:spcAft>
              <a:buNone/>
            </a:pPr>
            <a:r>
              <a:rPr b="0" i="0" lang="en-US" sz="1050" u="none" cap="none" strike="noStrike">
                <a:solidFill>
                  <a:srgbClr val="232B34"/>
                </a:solidFill>
                <a:latin typeface="Arial"/>
                <a:ea typeface="Arial"/>
                <a:cs typeface="Arial"/>
                <a:sym typeface="Arial"/>
              </a:rPr>
              <a:t>4. Expand to the asteroid belt if near-Earth targets deplete.</a:t>
            </a:r>
            <a:endParaRPr/>
          </a:p>
        </p:txBody>
      </p:sp>
      <p:sp>
        <p:nvSpPr>
          <p:cNvPr id="185" name="Google Shape;185;p18"/>
          <p:cNvSpPr txBox="1"/>
          <p:nvPr/>
        </p:nvSpPr>
        <p:spPr>
          <a:xfrm>
            <a:off x="685800" y="5486400"/>
            <a:ext cx="10789920" cy="41148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00" u="none" cap="none" strike="noStrike">
                <a:solidFill>
                  <a:srgbClr val="626E7A"/>
                </a:solidFill>
                <a:latin typeface="Arial"/>
                <a:ea typeface="Arial"/>
                <a:cs typeface="Arial"/>
                <a:sym typeface="Arial"/>
              </a:rPr>
              <a:t>Revenue: per-tonne supply contract. Pricing below Earth-launch cost is an assumption, not a confirmed market price.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9"/>
          <p:cNvSpPr txBox="1"/>
          <p:nvPr/>
        </p:nvSpPr>
        <p:spPr>
          <a:xfrm>
            <a:off x="502920" y="228600"/>
            <a:ext cx="10789920" cy="201168"/>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900" u="none" cap="none" strike="noStrike">
                <a:solidFill>
                  <a:srgbClr val="3E6897"/>
                </a:solidFill>
                <a:latin typeface="Arial"/>
                <a:ea typeface="Arial"/>
                <a:cs typeface="Arial"/>
                <a:sym typeface="Arial"/>
              </a:rPr>
              <a:t>AKS-3  |  STAC WARS • PS 4  |  07</a:t>
            </a:r>
            <a:endParaRPr/>
          </a:p>
        </p:txBody>
      </p:sp>
      <p:sp>
        <p:nvSpPr>
          <p:cNvPr id="191" name="Google Shape;191;p19"/>
          <p:cNvSpPr txBox="1"/>
          <p:nvPr/>
        </p:nvSpPr>
        <p:spPr>
          <a:xfrm>
            <a:off x="502920" y="530352"/>
            <a:ext cx="11064240" cy="5029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2400" u="none" cap="none" strike="noStrike">
                <a:solidFill>
                  <a:srgbClr val="1F3752"/>
                </a:solidFill>
                <a:latin typeface="Arial"/>
                <a:ea typeface="Arial"/>
                <a:cs typeface="Arial"/>
                <a:sym typeface="Arial"/>
              </a:rPr>
              <a:t>Risks and roadmap</a:t>
            </a:r>
            <a:endParaRPr/>
          </a:p>
        </p:txBody>
      </p:sp>
      <p:sp>
        <p:nvSpPr>
          <p:cNvPr id="192" name="Google Shape;192;p19"/>
          <p:cNvSpPr txBox="1"/>
          <p:nvPr/>
        </p:nvSpPr>
        <p:spPr>
          <a:xfrm>
            <a:off x="530352" y="1078992"/>
            <a:ext cx="10972800" cy="3200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100" u="none" cap="none" strike="noStrike">
                <a:solidFill>
                  <a:srgbClr val="626E7A"/>
                </a:solidFill>
                <a:latin typeface="Arial"/>
                <a:ea typeface="Arial"/>
                <a:cs typeface="Arial"/>
                <a:sym typeface="Arial"/>
              </a:rPr>
              <a:t>Test the difficult parts early before committing to the full system.</a:t>
            </a:r>
            <a:endParaRPr/>
          </a:p>
        </p:txBody>
      </p:sp>
      <p:sp>
        <p:nvSpPr>
          <p:cNvPr id="193" name="Google Shape;193;p19"/>
          <p:cNvSpPr/>
          <p:nvPr/>
        </p:nvSpPr>
        <p:spPr>
          <a:xfrm>
            <a:off x="530352" y="1481328"/>
            <a:ext cx="11064240" cy="13716"/>
          </a:xfrm>
          <a:prstGeom prst="rect">
            <a:avLst/>
          </a:prstGeom>
          <a:solidFill>
            <a:srgbClr val="CDD8E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9"/>
          <p:cNvSpPr txBox="1"/>
          <p:nvPr/>
        </p:nvSpPr>
        <p:spPr>
          <a:xfrm>
            <a:off x="11064240" y="6510528"/>
            <a:ext cx="457200" cy="182880"/>
          </a:xfrm>
          <a:prstGeom prst="rect">
            <a:avLst/>
          </a:prstGeom>
          <a:noFill/>
          <a:ln>
            <a:noFill/>
          </a:ln>
        </p:spPr>
        <p:txBody>
          <a:bodyPr anchorCtr="0" anchor="t" bIns="18275" lIns="36575" spcFirstLastPara="1" rIns="36575" wrap="square" tIns="18275">
            <a:spAutoFit/>
          </a:bodyPr>
          <a:lstStyle/>
          <a:p>
            <a:pPr indent="0" lvl="0" marL="0" marR="0" rtl="0" algn="r">
              <a:spcBef>
                <a:spcPts val="0"/>
              </a:spcBef>
              <a:spcAft>
                <a:spcPts val="0"/>
              </a:spcAft>
              <a:buNone/>
            </a:pPr>
            <a:r>
              <a:rPr b="1" i="0" lang="en-US" sz="900" u="none" cap="none" strike="noStrike">
                <a:solidFill>
                  <a:srgbClr val="626E7A"/>
                </a:solidFill>
                <a:latin typeface="Arial"/>
                <a:ea typeface="Arial"/>
                <a:cs typeface="Arial"/>
                <a:sym typeface="Arial"/>
              </a:rPr>
              <a:t>7</a:t>
            </a:r>
            <a:endParaRPr/>
          </a:p>
        </p:txBody>
      </p:sp>
      <p:sp>
        <p:nvSpPr>
          <p:cNvPr id="195" name="Google Shape;195;p19"/>
          <p:cNvSpPr/>
          <p:nvPr/>
        </p:nvSpPr>
        <p:spPr>
          <a:xfrm>
            <a:off x="594360" y="182880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txBox="1"/>
          <p:nvPr/>
        </p:nvSpPr>
        <p:spPr>
          <a:xfrm>
            <a:off x="740664" y="193852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Single customer</a:t>
            </a:r>
            <a:endParaRPr/>
          </a:p>
        </p:txBody>
      </p:sp>
      <p:sp>
        <p:nvSpPr>
          <p:cNvPr id="197" name="Google Shape;197;p19"/>
          <p:cNvSpPr txBox="1"/>
          <p:nvPr/>
        </p:nvSpPr>
        <p:spPr>
          <a:xfrm>
            <a:off x="740664" y="2267712"/>
            <a:ext cx="4965192" cy="411479"/>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Minimum-purchase clause, termination payment for unrecovered capex, and a second buyer.</a:t>
            </a:r>
            <a:endParaRPr/>
          </a:p>
        </p:txBody>
      </p:sp>
      <p:sp>
        <p:nvSpPr>
          <p:cNvPr id="198" name="Google Shape;198;p19"/>
          <p:cNvSpPr/>
          <p:nvPr/>
        </p:nvSpPr>
        <p:spPr>
          <a:xfrm>
            <a:off x="594360" y="292608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9"/>
          <p:cNvSpPr txBox="1"/>
          <p:nvPr/>
        </p:nvSpPr>
        <p:spPr>
          <a:xfrm>
            <a:off x="740664" y="303580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Tether strength</a:t>
            </a:r>
            <a:endParaRPr/>
          </a:p>
        </p:txBody>
      </p:sp>
      <p:sp>
        <p:nvSpPr>
          <p:cNvPr id="200" name="Google Shape;200;p19"/>
          <p:cNvSpPr txBox="1"/>
          <p:nvPr/>
        </p:nvSpPr>
        <p:spPr>
          <a:xfrm>
            <a:off x="740664" y="3364992"/>
            <a:ext cx="4965300" cy="3603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50">
                <a:solidFill>
                  <a:srgbClr val="232B34"/>
                </a:solidFill>
              </a:rPr>
              <a:t>carbon</a:t>
            </a:r>
            <a:r>
              <a:rPr lang="en-US" sz="1050">
                <a:solidFill>
                  <a:srgbClr val="232B34"/>
                </a:solidFill>
              </a:rPr>
              <a:t> nanotubes for </a:t>
            </a:r>
            <a:r>
              <a:rPr lang="en-US" sz="1050">
                <a:solidFill>
                  <a:srgbClr val="232B34"/>
                </a:solidFill>
              </a:rPr>
              <a:t>maximum</a:t>
            </a:r>
            <a:r>
              <a:rPr lang="en-US" sz="1050">
                <a:solidFill>
                  <a:srgbClr val="232B34"/>
                </a:solidFill>
              </a:rPr>
              <a:t> </a:t>
            </a:r>
            <a:r>
              <a:rPr lang="en-US" sz="1050">
                <a:solidFill>
                  <a:srgbClr val="232B34"/>
                </a:solidFill>
              </a:rPr>
              <a:t>strength</a:t>
            </a:r>
            <a:r>
              <a:rPr lang="en-US" sz="1050">
                <a:solidFill>
                  <a:srgbClr val="232B34"/>
                </a:solidFill>
              </a:rPr>
              <a:t>  and spare tether on site in case of breakage</a:t>
            </a:r>
            <a:r>
              <a:rPr b="0" i="0" lang="en-US" sz="1050" u="none" cap="none" strike="noStrike">
                <a:solidFill>
                  <a:srgbClr val="232B34"/>
                </a:solidFill>
                <a:latin typeface="Arial"/>
                <a:ea typeface="Arial"/>
                <a:cs typeface="Arial"/>
                <a:sym typeface="Arial"/>
              </a:rPr>
              <a:t>.</a:t>
            </a:r>
            <a:endParaRPr/>
          </a:p>
        </p:txBody>
      </p:sp>
      <p:sp>
        <p:nvSpPr>
          <p:cNvPr id="201" name="Google Shape;201;p19"/>
          <p:cNvSpPr/>
          <p:nvPr/>
        </p:nvSpPr>
        <p:spPr>
          <a:xfrm>
            <a:off x="594360" y="4023360"/>
            <a:ext cx="5257800" cy="9144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19"/>
          <p:cNvSpPr txBox="1"/>
          <p:nvPr/>
        </p:nvSpPr>
        <p:spPr>
          <a:xfrm>
            <a:off x="740664" y="4133088"/>
            <a:ext cx="4965192" cy="256032"/>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Anchoring failure</a:t>
            </a:r>
            <a:endParaRPr/>
          </a:p>
        </p:txBody>
      </p:sp>
      <p:sp>
        <p:nvSpPr>
          <p:cNvPr id="203" name="Google Shape;203;p19"/>
          <p:cNvSpPr txBox="1"/>
          <p:nvPr/>
        </p:nvSpPr>
        <p:spPr>
          <a:xfrm>
            <a:off x="740664" y="4462272"/>
            <a:ext cx="4965192" cy="411479"/>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1050" u="none" cap="none" strike="noStrike">
                <a:solidFill>
                  <a:srgbClr val="232B34"/>
                </a:solidFill>
                <a:latin typeface="Arial"/>
                <a:ea typeface="Arial"/>
                <a:cs typeface="Arial"/>
                <a:sym typeface="Arial"/>
              </a:rPr>
              <a:t>Survey each target and choose drilled anchors, netting or wrapping as appropriate.</a:t>
            </a:r>
            <a:endParaRPr/>
          </a:p>
        </p:txBody>
      </p:sp>
      <p:sp>
        <p:nvSpPr>
          <p:cNvPr id="204" name="Google Shape;204;p19"/>
          <p:cNvSpPr txBox="1"/>
          <p:nvPr/>
        </p:nvSpPr>
        <p:spPr>
          <a:xfrm>
            <a:off x="6263640" y="1828800"/>
            <a:ext cx="4754880" cy="2743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200" u="none" cap="none" strike="noStrike">
                <a:solidFill>
                  <a:srgbClr val="3E6897"/>
                </a:solidFill>
                <a:latin typeface="Arial"/>
                <a:ea typeface="Arial"/>
                <a:cs typeface="Arial"/>
                <a:sym typeface="Arial"/>
              </a:rPr>
              <a:t>PROPOSED ROADMAP</a:t>
            </a:r>
            <a:endParaRPr/>
          </a:p>
        </p:txBody>
      </p:sp>
      <p:sp>
        <p:nvSpPr>
          <p:cNvPr id="205" name="Google Shape;205;p19"/>
          <p:cNvSpPr/>
          <p:nvPr/>
        </p:nvSpPr>
        <p:spPr>
          <a:xfrm>
            <a:off x="6263640" y="233172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9"/>
          <p:cNvSpPr txBox="1"/>
          <p:nvPr/>
        </p:nvSpPr>
        <p:spPr>
          <a:xfrm>
            <a:off x="6400800" y="2404872"/>
            <a:ext cx="1417320" cy="219456"/>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3E6897"/>
                </a:solidFill>
                <a:latin typeface="Arial"/>
                <a:ea typeface="Arial"/>
                <a:cs typeface="Arial"/>
                <a:sym typeface="Arial"/>
              </a:rPr>
              <a:t>1. Demo</a:t>
            </a:r>
            <a:endParaRPr/>
          </a:p>
        </p:txBody>
      </p:sp>
      <p:sp>
        <p:nvSpPr>
          <p:cNvPr id="207" name="Google Shape;207;p19"/>
          <p:cNvSpPr txBox="1"/>
          <p:nvPr/>
        </p:nvSpPr>
        <p:spPr>
          <a:xfrm>
            <a:off x="7863840" y="2404872"/>
            <a:ext cx="3246000" cy="329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Scout, anchor, small launch and catch in order to seqire funding</a:t>
            </a:r>
            <a:endParaRPr/>
          </a:p>
        </p:txBody>
      </p:sp>
      <p:sp>
        <p:nvSpPr>
          <p:cNvPr id="208" name="Google Shape;208;p19"/>
          <p:cNvSpPr/>
          <p:nvPr/>
        </p:nvSpPr>
        <p:spPr>
          <a:xfrm>
            <a:off x="6263640" y="310896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9"/>
          <p:cNvSpPr txBox="1"/>
          <p:nvPr/>
        </p:nvSpPr>
        <p:spPr>
          <a:xfrm>
            <a:off x="6400800" y="3182112"/>
            <a:ext cx="14172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3E6897"/>
                </a:solidFill>
                <a:latin typeface="Arial"/>
                <a:ea typeface="Arial"/>
                <a:cs typeface="Arial"/>
                <a:sym typeface="Arial"/>
              </a:rPr>
              <a:t>2.</a:t>
            </a:r>
            <a:r>
              <a:rPr b="1" lang="en-US" sz="1000">
                <a:solidFill>
                  <a:srgbClr val="3E6897"/>
                </a:solidFill>
              </a:rPr>
              <a:t>rubble and </a:t>
            </a:r>
            <a:endParaRPr b="1" sz="1000">
              <a:solidFill>
                <a:srgbClr val="3E6897"/>
              </a:solidFill>
            </a:endParaRPr>
          </a:p>
          <a:p>
            <a:pPr indent="0" lvl="0" marL="0" marR="0" rtl="0" algn="l">
              <a:spcBef>
                <a:spcPts val="0"/>
              </a:spcBef>
              <a:spcAft>
                <a:spcPts val="0"/>
              </a:spcAft>
              <a:buNone/>
            </a:pPr>
            <a:r>
              <a:rPr b="1" lang="en-US" sz="1000">
                <a:solidFill>
                  <a:srgbClr val="3E6897"/>
                </a:solidFill>
              </a:rPr>
              <a:t>metal</a:t>
            </a:r>
            <a:endParaRPr b="1" sz="1000">
              <a:solidFill>
                <a:srgbClr val="3E6897"/>
              </a:solidFill>
            </a:endParaRPr>
          </a:p>
        </p:txBody>
      </p:sp>
      <p:sp>
        <p:nvSpPr>
          <p:cNvPr id="210" name="Google Shape;210;p19"/>
          <p:cNvSpPr txBox="1"/>
          <p:nvPr/>
        </p:nvSpPr>
        <p:spPr>
          <a:xfrm>
            <a:off x="7924596" y="3182112"/>
            <a:ext cx="3246000" cy="183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0" i="0" lang="en-US" sz="950" u="none" cap="none" strike="noStrike">
                <a:solidFill>
                  <a:srgbClr val="232B34"/>
                </a:solidFill>
                <a:latin typeface="Arial"/>
                <a:ea typeface="Arial"/>
                <a:cs typeface="Arial"/>
                <a:sym typeface="Arial"/>
              </a:rPr>
              <a:t>Deliver shielding mass to L4</a:t>
            </a:r>
            <a:r>
              <a:rPr lang="en-US" sz="950">
                <a:solidFill>
                  <a:srgbClr val="232B34"/>
                </a:solidFill>
              </a:rPr>
              <a:t>; provide hull building material</a:t>
            </a:r>
            <a:endParaRPr sz="950">
              <a:solidFill>
                <a:srgbClr val="232B34"/>
              </a:solidFill>
            </a:endParaRPr>
          </a:p>
        </p:txBody>
      </p:sp>
      <p:sp>
        <p:nvSpPr>
          <p:cNvPr id="211" name="Google Shape;211;p19"/>
          <p:cNvSpPr/>
          <p:nvPr/>
        </p:nvSpPr>
        <p:spPr>
          <a:xfrm>
            <a:off x="6263640" y="3886225"/>
            <a:ext cx="5029200" cy="59430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19"/>
          <p:cNvSpPr txBox="1"/>
          <p:nvPr/>
        </p:nvSpPr>
        <p:spPr>
          <a:xfrm>
            <a:off x="6380548" y="3999724"/>
            <a:ext cx="27327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3E6897"/>
                </a:solidFill>
                <a:latin typeface="Arial"/>
                <a:ea typeface="Arial"/>
                <a:cs typeface="Arial"/>
                <a:sym typeface="Arial"/>
              </a:rPr>
              <a:t>3. </a:t>
            </a:r>
            <a:r>
              <a:rPr b="1" lang="en-US" sz="1000">
                <a:solidFill>
                  <a:srgbClr val="3E6897"/>
                </a:solidFill>
              </a:rPr>
              <a:t>volatiles</a:t>
            </a:r>
            <a:r>
              <a:rPr b="1" lang="en-US" sz="1000">
                <a:solidFill>
                  <a:srgbClr val="3E6897"/>
                </a:solidFill>
              </a:rPr>
              <a:t> and </a:t>
            </a:r>
            <a:endParaRPr b="1" sz="1000">
              <a:solidFill>
                <a:srgbClr val="3E6897"/>
              </a:solidFill>
            </a:endParaRPr>
          </a:p>
          <a:p>
            <a:pPr indent="0" lvl="0" marL="0" marR="0" rtl="0" algn="l">
              <a:spcBef>
                <a:spcPts val="0"/>
              </a:spcBef>
              <a:spcAft>
                <a:spcPts val="0"/>
              </a:spcAft>
              <a:buNone/>
            </a:pPr>
            <a:r>
              <a:rPr b="1" lang="en-US" sz="1000">
                <a:solidFill>
                  <a:srgbClr val="3E6897"/>
                </a:solidFill>
              </a:rPr>
              <a:t>propellant</a:t>
            </a:r>
            <a:endParaRPr b="1" sz="1000">
              <a:solidFill>
                <a:srgbClr val="3E6897"/>
              </a:solidFill>
            </a:endParaRPr>
          </a:p>
        </p:txBody>
      </p:sp>
      <p:sp>
        <p:nvSpPr>
          <p:cNvPr id="213" name="Google Shape;213;p19"/>
          <p:cNvSpPr txBox="1"/>
          <p:nvPr/>
        </p:nvSpPr>
        <p:spPr>
          <a:xfrm>
            <a:off x="7863840" y="3959352"/>
            <a:ext cx="3246000" cy="475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solidFill>
                  <a:srgbClr val="232B34"/>
                </a:solidFill>
              </a:rPr>
              <a:t>start selling water as propellant; provide habitat with volatiles like carbon, hydrogen, oxygen, nitrogen from c-type asteroids</a:t>
            </a:r>
            <a:endParaRPr/>
          </a:p>
        </p:txBody>
      </p:sp>
      <p:sp>
        <p:nvSpPr>
          <p:cNvPr id="214" name="Google Shape;214;p19"/>
          <p:cNvSpPr/>
          <p:nvPr/>
        </p:nvSpPr>
        <p:spPr>
          <a:xfrm>
            <a:off x="6263640" y="4663440"/>
            <a:ext cx="5029200" cy="594360"/>
          </a:xfrm>
          <a:prstGeom prst="rect">
            <a:avLst/>
          </a:prstGeom>
          <a:solidFill>
            <a:srgbClr val="F8FAFC"/>
          </a:solidFill>
          <a:ln cap="flat" cmpd="sng" w="10150">
            <a:solidFill>
              <a:srgbClr val="CDD8E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9"/>
          <p:cNvSpPr txBox="1"/>
          <p:nvPr/>
        </p:nvSpPr>
        <p:spPr>
          <a:xfrm>
            <a:off x="6400800" y="4736592"/>
            <a:ext cx="1417200" cy="3447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000" u="none" cap="none" strike="noStrike">
                <a:solidFill>
                  <a:srgbClr val="3E6897"/>
                </a:solidFill>
                <a:latin typeface="Arial"/>
                <a:ea typeface="Arial"/>
                <a:cs typeface="Arial"/>
                <a:sym typeface="Arial"/>
              </a:rPr>
              <a:t>4.</a:t>
            </a:r>
            <a:r>
              <a:rPr b="1" lang="en-US" sz="1000">
                <a:solidFill>
                  <a:srgbClr val="3E6897"/>
                </a:solidFill>
              </a:rPr>
              <a:t>expand </a:t>
            </a:r>
            <a:r>
              <a:rPr b="1" lang="en-US" sz="1000">
                <a:solidFill>
                  <a:srgbClr val="3E6897"/>
                </a:solidFill>
              </a:rPr>
              <a:t>the operations</a:t>
            </a:r>
            <a:endParaRPr/>
          </a:p>
        </p:txBody>
      </p:sp>
      <p:sp>
        <p:nvSpPr>
          <p:cNvPr id="216" name="Google Shape;216;p19"/>
          <p:cNvSpPr txBox="1"/>
          <p:nvPr/>
        </p:nvSpPr>
        <p:spPr>
          <a:xfrm>
            <a:off x="7863840" y="4736592"/>
            <a:ext cx="3246000" cy="4755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950"/>
              <a:t>start mining in  </a:t>
            </a:r>
            <a:r>
              <a:rPr lang="en-US" sz="950"/>
              <a:t>asteroid</a:t>
            </a:r>
            <a:r>
              <a:rPr lang="en-US" sz="950"/>
              <a:t> belt as the demand increases, start supplying to the ship building and other industries at L4 and beyond  </a:t>
            </a:r>
            <a:endParaRPr sz="950"/>
          </a:p>
        </p:txBody>
      </p:sp>
      <p:sp>
        <p:nvSpPr>
          <p:cNvPr id="217" name="Google Shape;217;p19"/>
          <p:cNvSpPr txBox="1"/>
          <p:nvPr/>
        </p:nvSpPr>
        <p:spPr>
          <a:xfrm>
            <a:off x="685800" y="5806440"/>
            <a:ext cx="10698600" cy="1908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000">
                <a:solidFill>
                  <a:srgbClr val="626E7A"/>
                </a:solidFill>
              </a:rPr>
              <a:t>note: </a:t>
            </a:r>
            <a:r>
              <a:rPr b="0" i="0" lang="en-US" sz="1000" u="none" cap="none" strike="noStrike">
                <a:solidFill>
                  <a:srgbClr val="626E7A"/>
                </a:solidFill>
                <a:latin typeface="Arial"/>
                <a:ea typeface="Arial"/>
                <a:cs typeface="Arial"/>
                <a:sym typeface="Arial"/>
              </a:rPr>
              <a:t>Han's </a:t>
            </a:r>
            <a:r>
              <a:rPr lang="en-US" sz="1000">
                <a:solidFill>
                  <a:srgbClr val="626E7A"/>
                </a:solidFill>
              </a:rPr>
              <a:t>equity in the company and other </a:t>
            </a:r>
            <a:r>
              <a:rPr b="0" i="0" lang="en-US" sz="1000" u="none" cap="none" strike="noStrike">
                <a:solidFill>
                  <a:srgbClr val="626E7A"/>
                </a:solidFill>
                <a:latin typeface="Arial"/>
                <a:ea typeface="Arial"/>
                <a:cs typeface="Arial"/>
                <a:sym typeface="Arial"/>
              </a:rPr>
              <a:t>terms still to be agreed.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20"/>
          <p:cNvSpPr txBox="1"/>
          <p:nvPr/>
        </p:nvSpPr>
        <p:spPr>
          <a:xfrm>
            <a:off x="777240" y="777240"/>
            <a:ext cx="4572000" cy="27432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1100" u="none" cap="none" strike="noStrike">
                <a:solidFill>
                  <a:srgbClr val="3E6897"/>
                </a:solidFill>
                <a:latin typeface="Arial"/>
                <a:ea typeface="Arial"/>
                <a:cs typeface="Arial"/>
                <a:sym typeface="Arial"/>
              </a:rPr>
              <a:t>AKS-3  |  STAC WARS • PS 4</a:t>
            </a:r>
            <a:endParaRPr/>
          </a:p>
        </p:txBody>
      </p:sp>
      <p:sp>
        <p:nvSpPr>
          <p:cNvPr id="223" name="Google Shape;223;p20"/>
          <p:cNvSpPr txBox="1"/>
          <p:nvPr/>
        </p:nvSpPr>
        <p:spPr>
          <a:xfrm>
            <a:off x="777240" y="1828800"/>
            <a:ext cx="6858000" cy="77724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i="0" lang="en-US" sz="3400" u="none" cap="none" strike="noStrike">
                <a:solidFill>
                  <a:srgbClr val="1F3752"/>
                </a:solidFill>
                <a:latin typeface="Arial"/>
                <a:ea typeface="Arial"/>
                <a:cs typeface="Arial"/>
                <a:sym typeface="Arial"/>
              </a:rPr>
              <a:t>Thank you</a:t>
            </a:r>
            <a:endParaRPr/>
          </a:p>
        </p:txBody>
      </p:sp>
      <p:sp>
        <p:nvSpPr>
          <p:cNvPr id="224" name="Google Shape;224;p20"/>
          <p:cNvSpPr txBox="1"/>
          <p:nvPr/>
        </p:nvSpPr>
        <p:spPr>
          <a:xfrm>
            <a:off x="804672" y="2743200"/>
            <a:ext cx="8961000" cy="3294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b="1" lang="en-US" sz="1900">
                <a:solidFill>
                  <a:srgbClr val="3E6897"/>
                </a:solidFill>
              </a:rPr>
              <a:t>May the code be with you…</a:t>
            </a:r>
            <a:endParaRPr/>
          </a:p>
        </p:txBody>
      </p:sp>
      <p:sp>
        <p:nvSpPr>
          <p:cNvPr id="225" name="Google Shape;225;p20"/>
          <p:cNvSpPr/>
          <p:nvPr/>
        </p:nvSpPr>
        <p:spPr>
          <a:xfrm>
            <a:off x="804672" y="3520440"/>
            <a:ext cx="731520" cy="36576"/>
          </a:xfrm>
          <a:prstGeom prst="rect">
            <a:avLst/>
          </a:prstGeom>
          <a:solidFill>
            <a:srgbClr val="3E6897"/>
          </a:solidFill>
          <a:ln cap="flat" cmpd="sng" w="10150">
            <a:solidFill>
              <a:srgbClr val="3E689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20"/>
          <p:cNvSpPr txBox="1"/>
          <p:nvPr/>
        </p:nvSpPr>
        <p:spPr>
          <a:xfrm>
            <a:off x="804672" y="3886200"/>
            <a:ext cx="8046600" cy="237000"/>
          </a:xfrm>
          <a:prstGeom prst="rect">
            <a:avLst/>
          </a:prstGeom>
          <a:noFill/>
          <a:ln>
            <a:noFill/>
          </a:ln>
        </p:spPr>
        <p:txBody>
          <a:bodyPr anchorCtr="0" anchor="t" bIns="18275" lIns="36575" spcFirstLastPara="1" rIns="36575" wrap="square" tIns="18275">
            <a:spAutoFit/>
          </a:bodyPr>
          <a:lstStyle/>
          <a:p>
            <a:pPr indent="0" lvl="0" marL="0" marR="0" rtl="0" algn="l">
              <a:spcBef>
                <a:spcPts val="0"/>
              </a:spcBef>
              <a:spcAft>
                <a:spcPts val="0"/>
              </a:spcAft>
              <a:buNone/>
            </a:pPr>
            <a:r>
              <a:rPr lang="en-US" sz="1300">
                <a:solidFill>
                  <a:srgbClr val="626E7A"/>
                </a:solidFill>
              </a:rPr>
              <a:t>no propellant launch|</a:t>
            </a:r>
            <a:r>
              <a:rPr b="0" i="0" lang="en-US" sz="1300" u="none" cap="none" strike="noStrike">
                <a:solidFill>
                  <a:srgbClr val="626E7A"/>
                </a:solidFill>
                <a:latin typeface="Arial"/>
                <a:ea typeface="Arial"/>
                <a:cs typeface="Arial"/>
                <a:sym typeface="Arial"/>
              </a:rPr>
              <a:t> long-term demand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