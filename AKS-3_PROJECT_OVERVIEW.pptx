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1675"/>
  <p:notesSz cx="6858000" cy="9144000"/>
  <p:embeddedFontLst>
    <p:embeddedFont>
      <p:font typeface="Proxima Nova"/>
      <p:regular r:id="rId24"/>
      <p:bold r:id="rId25"/>
      <p:italic r:id="rId26"/>
      <p:boldItalic r:id="rId27"/>
    </p:embeddedFont>
    <p:embeddedFont>
      <p:font typeface="Average"/>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hBj2osMpWZrobagADe9nX3uSid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roximaNova-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italic.fntdata"/><Relationship Id="rId25" Type="http://schemas.openxmlformats.org/officeDocument/2006/relationships/font" Target="fonts/ProximaNova-bold.fntdata"/><Relationship Id="rId28" Type="http://schemas.openxmlformats.org/officeDocument/2006/relationships/font" Target="fonts/Average-regular.fntdata"/><Relationship Id="rId27"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708fe01af75ac3ab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708fe01af75ac3ab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708fe01af75ac3ab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708fe01af75ac3a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708fe01af75ac3ab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h708fe01af75ac3a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h708fe01af75ac3ab_0_54"/>
          <p:cNvCxnSpPr/>
          <p:nvPr/>
        </p:nvCxnSpPr>
        <p:spPr>
          <a:xfrm>
            <a:off x="0" y="3997533"/>
            <a:ext cx="12191700" cy="0"/>
          </a:xfrm>
          <a:prstGeom prst="straightConnector1">
            <a:avLst/>
          </a:prstGeom>
          <a:noFill/>
          <a:ln cap="flat" cmpd="sng" w="25400">
            <a:solidFill>
              <a:schemeClr val="lt2"/>
            </a:solidFill>
            <a:prstDash val="solid"/>
            <a:round/>
            <a:headEnd len="sm" w="sm" type="none"/>
            <a:tailEnd len="sm" w="sm" type="none"/>
          </a:ln>
        </p:spPr>
      </p:cxnSp>
      <p:sp>
        <p:nvSpPr>
          <p:cNvPr id="11" name="Google Shape;11;h708fe01af75ac3ab_0_54"/>
          <p:cNvSpPr txBox="1"/>
          <p:nvPr>
            <p:ph type="ctrTitle"/>
          </p:nvPr>
        </p:nvSpPr>
        <p:spPr>
          <a:xfrm>
            <a:off x="680582" y="1676400"/>
            <a:ext cx="10830600" cy="21180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12" name="Google Shape;12;h708fe01af75ac3ab_0_54"/>
          <p:cNvSpPr txBox="1"/>
          <p:nvPr>
            <p:ph idx="1" type="subTitle"/>
          </p:nvPr>
        </p:nvSpPr>
        <p:spPr>
          <a:xfrm>
            <a:off x="680582" y="4243083"/>
            <a:ext cx="10830600" cy="8400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1"/>
              </a:buClr>
              <a:buSzPts val="3200"/>
              <a:buNone/>
              <a:defRPr sz="3200">
                <a:solidFill>
                  <a:schemeClr val="lt1"/>
                </a:solidFill>
              </a:defRPr>
            </a:lvl1pPr>
            <a:lvl2pPr lvl="1">
              <a:lnSpc>
                <a:spcPct val="100000"/>
              </a:lnSpc>
              <a:spcBef>
                <a:spcPts val="0"/>
              </a:spcBef>
              <a:spcAft>
                <a:spcPts val="0"/>
              </a:spcAft>
              <a:buClr>
                <a:schemeClr val="lt1"/>
              </a:buClr>
              <a:buSzPts val="3200"/>
              <a:buNone/>
              <a:defRPr sz="3200">
                <a:solidFill>
                  <a:schemeClr val="lt1"/>
                </a:solidFill>
              </a:defRPr>
            </a:lvl2pPr>
            <a:lvl3pPr lvl="2">
              <a:lnSpc>
                <a:spcPct val="100000"/>
              </a:lnSpc>
              <a:spcBef>
                <a:spcPts val="0"/>
              </a:spcBef>
              <a:spcAft>
                <a:spcPts val="0"/>
              </a:spcAft>
              <a:buClr>
                <a:schemeClr val="lt1"/>
              </a:buClr>
              <a:buSzPts val="3200"/>
              <a:buNone/>
              <a:defRPr sz="3200">
                <a:solidFill>
                  <a:schemeClr val="lt1"/>
                </a:solidFill>
              </a:defRPr>
            </a:lvl3pPr>
            <a:lvl4pPr lvl="3">
              <a:lnSpc>
                <a:spcPct val="100000"/>
              </a:lnSpc>
              <a:spcBef>
                <a:spcPts val="0"/>
              </a:spcBef>
              <a:spcAft>
                <a:spcPts val="0"/>
              </a:spcAft>
              <a:buClr>
                <a:schemeClr val="lt1"/>
              </a:buClr>
              <a:buSzPts val="3200"/>
              <a:buNone/>
              <a:defRPr sz="3200">
                <a:solidFill>
                  <a:schemeClr val="lt1"/>
                </a:solidFill>
              </a:defRPr>
            </a:lvl4pPr>
            <a:lvl5pPr lvl="4">
              <a:lnSpc>
                <a:spcPct val="100000"/>
              </a:lnSpc>
              <a:spcBef>
                <a:spcPts val="0"/>
              </a:spcBef>
              <a:spcAft>
                <a:spcPts val="0"/>
              </a:spcAft>
              <a:buClr>
                <a:schemeClr val="lt1"/>
              </a:buClr>
              <a:buSzPts val="3200"/>
              <a:buNone/>
              <a:defRPr sz="3200">
                <a:solidFill>
                  <a:schemeClr val="lt1"/>
                </a:solidFill>
              </a:defRPr>
            </a:lvl5pPr>
            <a:lvl6pPr lvl="5">
              <a:lnSpc>
                <a:spcPct val="100000"/>
              </a:lnSpc>
              <a:spcBef>
                <a:spcPts val="0"/>
              </a:spcBef>
              <a:spcAft>
                <a:spcPts val="0"/>
              </a:spcAft>
              <a:buClr>
                <a:schemeClr val="lt1"/>
              </a:buClr>
              <a:buSzPts val="3200"/>
              <a:buNone/>
              <a:defRPr sz="3200">
                <a:solidFill>
                  <a:schemeClr val="lt1"/>
                </a:solidFill>
              </a:defRPr>
            </a:lvl6pPr>
            <a:lvl7pPr lvl="6">
              <a:lnSpc>
                <a:spcPct val="100000"/>
              </a:lnSpc>
              <a:spcBef>
                <a:spcPts val="0"/>
              </a:spcBef>
              <a:spcAft>
                <a:spcPts val="0"/>
              </a:spcAft>
              <a:buClr>
                <a:schemeClr val="lt1"/>
              </a:buClr>
              <a:buSzPts val="3200"/>
              <a:buNone/>
              <a:defRPr sz="3200">
                <a:solidFill>
                  <a:schemeClr val="lt1"/>
                </a:solidFill>
              </a:defRPr>
            </a:lvl7pPr>
            <a:lvl8pPr lvl="7">
              <a:lnSpc>
                <a:spcPct val="100000"/>
              </a:lnSpc>
              <a:spcBef>
                <a:spcPts val="0"/>
              </a:spcBef>
              <a:spcAft>
                <a:spcPts val="0"/>
              </a:spcAft>
              <a:buClr>
                <a:schemeClr val="lt1"/>
              </a:buClr>
              <a:buSzPts val="3200"/>
              <a:buNone/>
              <a:defRPr sz="3200">
                <a:solidFill>
                  <a:schemeClr val="lt1"/>
                </a:solidFill>
              </a:defRPr>
            </a:lvl8pPr>
            <a:lvl9pPr lvl="8">
              <a:lnSpc>
                <a:spcPct val="100000"/>
              </a:lnSpc>
              <a:spcBef>
                <a:spcPts val="0"/>
              </a:spcBef>
              <a:spcAft>
                <a:spcPts val="0"/>
              </a:spcAft>
              <a:buClr>
                <a:schemeClr val="lt1"/>
              </a:buClr>
              <a:buSzPts val="3200"/>
              <a:buNone/>
              <a:defRPr sz="3200">
                <a:solidFill>
                  <a:schemeClr val="lt1"/>
                </a:solidFill>
              </a:defRPr>
            </a:lvl9pPr>
          </a:lstStyle>
          <a:p/>
        </p:txBody>
      </p:sp>
      <p:sp>
        <p:nvSpPr>
          <p:cNvPr id="13" name="Google Shape;13;h708fe01af75ac3ab_0_54"/>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h708fe01af75ac3ab_0_59"/>
          <p:cNvCxnSpPr/>
          <p:nvPr/>
        </p:nvCxnSpPr>
        <p:spPr>
          <a:xfrm>
            <a:off x="0" y="3997533"/>
            <a:ext cx="12191700" cy="0"/>
          </a:xfrm>
          <a:prstGeom prst="straightConnector1">
            <a:avLst/>
          </a:prstGeom>
          <a:noFill/>
          <a:ln cap="flat" cmpd="sng" w="25400">
            <a:solidFill>
              <a:schemeClr val="lt2"/>
            </a:solidFill>
            <a:prstDash val="solid"/>
            <a:round/>
            <a:headEnd len="sm" w="sm" type="none"/>
            <a:tailEnd len="sm" w="sm" type="none"/>
          </a:ln>
        </p:spPr>
      </p:cxnSp>
      <p:sp>
        <p:nvSpPr>
          <p:cNvPr id="16" name="Google Shape;16;h708fe01af75ac3ab_0_59"/>
          <p:cNvSpPr txBox="1"/>
          <p:nvPr>
            <p:ph type="title"/>
          </p:nvPr>
        </p:nvSpPr>
        <p:spPr>
          <a:xfrm>
            <a:off x="680582" y="2743200"/>
            <a:ext cx="10830600" cy="10383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7" name="Google Shape;17;h708fe01af75ac3ab_0_59"/>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h708fe01af75ac3ab_0_63"/>
          <p:cNvSpPr/>
          <p:nvPr/>
        </p:nvSpPr>
        <p:spPr>
          <a:xfrm>
            <a:off x="0" y="6727600"/>
            <a:ext cx="121917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 name="Google Shape;20;h708fe01af75ac3ab_0_63"/>
          <p:cNvSpPr txBox="1"/>
          <p:nvPr>
            <p:ph type="title"/>
          </p:nvPr>
        </p:nvSpPr>
        <p:spPr>
          <a:xfrm>
            <a:off x="415589" y="593367"/>
            <a:ext cx="113604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1" name="Google Shape;21;h708fe01af75ac3ab_0_63"/>
          <p:cNvSpPr txBox="1"/>
          <p:nvPr>
            <p:ph idx="1" type="body"/>
          </p:nvPr>
        </p:nvSpPr>
        <p:spPr>
          <a:xfrm>
            <a:off x="415589" y="1536633"/>
            <a:ext cx="113604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2" name="Google Shape;22;h708fe01af75ac3ab_0_63"/>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h708fe01af75ac3ab_0_68"/>
          <p:cNvSpPr txBox="1"/>
          <p:nvPr>
            <p:ph type="title"/>
          </p:nvPr>
        </p:nvSpPr>
        <p:spPr>
          <a:xfrm>
            <a:off x="415589" y="593367"/>
            <a:ext cx="113604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5" name="Google Shape;25;h708fe01af75ac3ab_0_68"/>
          <p:cNvSpPr txBox="1"/>
          <p:nvPr>
            <p:ph idx="1" type="body"/>
          </p:nvPr>
        </p:nvSpPr>
        <p:spPr>
          <a:xfrm>
            <a:off x="415589"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6" name="Google Shape;26;h708fe01af75ac3ab_0_68"/>
          <p:cNvSpPr txBox="1"/>
          <p:nvPr>
            <p:ph idx="2" type="body"/>
          </p:nvPr>
        </p:nvSpPr>
        <p:spPr>
          <a:xfrm>
            <a:off x="6443028"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h708fe01af75ac3ab_0_68"/>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h708fe01af75ac3ab_0_73"/>
          <p:cNvSpPr txBox="1"/>
          <p:nvPr>
            <p:ph type="title"/>
          </p:nvPr>
        </p:nvSpPr>
        <p:spPr>
          <a:xfrm>
            <a:off x="415589" y="593367"/>
            <a:ext cx="113604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0" name="Google Shape;30;h708fe01af75ac3ab_0_73"/>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h708fe01af75ac3ab_0_76"/>
          <p:cNvSpPr txBox="1"/>
          <p:nvPr>
            <p:ph type="title"/>
          </p:nvPr>
        </p:nvSpPr>
        <p:spPr>
          <a:xfrm>
            <a:off x="415589"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3" name="Google Shape;33;h708fe01af75ac3ab_0_76"/>
          <p:cNvSpPr txBox="1"/>
          <p:nvPr>
            <p:ph idx="1" type="body"/>
          </p:nvPr>
        </p:nvSpPr>
        <p:spPr>
          <a:xfrm>
            <a:off x="415589"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4" name="Google Shape;34;h708fe01af75ac3ab_0_76"/>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h708fe01af75ac3ab_0_80"/>
          <p:cNvSpPr txBox="1"/>
          <p:nvPr>
            <p:ph type="title"/>
          </p:nvPr>
        </p:nvSpPr>
        <p:spPr>
          <a:xfrm>
            <a:off x="653649" y="701800"/>
            <a:ext cx="77298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7" name="Google Shape;37;h708fe01af75ac3ab_0_80"/>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h708fe01af75ac3ab_0_83"/>
          <p:cNvSpPr/>
          <p:nvPr/>
        </p:nvSpPr>
        <p:spPr>
          <a:xfrm>
            <a:off x="6095838" y="100"/>
            <a:ext cx="60957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0" name="Google Shape;40;h708fe01af75ac3ab_0_83"/>
          <p:cNvCxnSpPr/>
          <p:nvPr/>
        </p:nvCxnSpPr>
        <p:spPr>
          <a:xfrm>
            <a:off x="6706055" y="5994000"/>
            <a:ext cx="624300" cy="0"/>
          </a:xfrm>
          <a:prstGeom prst="straightConnector1">
            <a:avLst/>
          </a:prstGeom>
          <a:noFill/>
          <a:ln cap="flat" cmpd="sng" w="25400">
            <a:solidFill>
              <a:schemeClr val="lt2"/>
            </a:solidFill>
            <a:prstDash val="solid"/>
            <a:round/>
            <a:headEnd len="sm" w="sm" type="none"/>
            <a:tailEnd len="sm" w="sm" type="none"/>
          </a:ln>
        </p:spPr>
      </p:cxnSp>
      <p:sp>
        <p:nvSpPr>
          <p:cNvPr id="41" name="Google Shape;41;h708fe01af75ac3ab_0_83"/>
          <p:cNvSpPr txBox="1"/>
          <p:nvPr>
            <p:ph type="title"/>
          </p:nvPr>
        </p:nvSpPr>
        <p:spPr>
          <a:xfrm>
            <a:off x="353991" y="1607767"/>
            <a:ext cx="5393400" cy="20127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2" name="Google Shape;42;h708fe01af75ac3ab_0_83"/>
          <p:cNvSpPr txBox="1"/>
          <p:nvPr>
            <p:ph idx="1" type="subTitle"/>
          </p:nvPr>
        </p:nvSpPr>
        <p:spPr>
          <a:xfrm>
            <a:off x="353991" y="3692001"/>
            <a:ext cx="5393400" cy="1794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h708fe01af75ac3ab_0_83"/>
          <p:cNvSpPr txBox="1"/>
          <p:nvPr>
            <p:ph idx="2" type="body"/>
          </p:nvPr>
        </p:nvSpPr>
        <p:spPr>
          <a:xfrm>
            <a:off x="6585824"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44" name="Google Shape;44;h708fe01af75ac3ab_0_83"/>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h708fe01af75ac3ab_0_90"/>
          <p:cNvSpPr txBox="1"/>
          <p:nvPr>
            <p:ph idx="1" type="body"/>
          </p:nvPr>
        </p:nvSpPr>
        <p:spPr>
          <a:xfrm>
            <a:off x="415589" y="5649100"/>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800"/>
              <a:buNone/>
              <a:defRPr sz="2800"/>
            </a:lvl1pPr>
          </a:lstStyle>
          <a:p/>
        </p:txBody>
      </p:sp>
      <p:sp>
        <p:nvSpPr>
          <p:cNvPr id="47" name="Google Shape;47;h708fe01af75ac3ab_0_90"/>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h708fe01af75ac3ab_0_93"/>
          <p:cNvSpPr/>
          <p:nvPr/>
        </p:nvSpPr>
        <p:spPr>
          <a:xfrm>
            <a:off x="0" y="6727600"/>
            <a:ext cx="121917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 name="Google Shape;50;h708fe01af75ac3ab_0_93"/>
          <p:cNvSpPr txBox="1"/>
          <p:nvPr>
            <p:ph hasCustomPrompt="1" type="title"/>
          </p:nvPr>
        </p:nvSpPr>
        <p:spPr>
          <a:xfrm>
            <a:off x="415589" y="1321967"/>
            <a:ext cx="11360400" cy="25572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18700"/>
              <a:buNone/>
              <a:defRPr b="1" sz="18700"/>
            </a:lvl1pPr>
            <a:lvl2pPr lvl="1" algn="ctr">
              <a:spcBef>
                <a:spcPts val="0"/>
              </a:spcBef>
              <a:spcAft>
                <a:spcPts val="0"/>
              </a:spcAft>
              <a:buSzPts val="18700"/>
              <a:buNone/>
              <a:defRPr b="1" sz="18700"/>
            </a:lvl2pPr>
            <a:lvl3pPr lvl="2" algn="ctr">
              <a:spcBef>
                <a:spcPts val="0"/>
              </a:spcBef>
              <a:spcAft>
                <a:spcPts val="0"/>
              </a:spcAft>
              <a:buSzPts val="18700"/>
              <a:buNone/>
              <a:defRPr b="1" sz="18700"/>
            </a:lvl3pPr>
            <a:lvl4pPr lvl="3" algn="ctr">
              <a:spcBef>
                <a:spcPts val="0"/>
              </a:spcBef>
              <a:spcAft>
                <a:spcPts val="0"/>
              </a:spcAft>
              <a:buSzPts val="18700"/>
              <a:buNone/>
              <a:defRPr b="1" sz="18700"/>
            </a:lvl4pPr>
            <a:lvl5pPr lvl="4" algn="ctr">
              <a:spcBef>
                <a:spcPts val="0"/>
              </a:spcBef>
              <a:spcAft>
                <a:spcPts val="0"/>
              </a:spcAft>
              <a:buSzPts val="18700"/>
              <a:buNone/>
              <a:defRPr b="1" sz="18700"/>
            </a:lvl5pPr>
            <a:lvl6pPr lvl="5" algn="ctr">
              <a:spcBef>
                <a:spcPts val="0"/>
              </a:spcBef>
              <a:spcAft>
                <a:spcPts val="0"/>
              </a:spcAft>
              <a:buSzPts val="18700"/>
              <a:buNone/>
              <a:defRPr b="1" sz="18700"/>
            </a:lvl6pPr>
            <a:lvl7pPr lvl="6" algn="ctr">
              <a:spcBef>
                <a:spcPts val="0"/>
              </a:spcBef>
              <a:spcAft>
                <a:spcPts val="0"/>
              </a:spcAft>
              <a:buSzPts val="18700"/>
              <a:buNone/>
              <a:defRPr b="1" sz="18700"/>
            </a:lvl7pPr>
            <a:lvl8pPr lvl="7" algn="ctr">
              <a:spcBef>
                <a:spcPts val="0"/>
              </a:spcBef>
              <a:spcAft>
                <a:spcPts val="0"/>
              </a:spcAft>
              <a:buSzPts val="18700"/>
              <a:buNone/>
              <a:defRPr b="1" sz="18700"/>
            </a:lvl8pPr>
            <a:lvl9pPr lvl="8" algn="ctr">
              <a:spcBef>
                <a:spcPts val="0"/>
              </a:spcBef>
              <a:spcAft>
                <a:spcPts val="0"/>
              </a:spcAft>
              <a:buSzPts val="18700"/>
              <a:buNone/>
              <a:defRPr b="1" sz="18700"/>
            </a:lvl9pPr>
          </a:lstStyle>
          <a:p>
            <a:r>
              <a:t>xx%</a:t>
            </a:r>
          </a:p>
        </p:txBody>
      </p:sp>
      <p:sp>
        <p:nvSpPr>
          <p:cNvPr id="51" name="Google Shape;51;h708fe01af75ac3ab_0_93"/>
          <p:cNvSpPr txBox="1"/>
          <p:nvPr>
            <p:ph idx="1" type="body"/>
          </p:nvPr>
        </p:nvSpPr>
        <p:spPr>
          <a:xfrm>
            <a:off x="415589" y="4095067"/>
            <a:ext cx="11360400" cy="12024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2" name="Google Shape;52;h708fe01af75ac3ab_0_93"/>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h708fe01af75ac3ab_0_98"/>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h708fe01af75ac3ab_0_50"/>
          <p:cNvSpPr txBox="1"/>
          <p:nvPr>
            <p:ph type="title"/>
          </p:nvPr>
        </p:nvSpPr>
        <p:spPr>
          <a:xfrm>
            <a:off x="415589" y="593367"/>
            <a:ext cx="113604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3700"/>
              <a:buFont typeface="Proxima Nova"/>
              <a:buNone/>
              <a:defRPr sz="3700">
                <a:solidFill>
                  <a:schemeClr val="dk1"/>
                </a:solidFill>
                <a:latin typeface="Proxima Nova"/>
                <a:ea typeface="Proxima Nova"/>
                <a:cs typeface="Proxima Nova"/>
                <a:sym typeface="Proxima Nova"/>
              </a:defRPr>
            </a:lvl9pPr>
          </a:lstStyle>
          <a:p/>
        </p:txBody>
      </p:sp>
      <p:sp>
        <p:nvSpPr>
          <p:cNvPr id="7" name="Google Shape;7;h708fe01af75ac3ab_0_50"/>
          <p:cNvSpPr txBox="1"/>
          <p:nvPr>
            <p:ph idx="1" type="body"/>
          </p:nvPr>
        </p:nvSpPr>
        <p:spPr>
          <a:xfrm>
            <a:off x="415589" y="1536633"/>
            <a:ext cx="113604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accent3"/>
              </a:buClr>
              <a:buSzPts val="2400"/>
              <a:buFont typeface="Proxima Nova"/>
              <a:buChar char="●"/>
              <a:defRPr sz="2400">
                <a:solidFill>
                  <a:schemeClr val="accent3"/>
                </a:solidFill>
                <a:latin typeface="Proxima Nova"/>
                <a:ea typeface="Proxima Nova"/>
                <a:cs typeface="Proxima Nova"/>
                <a:sym typeface="Proxima Nova"/>
              </a:defRPr>
            </a:lvl1pPr>
            <a:lvl2pPr indent="-349250" lvl="1" marL="9144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2pPr>
            <a:lvl3pPr indent="-349250" lvl="2" marL="13716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3pPr>
            <a:lvl4pPr indent="-349250" lvl="3" marL="18288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4pPr>
            <a:lvl5pPr indent="-349250" lvl="4" marL="22860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5pPr>
            <a:lvl6pPr indent="-349250" lvl="5" marL="27432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6pPr>
            <a:lvl7pPr indent="-349250" lvl="6" marL="32004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7pPr>
            <a:lvl8pPr indent="-349250" lvl="7" marL="36576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8pPr>
            <a:lvl9pPr indent="-349250" lvl="8" marL="4114800">
              <a:lnSpc>
                <a:spcPct val="115000"/>
              </a:lnSpc>
              <a:spcBef>
                <a:spcPts val="0"/>
              </a:spcBef>
              <a:spcAft>
                <a:spcPts val="0"/>
              </a:spcAft>
              <a:buClr>
                <a:schemeClr val="accent3"/>
              </a:buClr>
              <a:buSzPts val="1900"/>
              <a:buFont typeface="Proxima Nova"/>
              <a:buChar char="■"/>
              <a:defRPr sz="1900">
                <a:solidFill>
                  <a:schemeClr val="accent3"/>
                </a:solidFill>
                <a:latin typeface="Proxima Nova"/>
                <a:ea typeface="Proxima Nova"/>
                <a:cs typeface="Proxima Nova"/>
                <a:sym typeface="Proxima Nova"/>
              </a:defRPr>
            </a:lvl9pPr>
          </a:lstStyle>
          <a:p/>
        </p:txBody>
      </p:sp>
      <p:sp>
        <p:nvSpPr>
          <p:cNvPr id="8" name="Google Shape;8;h708fe01af75ac3ab_0_50"/>
          <p:cNvSpPr txBox="1"/>
          <p:nvPr>
            <p:ph idx="12" type="sldNum"/>
          </p:nvPr>
        </p:nvSpPr>
        <p:spPr>
          <a:xfrm>
            <a:off x="11296309"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1"/>
                </a:solidFill>
                <a:latin typeface="Proxima Nova"/>
                <a:ea typeface="Proxima Nova"/>
                <a:cs typeface="Proxima Nova"/>
                <a:sym typeface="Proxima Nova"/>
              </a:defRPr>
            </a:lvl1pPr>
            <a:lvl2pPr lvl="1" algn="r">
              <a:buNone/>
              <a:defRPr sz="1300">
                <a:solidFill>
                  <a:schemeClr val="dk1"/>
                </a:solidFill>
                <a:latin typeface="Proxima Nova"/>
                <a:ea typeface="Proxima Nova"/>
                <a:cs typeface="Proxima Nova"/>
                <a:sym typeface="Proxima Nova"/>
              </a:defRPr>
            </a:lvl2pPr>
            <a:lvl3pPr lvl="2" algn="r">
              <a:buNone/>
              <a:defRPr sz="1300">
                <a:solidFill>
                  <a:schemeClr val="dk1"/>
                </a:solidFill>
                <a:latin typeface="Proxima Nova"/>
                <a:ea typeface="Proxima Nova"/>
                <a:cs typeface="Proxima Nova"/>
                <a:sym typeface="Proxima Nova"/>
              </a:defRPr>
            </a:lvl3pPr>
            <a:lvl4pPr lvl="3" algn="r">
              <a:buNone/>
              <a:defRPr sz="1300">
                <a:solidFill>
                  <a:schemeClr val="dk1"/>
                </a:solidFill>
                <a:latin typeface="Proxima Nova"/>
                <a:ea typeface="Proxima Nova"/>
                <a:cs typeface="Proxima Nova"/>
                <a:sym typeface="Proxima Nova"/>
              </a:defRPr>
            </a:lvl4pPr>
            <a:lvl5pPr lvl="4" algn="r">
              <a:buNone/>
              <a:defRPr sz="1300">
                <a:solidFill>
                  <a:schemeClr val="dk1"/>
                </a:solidFill>
                <a:latin typeface="Proxima Nova"/>
                <a:ea typeface="Proxima Nova"/>
                <a:cs typeface="Proxima Nova"/>
                <a:sym typeface="Proxima Nova"/>
              </a:defRPr>
            </a:lvl5pPr>
            <a:lvl6pPr lvl="5" algn="r">
              <a:buNone/>
              <a:defRPr sz="1300">
                <a:solidFill>
                  <a:schemeClr val="dk1"/>
                </a:solidFill>
                <a:latin typeface="Proxima Nova"/>
                <a:ea typeface="Proxima Nova"/>
                <a:cs typeface="Proxima Nova"/>
                <a:sym typeface="Proxima Nova"/>
              </a:defRPr>
            </a:lvl6pPr>
            <a:lvl7pPr lvl="6" algn="r">
              <a:buNone/>
              <a:defRPr sz="1300">
                <a:solidFill>
                  <a:schemeClr val="dk1"/>
                </a:solidFill>
                <a:latin typeface="Proxima Nova"/>
                <a:ea typeface="Proxima Nova"/>
                <a:cs typeface="Proxima Nova"/>
                <a:sym typeface="Proxima Nova"/>
              </a:defRPr>
            </a:lvl7pPr>
            <a:lvl8pPr lvl="7" algn="r">
              <a:buNone/>
              <a:defRPr sz="1300">
                <a:solidFill>
                  <a:schemeClr val="dk1"/>
                </a:solidFill>
                <a:latin typeface="Proxima Nova"/>
                <a:ea typeface="Proxima Nova"/>
                <a:cs typeface="Proxima Nova"/>
                <a:sym typeface="Proxima Nova"/>
              </a:defRPr>
            </a:lvl8pPr>
            <a:lvl9pPr lvl="8" algn="r">
              <a:buNone/>
              <a:defRPr sz="13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lin ang="5400012" scaled="0"/>
        </a:gradFill>
      </p:bgPr>
    </p:bg>
    <p:spTree>
      <p:nvGrpSpPr>
        <p:cNvPr id="58" name="Shape 58"/>
        <p:cNvGrpSpPr/>
        <p:nvPr/>
      </p:nvGrpSpPr>
      <p:grpSpPr>
        <a:xfrm>
          <a:off x="0" y="0"/>
          <a:ext cx="0" cy="0"/>
          <a:chOff x="0" y="0"/>
          <a:chExt cx="0" cy="0"/>
        </a:xfrm>
      </p:grpSpPr>
      <p:sp>
        <p:nvSpPr>
          <p:cNvPr id="59" name="Google Shape;59;p1"/>
          <p:cNvSpPr txBox="1"/>
          <p:nvPr/>
        </p:nvSpPr>
        <p:spPr>
          <a:xfrm>
            <a:off x="777240" y="685800"/>
            <a:ext cx="4572000" cy="2616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t/>
            </a:r>
            <a:endParaRPr/>
          </a:p>
        </p:txBody>
      </p:sp>
      <p:sp>
        <p:nvSpPr>
          <p:cNvPr id="60" name="Google Shape;60;p1"/>
          <p:cNvSpPr txBox="1"/>
          <p:nvPr/>
        </p:nvSpPr>
        <p:spPr>
          <a:xfrm>
            <a:off x="777250" y="1071576"/>
            <a:ext cx="10058400" cy="22626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7200" u="none" cap="none" strike="noStrike">
                <a:solidFill>
                  <a:srgbClr val="1F3752"/>
                </a:solidFill>
                <a:latin typeface="Arial"/>
                <a:ea typeface="Arial"/>
                <a:cs typeface="Arial"/>
                <a:sym typeface="Arial"/>
              </a:rPr>
              <a:t>AKS-3:</a:t>
            </a:r>
            <a:endParaRPr b="1" i="0" sz="7200" u="none" cap="none" strike="noStrike">
              <a:solidFill>
                <a:srgbClr val="1F3752"/>
              </a:solidFill>
              <a:latin typeface="Arial"/>
              <a:ea typeface="Arial"/>
              <a:cs typeface="Arial"/>
              <a:sym typeface="Arial"/>
            </a:endParaRPr>
          </a:p>
          <a:p>
            <a:pPr indent="0" lvl="0" marL="0" marR="0" rtl="0" algn="ctr">
              <a:spcBef>
                <a:spcPts val="0"/>
              </a:spcBef>
              <a:spcAft>
                <a:spcPts val="0"/>
              </a:spcAft>
              <a:buNone/>
            </a:pPr>
            <a:r>
              <a:rPr b="1" i="0" lang="en-US" sz="7200" u="none" cap="none" strike="noStrike">
                <a:solidFill>
                  <a:srgbClr val="1F3752"/>
                </a:solidFill>
                <a:latin typeface="Arial"/>
                <a:ea typeface="Arial"/>
                <a:cs typeface="Arial"/>
                <a:sym typeface="Arial"/>
              </a:rPr>
              <a:t> Project Overview</a:t>
            </a:r>
            <a:endParaRPr sz="5400"/>
          </a:p>
        </p:txBody>
      </p:sp>
      <p:sp>
        <p:nvSpPr>
          <p:cNvPr id="61" name="Google Shape;61;p1"/>
          <p:cNvSpPr txBox="1"/>
          <p:nvPr/>
        </p:nvSpPr>
        <p:spPr>
          <a:xfrm>
            <a:off x="804672" y="3246120"/>
            <a:ext cx="8961000" cy="2616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t/>
            </a:r>
            <a:endParaRPr/>
          </a:p>
        </p:txBody>
      </p:sp>
      <p:sp>
        <p:nvSpPr>
          <p:cNvPr id="62" name="Google Shape;62;p1"/>
          <p:cNvSpPr/>
          <p:nvPr/>
        </p:nvSpPr>
        <p:spPr>
          <a:xfrm>
            <a:off x="804672" y="4572000"/>
            <a:ext cx="4572000" cy="36576"/>
          </a:xfrm>
          <a:prstGeom prst="rect">
            <a:avLst/>
          </a:prstGeom>
          <a:solidFill>
            <a:srgbClr val="3E6897"/>
          </a:solidFill>
          <a:ln cap="flat" cmpd="sng" w="10150">
            <a:solidFill>
              <a:srgbClr val="3E689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 name="Google Shape;63;p1"/>
          <p:cNvSpPr txBox="1"/>
          <p:nvPr/>
        </p:nvSpPr>
        <p:spPr>
          <a:xfrm>
            <a:off x="804672" y="4892040"/>
            <a:ext cx="4572000" cy="32004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1F3752"/>
                </a:solidFill>
                <a:latin typeface="Arial"/>
                <a:ea typeface="Arial"/>
                <a:cs typeface="Arial"/>
                <a:sym typeface="Arial"/>
              </a:rPr>
              <a:t>Team members</a:t>
            </a:r>
            <a:endParaRPr/>
          </a:p>
        </p:txBody>
      </p:sp>
      <p:sp>
        <p:nvSpPr>
          <p:cNvPr id="64" name="Google Shape;64;p1"/>
          <p:cNvSpPr txBox="1"/>
          <p:nvPr/>
        </p:nvSpPr>
        <p:spPr>
          <a:xfrm>
            <a:off x="804672" y="5257800"/>
            <a:ext cx="7315200" cy="73152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100" u="none" cap="none" strike="noStrike">
                <a:solidFill>
                  <a:srgbClr val="262F3A"/>
                </a:solidFill>
                <a:latin typeface="Arial"/>
                <a:ea typeface="Arial"/>
                <a:cs typeface="Arial"/>
                <a:sym typeface="Arial"/>
              </a:rPr>
              <a:t>Aayush Mangla • Shahil Kumar • Harkabir Singh</a:t>
            </a:r>
            <a:endParaRPr/>
          </a:p>
          <a:p>
            <a:pPr indent="0" lvl="0" marL="0" marR="0" rtl="0" algn="l">
              <a:spcBef>
                <a:spcPts val="300"/>
              </a:spcBef>
              <a:spcAft>
                <a:spcPts val="0"/>
              </a:spcAft>
              <a:buNone/>
            </a:pPr>
            <a:r>
              <a:rPr b="0" i="0" lang="en-US" sz="1100" u="none" cap="none" strike="noStrike">
                <a:solidFill>
                  <a:srgbClr val="262F3A"/>
                </a:solidFill>
                <a:latin typeface="Arial"/>
                <a:ea typeface="Arial"/>
                <a:cs typeface="Arial"/>
                <a:sym typeface="Arial"/>
              </a:rPr>
              <a:t>Argdeep Sarkar • Sanyam Jain</a:t>
            </a:r>
            <a:endParaRPr/>
          </a:p>
        </p:txBody>
      </p:sp>
      <p:sp>
        <p:nvSpPr>
          <p:cNvPr id="65" name="Google Shape;65;p1"/>
          <p:cNvSpPr txBox="1"/>
          <p:nvPr/>
        </p:nvSpPr>
        <p:spPr>
          <a:xfrm>
            <a:off x="2997275" y="3334183"/>
            <a:ext cx="648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accent5"/>
                </a:solidFill>
                <a:latin typeface="Proxima Nova"/>
                <a:ea typeface="Proxima Nova"/>
                <a:cs typeface="Proxima Nova"/>
                <a:sym typeface="Proxima Nova"/>
              </a:rPr>
              <a:t>PS2: DATA VISUALIZATION | PS3: ASTRONOMY | PS4: IDEATHON </a:t>
            </a:r>
            <a:endParaRPr b="1">
              <a:solidFill>
                <a:schemeClr val="accent5"/>
              </a:solidFill>
              <a:latin typeface="Proxima Nova"/>
              <a:ea typeface="Proxima Nova"/>
              <a:cs typeface="Proxima Nova"/>
              <a:sym typeface="Proxima Nova"/>
            </a:endParaRPr>
          </a:p>
        </p:txBody>
      </p:sp>
      <p:pic>
        <p:nvPicPr>
          <p:cNvPr id="66" name="Google Shape;66;p1" title="fun meme.jpg"/>
          <p:cNvPicPr preferRelativeResize="0"/>
          <p:nvPr/>
        </p:nvPicPr>
        <p:blipFill>
          <a:blip r:embed="rId3">
            <a:alphaModFix/>
          </a:blip>
          <a:stretch>
            <a:fillRect/>
          </a:stretch>
        </p:blipFill>
        <p:spPr>
          <a:xfrm>
            <a:off x="6055325" y="3960250"/>
            <a:ext cx="5327526" cy="26860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h708fe01af75ac3ab_0_106" title="fun meme.jpg"/>
          <p:cNvPicPr preferRelativeResize="0"/>
          <p:nvPr/>
        </p:nvPicPr>
        <p:blipFill>
          <a:blip r:embed="rId3">
            <a:alphaModFix/>
          </a:blip>
          <a:stretch>
            <a:fillRect/>
          </a:stretch>
        </p:blipFill>
        <p:spPr>
          <a:xfrm>
            <a:off x="1104250" y="708825"/>
            <a:ext cx="10258425" cy="548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2F2F2"/>
            </a:gs>
            <a:gs pos="100000">
              <a:srgbClr val="A6A6A6"/>
            </a:gs>
          </a:gsLst>
          <a:lin ang="5400012" scaled="0"/>
        </a:gradFill>
      </p:bgPr>
    </p:bg>
    <p:spTree>
      <p:nvGrpSpPr>
        <p:cNvPr id="75" name="Shape 75"/>
        <p:cNvGrpSpPr/>
        <p:nvPr/>
      </p:nvGrpSpPr>
      <p:grpSpPr>
        <a:xfrm>
          <a:off x="0" y="0"/>
          <a:ext cx="0" cy="0"/>
          <a:chOff x="0" y="0"/>
          <a:chExt cx="0" cy="0"/>
        </a:xfrm>
      </p:grpSpPr>
      <p:sp>
        <p:nvSpPr>
          <p:cNvPr id="76" name="Google Shape;76;p2"/>
          <p:cNvSpPr txBox="1"/>
          <p:nvPr/>
        </p:nvSpPr>
        <p:spPr>
          <a:xfrm>
            <a:off x="502920" y="201168"/>
            <a:ext cx="7315200" cy="2013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PROJECT OVERVIEW | 02</a:t>
            </a:r>
            <a:endParaRPr/>
          </a:p>
        </p:txBody>
      </p:sp>
      <p:sp>
        <p:nvSpPr>
          <p:cNvPr id="77" name="Google Shape;77;p2"/>
          <p:cNvSpPr txBox="1"/>
          <p:nvPr/>
        </p:nvSpPr>
        <p:spPr>
          <a:xfrm>
            <a:off x="502920" y="502920"/>
            <a:ext cx="11155800" cy="5028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What we worked on</a:t>
            </a:r>
            <a:endParaRPr/>
          </a:p>
        </p:txBody>
      </p:sp>
      <p:sp>
        <p:nvSpPr>
          <p:cNvPr id="78" name="Google Shape;78;p2"/>
          <p:cNvSpPr txBox="1"/>
          <p:nvPr/>
        </p:nvSpPr>
        <p:spPr>
          <a:xfrm>
            <a:off x="530352" y="1033271"/>
            <a:ext cx="10972800" cy="3108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A quick overview of the three problem statements.</a:t>
            </a:r>
            <a:endParaRPr/>
          </a:p>
        </p:txBody>
      </p:sp>
      <p:sp>
        <p:nvSpPr>
          <p:cNvPr id="79" name="Google Shape;79;p2"/>
          <p:cNvSpPr/>
          <p:nvPr/>
        </p:nvSpPr>
        <p:spPr>
          <a:xfrm>
            <a:off x="530352" y="1417320"/>
            <a:ext cx="11064300" cy="13800"/>
          </a:xfrm>
          <a:prstGeom prst="rect">
            <a:avLst/>
          </a:prstGeom>
          <a:solidFill>
            <a:srgbClr val="CCD7E1"/>
          </a:solidFill>
          <a:ln cap="flat" cmpd="sng" w="10150">
            <a:solidFill>
              <a:srgbClr val="CCD7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 name="Google Shape;80;p2"/>
          <p:cNvSpPr txBox="1"/>
          <p:nvPr/>
        </p:nvSpPr>
        <p:spPr>
          <a:xfrm>
            <a:off x="11155680" y="6519672"/>
            <a:ext cx="411600" cy="164700"/>
          </a:xfrm>
          <a:prstGeom prst="rect">
            <a:avLst/>
          </a:prstGeom>
          <a:noFill/>
          <a:ln>
            <a:noFill/>
          </a:ln>
        </p:spPr>
        <p:txBody>
          <a:bodyPr anchorCtr="0" anchor="t" bIns="22850" lIns="45700" spcFirstLastPara="1" rIns="45700" wrap="square" tIns="22850">
            <a:spAutoFit/>
          </a:bodyPr>
          <a:lstStyle/>
          <a:p>
            <a:pPr indent="0" lvl="0" marL="0" marR="0" rtl="0" algn="r">
              <a:spcBef>
                <a:spcPts val="0"/>
              </a:spcBef>
              <a:spcAft>
                <a:spcPts val="0"/>
              </a:spcAft>
              <a:buNone/>
            </a:pPr>
            <a:r>
              <a:rPr b="1" i="0" lang="en-US" sz="900" u="none" cap="none" strike="noStrike">
                <a:solidFill>
                  <a:srgbClr val="606C78"/>
                </a:solidFill>
                <a:latin typeface="Arial"/>
                <a:ea typeface="Arial"/>
                <a:cs typeface="Arial"/>
                <a:sym typeface="Arial"/>
              </a:rPr>
              <a:t>2</a:t>
            </a:r>
            <a:endParaRPr/>
          </a:p>
        </p:txBody>
      </p:sp>
      <p:sp>
        <p:nvSpPr>
          <p:cNvPr id="81" name="Google Shape;81;p2"/>
          <p:cNvSpPr/>
          <p:nvPr/>
        </p:nvSpPr>
        <p:spPr>
          <a:xfrm>
            <a:off x="640080" y="1828800"/>
            <a:ext cx="3520500" cy="20574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 name="Google Shape;82;p2"/>
          <p:cNvSpPr txBox="1"/>
          <p:nvPr/>
        </p:nvSpPr>
        <p:spPr>
          <a:xfrm>
            <a:off x="777240" y="1938528"/>
            <a:ext cx="3246000" cy="246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PS2 — Solar radiation</a:t>
            </a:r>
            <a:endParaRPr/>
          </a:p>
        </p:txBody>
      </p:sp>
      <p:sp>
        <p:nvSpPr>
          <p:cNvPr id="83" name="Google Shape;83;p2"/>
          <p:cNvSpPr txBox="1"/>
          <p:nvPr/>
        </p:nvSpPr>
        <p:spPr>
          <a:xfrm>
            <a:off x="777240" y="2258568"/>
            <a:ext cx="3246000" cy="1572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Analyse 32,686 observations from Sep–Dec 2016.</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Explore patterns over time and relationships with temperature and humidity.</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Use a Random Forest model to estimate radiation.</a:t>
            </a:r>
            <a:endParaRPr/>
          </a:p>
        </p:txBody>
      </p:sp>
      <p:sp>
        <p:nvSpPr>
          <p:cNvPr id="84" name="Google Shape;84;p2"/>
          <p:cNvSpPr/>
          <p:nvPr/>
        </p:nvSpPr>
        <p:spPr>
          <a:xfrm>
            <a:off x="4343400" y="1828800"/>
            <a:ext cx="3520500" cy="20574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2"/>
          <p:cNvSpPr txBox="1"/>
          <p:nvPr/>
        </p:nvSpPr>
        <p:spPr>
          <a:xfrm>
            <a:off x="4480560" y="1938528"/>
            <a:ext cx="3246000" cy="246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PS3 — Exoplanets</a:t>
            </a:r>
            <a:endParaRPr/>
          </a:p>
        </p:txBody>
      </p:sp>
      <p:sp>
        <p:nvSpPr>
          <p:cNvPr id="86" name="Google Shape;86;p2"/>
          <p:cNvSpPr txBox="1"/>
          <p:nvPr/>
        </p:nvSpPr>
        <p:spPr>
          <a:xfrm>
            <a:off x="4480560" y="2258568"/>
            <a:ext cx="3246000" cy="1572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Use brightness dips to look for possible transiting planets around STAC-1, STAC-2 and STAC-3.</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Estimate periods, sizes and orbital distances, then compare possible habitability.</a:t>
            </a:r>
            <a:endParaRPr/>
          </a:p>
        </p:txBody>
      </p:sp>
      <p:sp>
        <p:nvSpPr>
          <p:cNvPr id="87" name="Google Shape;87;p2"/>
          <p:cNvSpPr/>
          <p:nvPr/>
        </p:nvSpPr>
        <p:spPr>
          <a:xfrm>
            <a:off x="8046720" y="1828800"/>
            <a:ext cx="3520500" cy="20574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2"/>
          <p:cNvSpPr txBox="1"/>
          <p:nvPr/>
        </p:nvSpPr>
        <p:spPr>
          <a:xfrm>
            <a:off x="8183880" y="1938528"/>
            <a:ext cx="3246000" cy="246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B67930"/>
                </a:solidFill>
                <a:latin typeface="Arial"/>
                <a:ea typeface="Arial"/>
                <a:cs typeface="Arial"/>
                <a:sym typeface="Arial"/>
              </a:rPr>
              <a:t>PS4 — Space supply chain</a:t>
            </a:r>
            <a:endParaRPr/>
          </a:p>
        </p:txBody>
      </p:sp>
      <p:sp>
        <p:nvSpPr>
          <p:cNvPr id="89" name="Google Shape;89;p2"/>
          <p:cNvSpPr txBox="1"/>
          <p:nvPr/>
        </p:nvSpPr>
        <p:spPr>
          <a:xfrm>
            <a:off x="8183880" y="2258568"/>
            <a:ext cx="3246000" cy="1572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Propose an asteroid-mining logistics system using solar-tether launch and reusable containers.</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Compare cost drivers, risks and a potential L4 customer.</a:t>
            </a:r>
            <a:endParaRPr/>
          </a:p>
        </p:txBody>
      </p:sp>
      <p:sp>
        <p:nvSpPr>
          <p:cNvPr id="90" name="Google Shape;90;p2"/>
          <p:cNvSpPr txBox="1"/>
          <p:nvPr/>
        </p:nvSpPr>
        <p:spPr>
          <a:xfrm>
            <a:off x="777240" y="4389120"/>
            <a:ext cx="10789800" cy="3657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300" u="none" cap="none" strike="noStrike">
                <a:solidFill>
                  <a:srgbClr val="1F3752"/>
                </a:solidFill>
                <a:latin typeface="Arial"/>
                <a:ea typeface="Arial"/>
                <a:cs typeface="Arial"/>
                <a:sym typeface="Arial"/>
              </a:rPr>
              <a:t>Common approach</a:t>
            </a:r>
            <a:endParaRPr/>
          </a:p>
        </p:txBody>
      </p:sp>
      <p:sp>
        <p:nvSpPr>
          <p:cNvPr id="91" name="Google Shape;91;p2"/>
          <p:cNvSpPr txBox="1"/>
          <p:nvPr/>
        </p:nvSpPr>
        <p:spPr>
          <a:xfrm>
            <a:off x="777240" y="4800600"/>
            <a:ext cx="10332600" cy="8229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300" u="none" cap="none" strike="noStrike">
                <a:solidFill>
                  <a:srgbClr val="262F3A"/>
                </a:solidFill>
                <a:latin typeface="Arial"/>
                <a:ea typeface="Arial"/>
                <a:cs typeface="Arial"/>
                <a:sym typeface="Arial"/>
              </a:rPr>
              <a:t>1. Start from the supplied data or scenario   2. Apply a method/model   3. Compare results   4. State assumptions and limitations</a:t>
            </a:r>
            <a:endParaRPr/>
          </a:p>
        </p:txBody>
      </p:sp>
      <p:sp>
        <p:nvSpPr>
          <p:cNvPr id="92" name="Google Shape;92;p2"/>
          <p:cNvSpPr txBox="1"/>
          <p:nvPr/>
        </p:nvSpPr>
        <p:spPr>
          <a:xfrm>
            <a:off x="777240" y="5897880"/>
            <a:ext cx="10424100" cy="2616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3"/>
          <p:cNvSpPr txBox="1"/>
          <p:nvPr/>
        </p:nvSpPr>
        <p:spPr>
          <a:xfrm>
            <a:off x="502920" y="201168"/>
            <a:ext cx="7315200" cy="2011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PROJECT OVERVIEW | 03</a:t>
            </a:r>
            <a:endParaRPr/>
          </a:p>
        </p:txBody>
      </p:sp>
      <p:sp>
        <p:nvSpPr>
          <p:cNvPr id="98" name="Google Shape;98;p3"/>
          <p:cNvSpPr txBox="1"/>
          <p:nvPr/>
        </p:nvSpPr>
        <p:spPr>
          <a:xfrm>
            <a:off x="502920" y="502920"/>
            <a:ext cx="11155680" cy="50292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PS2 — Solar radiation: data and code</a:t>
            </a:r>
            <a:endParaRPr/>
          </a:p>
        </p:txBody>
      </p:sp>
      <p:sp>
        <p:nvSpPr>
          <p:cNvPr id="99" name="Google Shape;99;p3"/>
          <p:cNvSpPr txBox="1"/>
          <p:nvPr/>
        </p:nvSpPr>
        <p:spPr>
          <a:xfrm>
            <a:off x="530352" y="1033271"/>
            <a:ext cx="10972800" cy="310896"/>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Python is used to clean, summarize and visualize the supplied CSV.</a:t>
            </a:r>
            <a:endParaRPr/>
          </a:p>
        </p:txBody>
      </p:sp>
      <p:sp>
        <p:nvSpPr>
          <p:cNvPr id="100" name="Google Shape;100;p3"/>
          <p:cNvSpPr/>
          <p:nvPr/>
        </p:nvSpPr>
        <p:spPr>
          <a:xfrm>
            <a:off x="530352" y="1417320"/>
            <a:ext cx="11064240" cy="13716"/>
          </a:xfrm>
          <a:prstGeom prst="rect">
            <a:avLst/>
          </a:prstGeom>
          <a:solidFill>
            <a:srgbClr val="CCD7E1"/>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3"/>
          <p:cNvSpPr txBox="1"/>
          <p:nvPr/>
        </p:nvSpPr>
        <p:spPr>
          <a:xfrm>
            <a:off x="11155680" y="6519672"/>
            <a:ext cx="411480" cy="164592"/>
          </a:xfrm>
          <a:prstGeom prst="rect">
            <a:avLst/>
          </a:prstGeom>
          <a:noFill/>
          <a:ln>
            <a:noFill/>
          </a:ln>
        </p:spPr>
        <p:txBody>
          <a:bodyPr anchorCtr="0" anchor="t" bIns="22850" lIns="45700" spcFirstLastPara="1" rIns="45700" wrap="square" tIns="22850">
            <a:spAutoFit/>
          </a:bodyPr>
          <a:lstStyle/>
          <a:p>
            <a:pPr indent="0" lvl="0" marL="0" marR="0" rtl="0" algn="r">
              <a:spcBef>
                <a:spcPts val="0"/>
              </a:spcBef>
              <a:spcAft>
                <a:spcPts val="0"/>
              </a:spcAft>
              <a:buNone/>
            </a:pPr>
            <a:r>
              <a:rPr b="1" i="0" lang="en-US" sz="900" u="none" cap="none" strike="noStrike">
                <a:solidFill>
                  <a:srgbClr val="606C78"/>
                </a:solidFill>
                <a:latin typeface="Arial"/>
                <a:ea typeface="Arial"/>
                <a:cs typeface="Arial"/>
                <a:sym typeface="Arial"/>
              </a:rPr>
              <a:t>3</a:t>
            </a:r>
            <a:endParaRPr/>
          </a:p>
        </p:txBody>
      </p:sp>
      <p:sp>
        <p:nvSpPr>
          <p:cNvPr id="102" name="Google Shape;102;p3"/>
          <p:cNvSpPr/>
          <p:nvPr/>
        </p:nvSpPr>
        <p:spPr>
          <a:xfrm>
            <a:off x="594360" y="1920240"/>
            <a:ext cx="1874519" cy="11430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3"/>
          <p:cNvSpPr txBox="1"/>
          <p:nvPr/>
        </p:nvSpPr>
        <p:spPr>
          <a:xfrm>
            <a:off x="685800" y="2121408"/>
            <a:ext cx="1691640" cy="24688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1200" u="none" cap="none" strike="noStrike">
                <a:solidFill>
                  <a:srgbClr val="3E6897"/>
                </a:solidFill>
                <a:latin typeface="Arial"/>
                <a:ea typeface="Arial"/>
                <a:cs typeface="Arial"/>
                <a:sym typeface="Arial"/>
              </a:rPr>
              <a:t>CSV</a:t>
            </a:r>
            <a:endParaRPr/>
          </a:p>
        </p:txBody>
      </p:sp>
      <p:sp>
        <p:nvSpPr>
          <p:cNvPr id="104" name="Google Shape;104;p3"/>
          <p:cNvSpPr txBox="1"/>
          <p:nvPr/>
        </p:nvSpPr>
        <p:spPr>
          <a:xfrm>
            <a:off x="685800" y="2468880"/>
            <a:ext cx="1691640" cy="4572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SolarPrediction.csv</a:t>
            </a:r>
            <a:endParaRPr/>
          </a:p>
        </p:txBody>
      </p:sp>
      <p:cxnSp>
        <p:nvCxnSpPr>
          <p:cNvPr id="105" name="Google Shape;105;p3"/>
          <p:cNvCxnSpPr/>
          <p:nvPr/>
        </p:nvCxnSpPr>
        <p:spPr>
          <a:xfrm>
            <a:off x="2478024" y="2487168"/>
            <a:ext cx="356616" cy="0"/>
          </a:xfrm>
          <a:prstGeom prst="straightConnector1">
            <a:avLst/>
          </a:prstGeom>
          <a:noFill/>
          <a:ln cap="flat" cmpd="sng" w="17775">
            <a:solidFill>
              <a:srgbClr val="3E6897"/>
            </a:solidFill>
            <a:prstDash val="solid"/>
            <a:round/>
            <a:headEnd len="sm" w="sm" type="none"/>
            <a:tailEnd len="sm" w="sm" type="none"/>
          </a:ln>
          <a:effectLst>
            <a:outerShdw blurRad="40000" rotWithShape="0" dir="5400000" dist="20000">
              <a:srgbClr val="000000">
                <a:alpha val="38039"/>
              </a:srgbClr>
            </a:outerShdw>
          </a:effectLst>
        </p:spPr>
      </p:cxnSp>
      <p:sp>
        <p:nvSpPr>
          <p:cNvPr id="106" name="Google Shape;106;p3"/>
          <p:cNvSpPr/>
          <p:nvPr/>
        </p:nvSpPr>
        <p:spPr>
          <a:xfrm>
            <a:off x="2880360" y="1920240"/>
            <a:ext cx="1874519" cy="11430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3"/>
          <p:cNvSpPr txBox="1"/>
          <p:nvPr/>
        </p:nvSpPr>
        <p:spPr>
          <a:xfrm>
            <a:off x="2971800" y="2121408"/>
            <a:ext cx="1691640" cy="24688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1200" u="none" cap="none" strike="noStrike">
                <a:solidFill>
                  <a:srgbClr val="3E6897"/>
                </a:solidFill>
                <a:latin typeface="Arial"/>
                <a:ea typeface="Arial"/>
                <a:cs typeface="Arial"/>
                <a:sym typeface="Arial"/>
              </a:rPr>
              <a:t>Pandas</a:t>
            </a:r>
            <a:endParaRPr/>
          </a:p>
        </p:txBody>
      </p:sp>
      <p:sp>
        <p:nvSpPr>
          <p:cNvPr id="108" name="Google Shape;108;p3"/>
          <p:cNvSpPr txBox="1"/>
          <p:nvPr/>
        </p:nvSpPr>
        <p:spPr>
          <a:xfrm>
            <a:off x="2971800" y="2468880"/>
            <a:ext cx="1691640" cy="4572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Read timestamps</a:t>
            </a:r>
            <a:endParaRPr/>
          </a:p>
          <a:p>
            <a:pPr indent="0" lvl="0" marL="0" marR="0" rtl="0" algn="ctr">
              <a:spcBef>
                <a:spcPts val="300"/>
              </a:spcBef>
              <a:spcAft>
                <a:spcPts val="0"/>
              </a:spcAft>
              <a:buNone/>
            </a:pPr>
            <a:r>
              <a:rPr b="0" i="0" lang="en-US" sz="950" u="none" cap="none" strike="noStrike">
                <a:solidFill>
                  <a:srgbClr val="262F3A"/>
                </a:solidFill>
                <a:latin typeface="Arial"/>
                <a:ea typeface="Arial"/>
                <a:cs typeface="Arial"/>
                <a:sym typeface="Arial"/>
              </a:rPr>
              <a:t>and columns</a:t>
            </a:r>
            <a:endParaRPr/>
          </a:p>
        </p:txBody>
      </p:sp>
      <p:cxnSp>
        <p:nvCxnSpPr>
          <p:cNvPr id="109" name="Google Shape;109;p3"/>
          <p:cNvCxnSpPr/>
          <p:nvPr/>
        </p:nvCxnSpPr>
        <p:spPr>
          <a:xfrm>
            <a:off x="4764024" y="2487168"/>
            <a:ext cx="356616" cy="0"/>
          </a:xfrm>
          <a:prstGeom prst="straightConnector1">
            <a:avLst/>
          </a:prstGeom>
          <a:noFill/>
          <a:ln cap="flat" cmpd="sng" w="17775">
            <a:solidFill>
              <a:srgbClr val="3E6897"/>
            </a:solidFill>
            <a:prstDash val="solid"/>
            <a:round/>
            <a:headEnd len="sm" w="sm" type="none"/>
            <a:tailEnd len="sm" w="sm" type="none"/>
          </a:ln>
          <a:effectLst>
            <a:outerShdw blurRad="40000" rotWithShape="0" dir="5400000" dist="20000">
              <a:srgbClr val="000000">
                <a:alpha val="38039"/>
              </a:srgbClr>
            </a:outerShdw>
          </a:effectLst>
        </p:spPr>
      </p:cxnSp>
      <p:sp>
        <p:nvSpPr>
          <p:cNvPr id="110" name="Google Shape;110;p3"/>
          <p:cNvSpPr/>
          <p:nvPr/>
        </p:nvSpPr>
        <p:spPr>
          <a:xfrm>
            <a:off x="5166360" y="1920240"/>
            <a:ext cx="1874519" cy="11430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3"/>
          <p:cNvSpPr txBox="1"/>
          <p:nvPr/>
        </p:nvSpPr>
        <p:spPr>
          <a:xfrm>
            <a:off x="5257800" y="2121408"/>
            <a:ext cx="1691640" cy="24688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1200" u="none" cap="none" strike="noStrike">
                <a:solidFill>
                  <a:srgbClr val="3E6897"/>
                </a:solidFill>
                <a:latin typeface="Arial"/>
                <a:ea typeface="Arial"/>
                <a:cs typeface="Arial"/>
                <a:sym typeface="Arial"/>
              </a:rPr>
              <a:t>Analysis</a:t>
            </a:r>
            <a:endParaRPr/>
          </a:p>
        </p:txBody>
      </p:sp>
      <p:sp>
        <p:nvSpPr>
          <p:cNvPr id="112" name="Google Shape;112;p3"/>
          <p:cNvSpPr txBox="1"/>
          <p:nvPr/>
        </p:nvSpPr>
        <p:spPr>
          <a:xfrm>
            <a:off x="5257800" y="2468880"/>
            <a:ext cx="1691640" cy="4572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Hourly/daily summaries</a:t>
            </a:r>
            <a:endParaRPr/>
          </a:p>
          <a:p>
            <a:pPr indent="0" lvl="0" marL="0" marR="0" rtl="0" algn="ctr">
              <a:spcBef>
                <a:spcPts val="300"/>
              </a:spcBef>
              <a:spcAft>
                <a:spcPts val="0"/>
              </a:spcAft>
              <a:buNone/>
            </a:pPr>
            <a:r>
              <a:rPr b="0" i="0" lang="en-US" sz="950" u="none" cap="none" strike="noStrike">
                <a:solidFill>
                  <a:srgbClr val="262F3A"/>
                </a:solidFill>
                <a:latin typeface="Arial"/>
                <a:ea typeface="Arial"/>
                <a:cs typeface="Arial"/>
                <a:sym typeface="Arial"/>
              </a:rPr>
              <a:t>and correlations</a:t>
            </a:r>
            <a:endParaRPr/>
          </a:p>
        </p:txBody>
      </p:sp>
      <p:cxnSp>
        <p:nvCxnSpPr>
          <p:cNvPr id="113" name="Google Shape;113;p3"/>
          <p:cNvCxnSpPr/>
          <p:nvPr/>
        </p:nvCxnSpPr>
        <p:spPr>
          <a:xfrm>
            <a:off x="7050024" y="2487168"/>
            <a:ext cx="356616" cy="0"/>
          </a:xfrm>
          <a:prstGeom prst="straightConnector1">
            <a:avLst/>
          </a:prstGeom>
          <a:noFill/>
          <a:ln cap="flat" cmpd="sng" w="17775">
            <a:solidFill>
              <a:srgbClr val="3E6897"/>
            </a:solidFill>
            <a:prstDash val="solid"/>
            <a:round/>
            <a:headEnd len="sm" w="sm" type="none"/>
            <a:tailEnd len="sm" w="sm" type="none"/>
          </a:ln>
          <a:effectLst>
            <a:outerShdw blurRad="40000" rotWithShape="0" dir="5400000" dist="20000">
              <a:srgbClr val="000000">
                <a:alpha val="38039"/>
              </a:srgbClr>
            </a:outerShdw>
          </a:effectLst>
        </p:spPr>
      </p:cxnSp>
      <p:sp>
        <p:nvSpPr>
          <p:cNvPr id="114" name="Google Shape;114;p3"/>
          <p:cNvSpPr/>
          <p:nvPr/>
        </p:nvSpPr>
        <p:spPr>
          <a:xfrm>
            <a:off x="7452360" y="1920240"/>
            <a:ext cx="1874519" cy="11430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7543800" y="2121408"/>
            <a:ext cx="1691640" cy="24688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1200" u="none" cap="none" strike="noStrike">
                <a:solidFill>
                  <a:srgbClr val="3E6897"/>
                </a:solidFill>
                <a:latin typeface="Arial"/>
                <a:ea typeface="Arial"/>
                <a:cs typeface="Arial"/>
                <a:sym typeface="Arial"/>
              </a:rPr>
              <a:t>Plots</a:t>
            </a:r>
            <a:endParaRPr/>
          </a:p>
        </p:txBody>
      </p:sp>
      <p:sp>
        <p:nvSpPr>
          <p:cNvPr id="116" name="Google Shape;116;p3"/>
          <p:cNvSpPr txBox="1"/>
          <p:nvPr/>
        </p:nvSpPr>
        <p:spPr>
          <a:xfrm>
            <a:off x="7543800" y="2468880"/>
            <a:ext cx="1691640" cy="4572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Time series, scatter</a:t>
            </a:r>
            <a:endParaRPr/>
          </a:p>
          <a:p>
            <a:pPr indent="0" lvl="0" marL="0" marR="0" rtl="0" algn="ctr">
              <a:spcBef>
                <a:spcPts val="300"/>
              </a:spcBef>
              <a:spcAft>
                <a:spcPts val="0"/>
              </a:spcAft>
              <a:buNone/>
            </a:pPr>
            <a:r>
              <a:rPr b="0" i="0" lang="en-US" sz="950" u="none" cap="none" strike="noStrike">
                <a:solidFill>
                  <a:srgbClr val="262F3A"/>
                </a:solidFill>
                <a:latin typeface="Arial"/>
                <a:ea typeface="Arial"/>
                <a:cs typeface="Arial"/>
                <a:sym typeface="Arial"/>
              </a:rPr>
              <a:t>plots and matrix</a:t>
            </a:r>
            <a:endParaRPr/>
          </a:p>
        </p:txBody>
      </p:sp>
      <p:cxnSp>
        <p:nvCxnSpPr>
          <p:cNvPr id="117" name="Google Shape;117;p3"/>
          <p:cNvCxnSpPr/>
          <p:nvPr/>
        </p:nvCxnSpPr>
        <p:spPr>
          <a:xfrm>
            <a:off x="9336024" y="2487168"/>
            <a:ext cx="356616" cy="0"/>
          </a:xfrm>
          <a:prstGeom prst="straightConnector1">
            <a:avLst/>
          </a:prstGeom>
          <a:noFill/>
          <a:ln cap="flat" cmpd="sng" w="17775">
            <a:solidFill>
              <a:srgbClr val="3E6897"/>
            </a:solidFill>
            <a:prstDash val="solid"/>
            <a:round/>
            <a:headEnd len="sm" w="sm" type="none"/>
            <a:tailEnd len="sm" w="sm" type="none"/>
          </a:ln>
          <a:effectLst>
            <a:outerShdw blurRad="40000" rotWithShape="0" dir="5400000" dist="20000">
              <a:srgbClr val="000000">
                <a:alpha val="38039"/>
              </a:srgbClr>
            </a:outerShdw>
          </a:effectLst>
        </p:spPr>
      </p:cxnSp>
      <p:sp>
        <p:nvSpPr>
          <p:cNvPr id="118" name="Google Shape;118;p3"/>
          <p:cNvSpPr/>
          <p:nvPr/>
        </p:nvSpPr>
        <p:spPr>
          <a:xfrm>
            <a:off x="9738360" y="1920240"/>
            <a:ext cx="1874519" cy="11430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3"/>
          <p:cNvSpPr txBox="1"/>
          <p:nvPr/>
        </p:nvSpPr>
        <p:spPr>
          <a:xfrm>
            <a:off x="9829800" y="2121408"/>
            <a:ext cx="1691640" cy="24688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1200" u="none" cap="none" strike="noStrike">
                <a:solidFill>
                  <a:srgbClr val="3E6897"/>
                </a:solidFill>
                <a:latin typeface="Arial"/>
                <a:ea typeface="Arial"/>
                <a:cs typeface="Arial"/>
                <a:sym typeface="Arial"/>
              </a:rPr>
              <a:t>Model</a:t>
            </a:r>
            <a:endParaRPr/>
          </a:p>
        </p:txBody>
      </p:sp>
      <p:sp>
        <p:nvSpPr>
          <p:cNvPr id="120" name="Google Shape;120;p3"/>
          <p:cNvSpPr txBox="1"/>
          <p:nvPr/>
        </p:nvSpPr>
        <p:spPr>
          <a:xfrm>
            <a:off x="9829800" y="2468880"/>
            <a:ext cx="1691640" cy="4572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Random Forest</a:t>
            </a:r>
            <a:endParaRPr/>
          </a:p>
          <a:p>
            <a:pPr indent="0" lvl="0" marL="0" marR="0" rtl="0" algn="ctr">
              <a:spcBef>
                <a:spcPts val="300"/>
              </a:spcBef>
              <a:spcAft>
                <a:spcPts val="0"/>
              </a:spcAft>
              <a:buNone/>
            </a:pPr>
            <a:r>
              <a:rPr b="0" i="0" lang="en-US" sz="950" u="none" cap="none" strike="noStrike">
                <a:solidFill>
                  <a:srgbClr val="262F3A"/>
                </a:solidFill>
                <a:latin typeface="Arial"/>
                <a:ea typeface="Arial"/>
                <a:cs typeface="Arial"/>
                <a:sym typeface="Arial"/>
              </a:rPr>
              <a:t>regression</a:t>
            </a:r>
            <a:endParaRPr/>
          </a:p>
        </p:txBody>
      </p:sp>
      <p:sp>
        <p:nvSpPr>
          <p:cNvPr id="121" name="Google Shape;121;p3"/>
          <p:cNvSpPr/>
          <p:nvPr/>
        </p:nvSpPr>
        <p:spPr>
          <a:xfrm>
            <a:off x="640080" y="3520440"/>
            <a:ext cx="5303520" cy="16002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txBox="1"/>
          <p:nvPr/>
        </p:nvSpPr>
        <p:spPr>
          <a:xfrm>
            <a:off x="777240" y="3630168"/>
            <a:ext cx="502920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Libraries used</a:t>
            </a:r>
            <a:endParaRPr/>
          </a:p>
        </p:txBody>
      </p:sp>
      <p:sp>
        <p:nvSpPr>
          <p:cNvPr id="123" name="Google Shape;123;p3"/>
          <p:cNvSpPr txBox="1"/>
          <p:nvPr/>
        </p:nvSpPr>
        <p:spPr>
          <a:xfrm>
            <a:off x="777240" y="3950208"/>
            <a:ext cx="5029200" cy="11155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pandas — load data, parse timestamps and group observations</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NumPy — numerical calculations and time features</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Matplotlib — create and save plots</a:t>
            </a:r>
            <a:endParaRPr/>
          </a:p>
        </p:txBody>
      </p:sp>
      <p:sp>
        <p:nvSpPr>
          <p:cNvPr id="124" name="Google Shape;124;p3"/>
          <p:cNvSpPr/>
          <p:nvPr/>
        </p:nvSpPr>
        <p:spPr>
          <a:xfrm>
            <a:off x="6217920" y="3520440"/>
            <a:ext cx="5303520" cy="16002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txBox="1"/>
          <p:nvPr/>
        </p:nvSpPr>
        <p:spPr>
          <a:xfrm>
            <a:off x="6355080" y="3630168"/>
            <a:ext cx="502920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How to run it</a:t>
            </a:r>
            <a:endParaRPr/>
          </a:p>
        </p:txBody>
      </p:sp>
      <p:sp>
        <p:nvSpPr>
          <p:cNvPr id="126" name="Google Shape;126;p3"/>
          <p:cNvSpPr txBox="1"/>
          <p:nvPr/>
        </p:nvSpPr>
        <p:spPr>
          <a:xfrm>
            <a:off x="6355080" y="3950208"/>
            <a:ext cx="5029200" cy="11155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Open the code in Google Colab, upload the supplied CSV, check the file path used by the script, then run it.</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Results depend on the supplied dataset and code.</a:t>
            </a:r>
            <a:endParaRPr/>
          </a:p>
        </p:txBody>
      </p:sp>
      <p:sp>
        <p:nvSpPr>
          <p:cNvPr id="127" name="Google Shape;127;p3"/>
          <p:cNvSpPr txBox="1"/>
          <p:nvPr/>
        </p:nvSpPr>
        <p:spPr>
          <a:xfrm>
            <a:off x="731520" y="5623560"/>
            <a:ext cx="10698480" cy="41148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100" u="none" cap="none" strike="noStrike">
                <a:solidFill>
                  <a:srgbClr val="606C78"/>
                </a:solidFill>
                <a:latin typeface="Arial"/>
                <a:ea typeface="Arial"/>
                <a:cs typeface="Arial"/>
                <a:sym typeface="Arial"/>
              </a:rPr>
              <a:t>Code idea: turn raw measurements into interpretable trends, then use the model for a radiation estimate.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h708fe01af75ac3ab_0_110" title="luke-skywalker-no.gif"/>
          <p:cNvPicPr preferRelativeResize="0"/>
          <p:nvPr/>
        </p:nvPicPr>
        <p:blipFill>
          <a:blip r:embed="rId3">
            <a:alphaModFix/>
          </a:blip>
          <a:stretch>
            <a:fillRect/>
          </a:stretch>
        </p:blipFill>
        <p:spPr>
          <a:xfrm>
            <a:off x="1134100" y="1032850"/>
            <a:ext cx="9498175" cy="5609800"/>
          </a:xfrm>
          <a:prstGeom prst="rect">
            <a:avLst/>
          </a:prstGeom>
          <a:noFill/>
          <a:ln>
            <a:noFill/>
          </a:ln>
        </p:spPr>
      </p:pic>
      <p:sp>
        <p:nvSpPr>
          <p:cNvPr id="133" name="Google Shape;133;h708fe01af75ac3ab_0_110"/>
          <p:cNvSpPr txBox="1"/>
          <p:nvPr/>
        </p:nvSpPr>
        <p:spPr>
          <a:xfrm>
            <a:off x="1134100" y="324025"/>
            <a:ext cx="8080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solidFill>
                  <a:schemeClr val="dk1"/>
                </a:solidFill>
                <a:latin typeface="Proxima Nova"/>
                <a:ea typeface="Proxima Nova"/>
                <a:cs typeface="Proxima Nova"/>
                <a:sym typeface="Proxima Nova"/>
              </a:rPr>
              <a:t>when the code keeps on showing errors:</a:t>
            </a:r>
            <a:endParaRPr sz="2700">
              <a:solidFill>
                <a:schemeClr val="dk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4"/>
          <p:cNvSpPr txBox="1"/>
          <p:nvPr/>
        </p:nvSpPr>
        <p:spPr>
          <a:xfrm>
            <a:off x="502920" y="201168"/>
            <a:ext cx="7315200" cy="2011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PROJECT OVERVIEW | 04</a:t>
            </a:r>
            <a:endParaRPr/>
          </a:p>
        </p:txBody>
      </p:sp>
      <p:sp>
        <p:nvSpPr>
          <p:cNvPr id="139" name="Google Shape;139;p4"/>
          <p:cNvSpPr txBox="1"/>
          <p:nvPr/>
        </p:nvSpPr>
        <p:spPr>
          <a:xfrm>
            <a:off x="502920" y="502920"/>
            <a:ext cx="11155680" cy="50292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PS2 — Main findings</a:t>
            </a:r>
            <a:endParaRPr/>
          </a:p>
        </p:txBody>
      </p:sp>
      <p:sp>
        <p:nvSpPr>
          <p:cNvPr id="140" name="Google Shape;140;p4"/>
          <p:cNvSpPr txBox="1"/>
          <p:nvPr/>
        </p:nvSpPr>
        <p:spPr>
          <a:xfrm>
            <a:off x="530352" y="1033271"/>
            <a:ext cx="10972800" cy="310896"/>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Summary values reported from the dataset and included script.</a:t>
            </a:r>
            <a:endParaRPr/>
          </a:p>
        </p:txBody>
      </p:sp>
      <p:sp>
        <p:nvSpPr>
          <p:cNvPr id="141" name="Google Shape;141;p4"/>
          <p:cNvSpPr/>
          <p:nvPr/>
        </p:nvSpPr>
        <p:spPr>
          <a:xfrm>
            <a:off x="530352" y="1417320"/>
            <a:ext cx="11064240" cy="13716"/>
          </a:xfrm>
          <a:prstGeom prst="rect">
            <a:avLst/>
          </a:prstGeom>
          <a:solidFill>
            <a:srgbClr val="CCD7E1"/>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4"/>
          <p:cNvSpPr txBox="1"/>
          <p:nvPr/>
        </p:nvSpPr>
        <p:spPr>
          <a:xfrm>
            <a:off x="11155680" y="6519672"/>
            <a:ext cx="411480" cy="164592"/>
          </a:xfrm>
          <a:prstGeom prst="rect">
            <a:avLst/>
          </a:prstGeom>
          <a:noFill/>
          <a:ln>
            <a:noFill/>
          </a:ln>
        </p:spPr>
        <p:txBody>
          <a:bodyPr anchorCtr="0" anchor="t" bIns="22850" lIns="45700" spcFirstLastPara="1" rIns="45700" wrap="square" tIns="22850">
            <a:spAutoFit/>
          </a:bodyPr>
          <a:lstStyle/>
          <a:p>
            <a:pPr indent="0" lvl="0" marL="0" marR="0" rtl="0" algn="r">
              <a:spcBef>
                <a:spcPts val="0"/>
              </a:spcBef>
              <a:spcAft>
                <a:spcPts val="0"/>
              </a:spcAft>
              <a:buNone/>
            </a:pPr>
            <a:r>
              <a:rPr b="1" i="0" lang="en-US" sz="900" u="none" cap="none" strike="noStrike">
                <a:solidFill>
                  <a:srgbClr val="606C78"/>
                </a:solidFill>
                <a:latin typeface="Arial"/>
                <a:ea typeface="Arial"/>
                <a:cs typeface="Arial"/>
                <a:sym typeface="Arial"/>
              </a:rPr>
              <a:t>4</a:t>
            </a:r>
            <a:endParaRPr/>
          </a:p>
        </p:txBody>
      </p:sp>
      <p:sp>
        <p:nvSpPr>
          <p:cNvPr id="143" name="Google Shape;143;p4"/>
          <p:cNvSpPr/>
          <p:nvPr/>
        </p:nvSpPr>
        <p:spPr>
          <a:xfrm>
            <a:off x="640080" y="1828800"/>
            <a:ext cx="2606040" cy="1051560"/>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4"/>
          <p:cNvSpPr txBox="1"/>
          <p:nvPr/>
        </p:nvSpPr>
        <p:spPr>
          <a:xfrm>
            <a:off x="731519" y="2011680"/>
            <a:ext cx="2423160" cy="347472"/>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2100" u="none" cap="none" strike="noStrike">
                <a:solidFill>
                  <a:srgbClr val="1F3752"/>
                </a:solidFill>
                <a:latin typeface="Arial"/>
                <a:ea typeface="Arial"/>
                <a:cs typeface="Arial"/>
                <a:sym typeface="Arial"/>
              </a:rPr>
              <a:t>32,686</a:t>
            </a:r>
            <a:endParaRPr/>
          </a:p>
        </p:txBody>
      </p:sp>
      <p:sp>
        <p:nvSpPr>
          <p:cNvPr id="145" name="Google Shape;145;p4"/>
          <p:cNvSpPr txBox="1"/>
          <p:nvPr/>
        </p:nvSpPr>
        <p:spPr>
          <a:xfrm>
            <a:off x="731519" y="2441448"/>
            <a:ext cx="2423160" cy="2286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606C78"/>
                </a:solidFill>
                <a:latin typeface="Arial"/>
                <a:ea typeface="Arial"/>
                <a:cs typeface="Arial"/>
                <a:sym typeface="Arial"/>
              </a:rPr>
              <a:t>valid observations</a:t>
            </a:r>
            <a:endParaRPr/>
          </a:p>
        </p:txBody>
      </p:sp>
      <p:sp>
        <p:nvSpPr>
          <p:cNvPr id="146" name="Google Shape;146;p4"/>
          <p:cNvSpPr/>
          <p:nvPr/>
        </p:nvSpPr>
        <p:spPr>
          <a:xfrm>
            <a:off x="3493008" y="1828800"/>
            <a:ext cx="2606040" cy="1051560"/>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txBox="1"/>
          <p:nvPr/>
        </p:nvSpPr>
        <p:spPr>
          <a:xfrm>
            <a:off x="3584448" y="2011680"/>
            <a:ext cx="2423160" cy="347472"/>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2100" u="none" cap="none" strike="noStrike">
                <a:solidFill>
                  <a:srgbClr val="1F3752"/>
                </a:solidFill>
                <a:latin typeface="Arial"/>
                <a:ea typeface="Arial"/>
                <a:cs typeface="Arial"/>
                <a:sym typeface="Arial"/>
              </a:rPr>
              <a:t>207.12</a:t>
            </a:r>
            <a:endParaRPr/>
          </a:p>
        </p:txBody>
      </p:sp>
      <p:sp>
        <p:nvSpPr>
          <p:cNvPr id="148" name="Google Shape;148;p4"/>
          <p:cNvSpPr txBox="1"/>
          <p:nvPr/>
        </p:nvSpPr>
        <p:spPr>
          <a:xfrm>
            <a:off x="3584448" y="2441448"/>
            <a:ext cx="2423160" cy="2286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606C78"/>
                </a:solidFill>
                <a:latin typeface="Arial"/>
                <a:ea typeface="Arial"/>
                <a:cs typeface="Arial"/>
                <a:sym typeface="Arial"/>
              </a:rPr>
              <a:t>mean radiation</a:t>
            </a:r>
            <a:endParaRPr/>
          </a:p>
        </p:txBody>
      </p:sp>
      <p:sp>
        <p:nvSpPr>
          <p:cNvPr id="149" name="Google Shape;149;p4"/>
          <p:cNvSpPr/>
          <p:nvPr/>
        </p:nvSpPr>
        <p:spPr>
          <a:xfrm>
            <a:off x="6345936" y="1828800"/>
            <a:ext cx="2606040" cy="1051560"/>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4"/>
          <p:cNvSpPr txBox="1"/>
          <p:nvPr/>
        </p:nvSpPr>
        <p:spPr>
          <a:xfrm>
            <a:off x="6437376" y="2011680"/>
            <a:ext cx="2423160" cy="347472"/>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2100" u="none" cap="none" strike="noStrike">
                <a:solidFill>
                  <a:srgbClr val="1F3752"/>
                </a:solidFill>
                <a:latin typeface="Arial"/>
                <a:ea typeface="Arial"/>
                <a:cs typeface="Arial"/>
                <a:sym typeface="Arial"/>
              </a:rPr>
              <a:t>1,601.26</a:t>
            </a:r>
            <a:endParaRPr/>
          </a:p>
        </p:txBody>
      </p:sp>
      <p:sp>
        <p:nvSpPr>
          <p:cNvPr id="151" name="Google Shape;151;p4"/>
          <p:cNvSpPr txBox="1"/>
          <p:nvPr/>
        </p:nvSpPr>
        <p:spPr>
          <a:xfrm>
            <a:off x="6437376" y="2441448"/>
            <a:ext cx="2423160" cy="2286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606C78"/>
                </a:solidFill>
                <a:latin typeface="Arial"/>
                <a:ea typeface="Arial"/>
                <a:cs typeface="Arial"/>
                <a:sym typeface="Arial"/>
              </a:rPr>
              <a:t>maximum radiation</a:t>
            </a:r>
            <a:endParaRPr/>
          </a:p>
        </p:txBody>
      </p:sp>
      <p:sp>
        <p:nvSpPr>
          <p:cNvPr id="152" name="Google Shape;152;p4"/>
          <p:cNvSpPr/>
          <p:nvPr/>
        </p:nvSpPr>
        <p:spPr>
          <a:xfrm>
            <a:off x="9198863" y="1828800"/>
            <a:ext cx="2606040" cy="1051560"/>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txBox="1"/>
          <p:nvPr/>
        </p:nvSpPr>
        <p:spPr>
          <a:xfrm>
            <a:off x="9290303" y="2011680"/>
            <a:ext cx="2423160" cy="347472"/>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2100" u="none" cap="none" strike="noStrike">
                <a:solidFill>
                  <a:srgbClr val="1F3752"/>
                </a:solidFill>
                <a:latin typeface="Arial"/>
                <a:ea typeface="Arial"/>
                <a:cs typeface="Arial"/>
                <a:sym typeface="Arial"/>
              </a:rPr>
              <a:t>12:00</a:t>
            </a:r>
            <a:endParaRPr/>
          </a:p>
        </p:txBody>
      </p:sp>
      <p:sp>
        <p:nvSpPr>
          <p:cNvPr id="154" name="Google Shape;154;p4"/>
          <p:cNvSpPr txBox="1"/>
          <p:nvPr/>
        </p:nvSpPr>
        <p:spPr>
          <a:xfrm>
            <a:off x="9290303" y="2441448"/>
            <a:ext cx="2423160" cy="22860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606C78"/>
                </a:solidFill>
                <a:latin typeface="Arial"/>
                <a:ea typeface="Arial"/>
                <a:cs typeface="Arial"/>
                <a:sym typeface="Arial"/>
              </a:rPr>
              <a:t>hour of mean-radiation peak</a:t>
            </a:r>
            <a:endParaRPr/>
          </a:p>
        </p:txBody>
      </p:sp>
      <p:sp>
        <p:nvSpPr>
          <p:cNvPr id="155" name="Google Shape;155;p4"/>
          <p:cNvSpPr/>
          <p:nvPr/>
        </p:nvSpPr>
        <p:spPr>
          <a:xfrm>
            <a:off x="640080" y="3246120"/>
            <a:ext cx="5303520" cy="164592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4"/>
          <p:cNvSpPr txBox="1"/>
          <p:nvPr/>
        </p:nvSpPr>
        <p:spPr>
          <a:xfrm>
            <a:off x="777240" y="3355848"/>
            <a:ext cx="502920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Relationships</a:t>
            </a:r>
            <a:endParaRPr/>
          </a:p>
        </p:txBody>
      </p:sp>
      <p:sp>
        <p:nvSpPr>
          <p:cNvPr id="157" name="Google Shape;157;p4"/>
          <p:cNvSpPr txBox="1"/>
          <p:nvPr/>
        </p:nvSpPr>
        <p:spPr>
          <a:xfrm>
            <a:off x="777240" y="3675887"/>
            <a:ext cx="5029200" cy="11612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Radiation–temperature correlation: +0.735</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Radiation–humidity correlation: −0.226</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Temperature had the strongest absolute linear correlation with radiation.</a:t>
            </a:r>
            <a:endParaRPr/>
          </a:p>
        </p:txBody>
      </p:sp>
      <p:sp>
        <p:nvSpPr>
          <p:cNvPr id="158" name="Google Shape;158;p4"/>
          <p:cNvSpPr/>
          <p:nvPr/>
        </p:nvSpPr>
        <p:spPr>
          <a:xfrm>
            <a:off x="6217920" y="3246120"/>
            <a:ext cx="5303520" cy="164592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4"/>
          <p:cNvSpPr txBox="1"/>
          <p:nvPr/>
        </p:nvSpPr>
        <p:spPr>
          <a:xfrm>
            <a:off x="6355080" y="3355848"/>
            <a:ext cx="502920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What the plots help show</a:t>
            </a:r>
            <a:endParaRPr/>
          </a:p>
        </p:txBody>
      </p:sp>
      <p:sp>
        <p:nvSpPr>
          <p:cNvPr id="160" name="Google Shape;160;p4"/>
          <p:cNvSpPr txBox="1"/>
          <p:nvPr/>
        </p:nvSpPr>
        <p:spPr>
          <a:xfrm>
            <a:off x="6355080" y="3675887"/>
            <a:ext cx="5029200" cy="11612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Hourly means reveal the broad time pattern. Scatter plots compare radiation with temperature and humidity. Correlation indicates association, not causation.</a:t>
            </a:r>
            <a:endParaRPr/>
          </a:p>
        </p:txBody>
      </p:sp>
      <p:sp>
        <p:nvSpPr>
          <p:cNvPr id="161" name="Google Shape;161;p4"/>
          <p:cNvSpPr txBox="1"/>
          <p:nvPr/>
        </p:nvSpPr>
        <p:spPr>
          <a:xfrm>
            <a:off x="731520" y="5349240"/>
            <a:ext cx="10607040" cy="59436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Reported peak: 1,601.26 on 4 Sep 2016 at 12:15. Sharp changes may reflect weather or outliers; night-time radiation readings are close to zero.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5"/>
          <p:cNvSpPr txBox="1"/>
          <p:nvPr/>
        </p:nvSpPr>
        <p:spPr>
          <a:xfrm>
            <a:off x="502920" y="201168"/>
            <a:ext cx="7315200" cy="2011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PROJECT OVERVIEW | 05</a:t>
            </a:r>
            <a:endParaRPr/>
          </a:p>
        </p:txBody>
      </p:sp>
      <p:sp>
        <p:nvSpPr>
          <p:cNvPr id="167" name="Google Shape;167;p5"/>
          <p:cNvSpPr txBox="1"/>
          <p:nvPr/>
        </p:nvSpPr>
        <p:spPr>
          <a:xfrm>
            <a:off x="502920" y="502920"/>
            <a:ext cx="11155680" cy="50292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PS3 — Detecting possible exoplanets</a:t>
            </a:r>
            <a:endParaRPr/>
          </a:p>
        </p:txBody>
      </p:sp>
      <p:sp>
        <p:nvSpPr>
          <p:cNvPr id="168" name="Google Shape;168;p5"/>
          <p:cNvSpPr txBox="1"/>
          <p:nvPr/>
        </p:nvSpPr>
        <p:spPr>
          <a:xfrm>
            <a:off x="530352" y="1033271"/>
            <a:ext cx="10972800" cy="310896"/>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The transit method looks for a small, repeated decrease in a star's brightness.</a:t>
            </a:r>
            <a:endParaRPr/>
          </a:p>
        </p:txBody>
      </p:sp>
      <p:sp>
        <p:nvSpPr>
          <p:cNvPr id="169" name="Google Shape;169;p5"/>
          <p:cNvSpPr/>
          <p:nvPr/>
        </p:nvSpPr>
        <p:spPr>
          <a:xfrm>
            <a:off x="530352" y="1417320"/>
            <a:ext cx="11064240" cy="13716"/>
          </a:xfrm>
          <a:prstGeom prst="rect">
            <a:avLst/>
          </a:prstGeom>
          <a:solidFill>
            <a:srgbClr val="CCD7E1"/>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5"/>
          <p:cNvSpPr txBox="1"/>
          <p:nvPr/>
        </p:nvSpPr>
        <p:spPr>
          <a:xfrm>
            <a:off x="11155680" y="6519672"/>
            <a:ext cx="411480" cy="164592"/>
          </a:xfrm>
          <a:prstGeom prst="rect">
            <a:avLst/>
          </a:prstGeom>
          <a:noFill/>
          <a:ln>
            <a:noFill/>
          </a:ln>
        </p:spPr>
        <p:txBody>
          <a:bodyPr anchorCtr="0" anchor="t" bIns="22850" lIns="45700" spcFirstLastPara="1" rIns="45700" wrap="square" tIns="22850">
            <a:spAutoFit/>
          </a:bodyPr>
          <a:lstStyle/>
          <a:p>
            <a:pPr indent="0" lvl="0" marL="0" marR="0" rtl="0" algn="r">
              <a:spcBef>
                <a:spcPts val="0"/>
              </a:spcBef>
              <a:spcAft>
                <a:spcPts val="0"/>
              </a:spcAft>
              <a:buNone/>
            </a:pPr>
            <a:r>
              <a:rPr b="1" i="0" lang="en-US" sz="900" u="none" cap="none" strike="noStrike">
                <a:solidFill>
                  <a:srgbClr val="606C78"/>
                </a:solidFill>
                <a:latin typeface="Arial"/>
                <a:ea typeface="Arial"/>
                <a:cs typeface="Arial"/>
                <a:sym typeface="Arial"/>
              </a:rPr>
              <a:t>5</a:t>
            </a:r>
            <a:endParaRPr/>
          </a:p>
        </p:txBody>
      </p:sp>
      <p:sp>
        <p:nvSpPr>
          <p:cNvPr id="171" name="Google Shape;171;p5"/>
          <p:cNvSpPr/>
          <p:nvPr/>
        </p:nvSpPr>
        <p:spPr>
          <a:xfrm>
            <a:off x="731520" y="1828800"/>
            <a:ext cx="5166360" cy="201168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5"/>
          <p:cNvSpPr txBox="1"/>
          <p:nvPr/>
        </p:nvSpPr>
        <p:spPr>
          <a:xfrm>
            <a:off x="914400" y="1993392"/>
            <a:ext cx="4754880" cy="2286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Concept of a transit</a:t>
            </a:r>
            <a:endParaRPr/>
          </a:p>
        </p:txBody>
      </p:sp>
      <p:sp>
        <p:nvSpPr>
          <p:cNvPr id="173" name="Google Shape;173;p5"/>
          <p:cNvSpPr/>
          <p:nvPr/>
        </p:nvSpPr>
        <p:spPr>
          <a:xfrm>
            <a:off x="1097280" y="2514600"/>
            <a:ext cx="731520" cy="731520"/>
          </a:xfrm>
          <a:prstGeom prst="ellipse">
            <a:avLst/>
          </a:prstGeom>
          <a:solidFill>
            <a:srgbClr val="B6793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174" name="Google Shape;174;p5"/>
          <p:cNvCxnSpPr/>
          <p:nvPr/>
        </p:nvCxnSpPr>
        <p:spPr>
          <a:xfrm>
            <a:off x="1920240" y="2633472"/>
            <a:ext cx="2926080" cy="0"/>
          </a:xfrm>
          <a:prstGeom prst="straightConnector1">
            <a:avLst/>
          </a:prstGeom>
          <a:noFill/>
          <a:ln cap="flat" cmpd="sng" w="15225">
            <a:solidFill>
              <a:srgbClr val="B67930"/>
            </a:solidFill>
            <a:prstDash val="solid"/>
            <a:round/>
            <a:headEnd len="sm" w="sm" type="none"/>
            <a:tailEnd len="sm" w="sm" type="none"/>
          </a:ln>
          <a:effectLst>
            <a:outerShdw blurRad="40000" rotWithShape="0" dir="5400000" dist="20000">
              <a:srgbClr val="000000">
                <a:alpha val="38039"/>
              </a:srgbClr>
            </a:outerShdw>
          </a:effectLst>
        </p:spPr>
      </p:cxnSp>
      <p:cxnSp>
        <p:nvCxnSpPr>
          <p:cNvPr id="175" name="Google Shape;175;p5"/>
          <p:cNvCxnSpPr/>
          <p:nvPr/>
        </p:nvCxnSpPr>
        <p:spPr>
          <a:xfrm>
            <a:off x="1920240" y="2880360"/>
            <a:ext cx="2926080" cy="0"/>
          </a:xfrm>
          <a:prstGeom prst="straightConnector1">
            <a:avLst/>
          </a:prstGeom>
          <a:noFill/>
          <a:ln cap="flat" cmpd="sng" w="15225">
            <a:solidFill>
              <a:srgbClr val="B67930"/>
            </a:solidFill>
            <a:prstDash val="solid"/>
            <a:round/>
            <a:headEnd len="sm" w="sm" type="none"/>
            <a:tailEnd len="sm" w="sm" type="none"/>
          </a:ln>
          <a:effectLst>
            <a:outerShdw blurRad="40000" rotWithShape="0" dir="5400000" dist="20000">
              <a:srgbClr val="000000">
                <a:alpha val="38039"/>
              </a:srgbClr>
            </a:outerShdw>
          </a:effectLst>
        </p:spPr>
      </p:cxnSp>
      <p:cxnSp>
        <p:nvCxnSpPr>
          <p:cNvPr id="176" name="Google Shape;176;p5"/>
          <p:cNvCxnSpPr/>
          <p:nvPr/>
        </p:nvCxnSpPr>
        <p:spPr>
          <a:xfrm>
            <a:off x="1920240" y="3127248"/>
            <a:ext cx="2926080" cy="0"/>
          </a:xfrm>
          <a:prstGeom prst="straightConnector1">
            <a:avLst/>
          </a:prstGeom>
          <a:noFill/>
          <a:ln cap="flat" cmpd="sng" w="15225">
            <a:solidFill>
              <a:srgbClr val="B67930"/>
            </a:solidFill>
            <a:prstDash val="solid"/>
            <a:round/>
            <a:headEnd len="sm" w="sm" type="none"/>
            <a:tailEnd len="sm" w="sm" type="none"/>
          </a:ln>
          <a:effectLst>
            <a:outerShdw blurRad="40000" rotWithShape="0" dir="5400000" dist="20000">
              <a:srgbClr val="000000">
                <a:alpha val="38039"/>
              </a:srgbClr>
            </a:outerShdw>
          </a:effectLst>
        </p:spPr>
      </p:cxnSp>
      <p:sp>
        <p:nvSpPr>
          <p:cNvPr id="177" name="Google Shape;177;p5"/>
          <p:cNvSpPr/>
          <p:nvPr/>
        </p:nvSpPr>
        <p:spPr>
          <a:xfrm>
            <a:off x="3154680" y="2706624"/>
            <a:ext cx="237744" cy="237744"/>
          </a:xfrm>
          <a:prstGeom prst="ellipse">
            <a:avLst/>
          </a:prstGeom>
          <a:solidFill>
            <a:srgbClr val="1F375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5"/>
          <p:cNvSpPr txBox="1"/>
          <p:nvPr/>
        </p:nvSpPr>
        <p:spPr>
          <a:xfrm>
            <a:off x="1005840" y="3401568"/>
            <a:ext cx="4480560" cy="2286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950" u="none" cap="none" strike="noStrike">
                <a:solidFill>
                  <a:srgbClr val="606C78"/>
                </a:solidFill>
                <a:latin typeface="Arial"/>
                <a:ea typeface="Arial"/>
                <a:cs typeface="Arial"/>
                <a:sym typeface="Arial"/>
              </a:rPr>
              <a:t>Planet crosses the star → measured brightness dips</a:t>
            </a:r>
            <a:endParaRPr/>
          </a:p>
        </p:txBody>
      </p:sp>
      <p:sp>
        <p:nvSpPr>
          <p:cNvPr id="179" name="Google Shape;179;p5"/>
          <p:cNvSpPr/>
          <p:nvPr/>
        </p:nvSpPr>
        <p:spPr>
          <a:xfrm>
            <a:off x="6217920" y="1828800"/>
            <a:ext cx="5257800" cy="201168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5"/>
          <p:cNvSpPr txBox="1"/>
          <p:nvPr/>
        </p:nvSpPr>
        <p:spPr>
          <a:xfrm>
            <a:off x="6355080" y="1938528"/>
            <a:ext cx="498348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What we estimate</a:t>
            </a:r>
            <a:endParaRPr/>
          </a:p>
        </p:txBody>
      </p:sp>
      <p:sp>
        <p:nvSpPr>
          <p:cNvPr id="181" name="Google Shape;181;p5"/>
          <p:cNvSpPr txBox="1"/>
          <p:nvPr/>
        </p:nvSpPr>
        <p:spPr>
          <a:xfrm>
            <a:off x="6355080" y="2258568"/>
            <a:ext cx="4983480" cy="152704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 Period: time between repeated dips</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 Transit depth: fractional brightness decrease</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 Planet radius: using depth and stellar radius</a:t>
            </a:r>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 Orbital distance: using Kepler's third law</a:t>
            </a:r>
            <a:endParaRPr/>
          </a:p>
        </p:txBody>
      </p:sp>
      <p:sp>
        <p:nvSpPr>
          <p:cNvPr id="182" name="Google Shape;182;p5"/>
          <p:cNvSpPr/>
          <p:nvPr/>
        </p:nvSpPr>
        <p:spPr>
          <a:xfrm>
            <a:off x="731520" y="4251960"/>
            <a:ext cx="5166360" cy="12801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5"/>
          <p:cNvSpPr txBox="1"/>
          <p:nvPr/>
        </p:nvSpPr>
        <p:spPr>
          <a:xfrm>
            <a:off x="868680" y="4361688"/>
            <a:ext cx="489204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B67930"/>
                </a:solidFill>
                <a:latin typeface="Arial"/>
                <a:ea typeface="Arial"/>
                <a:cs typeface="Arial"/>
                <a:sym typeface="Arial"/>
              </a:rPr>
              <a:t>Important limitation</a:t>
            </a:r>
            <a:endParaRPr/>
          </a:p>
        </p:txBody>
      </p:sp>
      <p:sp>
        <p:nvSpPr>
          <p:cNvPr id="184" name="Google Shape;184;p5"/>
          <p:cNvSpPr txBox="1"/>
          <p:nvPr/>
        </p:nvSpPr>
        <p:spPr>
          <a:xfrm>
            <a:off x="868680" y="4681728"/>
            <a:ext cx="4892040" cy="7955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Sparse observations cannot rule out stellar activity, binary stars or instrumental error. These are candidates, not confirmed planets.</a:t>
            </a:r>
            <a:endParaRPr/>
          </a:p>
        </p:txBody>
      </p:sp>
      <p:sp>
        <p:nvSpPr>
          <p:cNvPr id="185" name="Google Shape;185;p5"/>
          <p:cNvSpPr/>
          <p:nvPr/>
        </p:nvSpPr>
        <p:spPr>
          <a:xfrm>
            <a:off x="6217920" y="4251960"/>
            <a:ext cx="5257800" cy="12801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5"/>
          <p:cNvSpPr txBox="1"/>
          <p:nvPr/>
        </p:nvSpPr>
        <p:spPr>
          <a:xfrm>
            <a:off x="6355080" y="4361688"/>
            <a:ext cx="498348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Habitability comparison</a:t>
            </a:r>
            <a:endParaRPr/>
          </a:p>
        </p:txBody>
      </p:sp>
      <p:sp>
        <p:nvSpPr>
          <p:cNvPr id="187" name="Google Shape;187;p5"/>
          <p:cNvSpPr txBox="1"/>
          <p:nvPr/>
        </p:nvSpPr>
        <p:spPr>
          <a:xfrm>
            <a:off x="6355080" y="4681728"/>
            <a:ext cx="4983480" cy="7955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Compare estimated orbital distance with an approximate habitable-zone distance, plus planet size and host-star properties.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6"/>
          <p:cNvSpPr txBox="1"/>
          <p:nvPr/>
        </p:nvSpPr>
        <p:spPr>
          <a:xfrm>
            <a:off x="502920" y="201168"/>
            <a:ext cx="7315200" cy="2011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PROJECT OVERVIEW | 06</a:t>
            </a:r>
            <a:endParaRPr/>
          </a:p>
        </p:txBody>
      </p:sp>
      <p:sp>
        <p:nvSpPr>
          <p:cNvPr id="193" name="Google Shape;193;p6"/>
          <p:cNvSpPr txBox="1"/>
          <p:nvPr/>
        </p:nvSpPr>
        <p:spPr>
          <a:xfrm>
            <a:off x="502920" y="502920"/>
            <a:ext cx="11155680" cy="50292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PS3 — Candidate comparison</a:t>
            </a:r>
            <a:endParaRPr/>
          </a:p>
        </p:txBody>
      </p:sp>
      <p:sp>
        <p:nvSpPr>
          <p:cNvPr id="194" name="Google Shape;194;p6"/>
          <p:cNvSpPr txBox="1"/>
          <p:nvPr/>
        </p:nvSpPr>
        <p:spPr>
          <a:xfrm>
            <a:off x="530352" y="1033271"/>
            <a:ext cx="10972800" cy="310896"/>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Values follow the supplied analysis; STAC-3's period remains uncertain.</a:t>
            </a:r>
            <a:endParaRPr/>
          </a:p>
        </p:txBody>
      </p:sp>
      <p:sp>
        <p:nvSpPr>
          <p:cNvPr id="195" name="Google Shape;195;p6"/>
          <p:cNvSpPr/>
          <p:nvPr/>
        </p:nvSpPr>
        <p:spPr>
          <a:xfrm>
            <a:off x="530352" y="1417320"/>
            <a:ext cx="11064240" cy="13716"/>
          </a:xfrm>
          <a:prstGeom prst="rect">
            <a:avLst/>
          </a:prstGeom>
          <a:solidFill>
            <a:srgbClr val="CCD7E1"/>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6"/>
          <p:cNvSpPr txBox="1"/>
          <p:nvPr/>
        </p:nvSpPr>
        <p:spPr>
          <a:xfrm>
            <a:off x="11155680" y="6519672"/>
            <a:ext cx="411480" cy="164592"/>
          </a:xfrm>
          <a:prstGeom prst="rect">
            <a:avLst/>
          </a:prstGeom>
          <a:noFill/>
          <a:ln>
            <a:noFill/>
          </a:ln>
        </p:spPr>
        <p:txBody>
          <a:bodyPr anchorCtr="0" anchor="t" bIns="22850" lIns="45700" spcFirstLastPara="1" rIns="45700" wrap="square" tIns="22850">
            <a:spAutoFit/>
          </a:bodyPr>
          <a:lstStyle/>
          <a:p>
            <a:pPr indent="0" lvl="0" marL="0" marR="0" rtl="0" algn="r">
              <a:spcBef>
                <a:spcPts val="0"/>
              </a:spcBef>
              <a:spcAft>
                <a:spcPts val="0"/>
              </a:spcAft>
              <a:buNone/>
            </a:pPr>
            <a:r>
              <a:rPr b="1" i="0" lang="en-US" sz="900" u="none" cap="none" strike="noStrike">
                <a:solidFill>
                  <a:srgbClr val="606C78"/>
                </a:solidFill>
                <a:latin typeface="Arial"/>
                <a:ea typeface="Arial"/>
                <a:cs typeface="Arial"/>
                <a:sym typeface="Arial"/>
              </a:rPr>
              <a:t>6</a:t>
            </a:r>
            <a:endParaRPr/>
          </a:p>
        </p:txBody>
      </p:sp>
      <p:sp>
        <p:nvSpPr>
          <p:cNvPr id="197" name="Google Shape;197;p6"/>
          <p:cNvSpPr/>
          <p:nvPr/>
        </p:nvSpPr>
        <p:spPr>
          <a:xfrm>
            <a:off x="685800" y="1874519"/>
            <a:ext cx="155448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6"/>
          <p:cNvSpPr txBox="1"/>
          <p:nvPr/>
        </p:nvSpPr>
        <p:spPr>
          <a:xfrm>
            <a:off x="722376" y="1984248"/>
            <a:ext cx="1481328" cy="18288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FFFFFF"/>
                </a:solidFill>
                <a:latin typeface="Arial"/>
                <a:ea typeface="Arial"/>
                <a:cs typeface="Arial"/>
                <a:sym typeface="Arial"/>
              </a:rPr>
              <a:t>Star</a:t>
            </a:r>
            <a:endParaRPr/>
          </a:p>
        </p:txBody>
      </p:sp>
      <p:sp>
        <p:nvSpPr>
          <p:cNvPr id="199" name="Google Shape;199;p6"/>
          <p:cNvSpPr/>
          <p:nvPr/>
        </p:nvSpPr>
        <p:spPr>
          <a:xfrm>
            <a:off x="2331720" y="1874519"/>
            <a:ext cx="173736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6"/>
          <p:cNvSpPr txBox="1"/>
          <p:nvPr/>
        </p:nvSpPr>
        <p:spPr>
          <a:xfrm>
            <a:off x="2368296" y="1984248"/>
            <a:ext cx="1664207" cy="18288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FFFFFF"/>
                </a:solidFill>
                <a:latin typeface="Arial"/>
                <a:ea typeface="Arial"/>
                <a:cs typeface="Arial"/>
                <a:sym typeface="Arial"/>
              </a:rPr>
              <a:t>Period</a:t>
            </a:r>
            <a:endParaRPr/>
          </a:p>
        </p:txBody>
      </p:sp>
      <p:sp>
        <p:nvSpPr>
          <p:cNvPr id="201" name="Google Shape;201;p6"/>
          <p:cNvSpPr/>
          <p:nvPr/>
        </p:nvSpPr>
        <p:spPr>
          <a:xfrm>
            <a:off x="4160520" y="1874519"/>
            <a:ext cx="173736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6"/>
          <p:cNvSpPr txBox="1"/>
          <p:nvPr/>
        </p:nvSpPr>
        <p:spPr>
          <a:xfrm>
            <a:off x="4197096" y="1984248"/>
            <a:ext cx="1664207" cy="18288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FFFFFF"/>
                </a:solidFill>
                <a:latin typeface="Arial"/>
                <a:ea typeface="Arial"/>
                <a:cs typeface="Arial"/>
                <a:sym typeface="Arial"/>
              </a:rPr>
              <a:t>Depth</a:t>
            </a:r>
            <a:endParaRPr/>
          </a:p>
        </p:txBody>
      </p:sp>
      <p:sp>
        <p:nvSpPr>
          <p:cNvPr id="203" name="Google Shape;203;p6"/>
          <p:cNvSpPr/>
          <p:nvPr/>
        </p:nvSpPr>
        <p:spPr>
          <a:xfrm>
            <a:off x="5989320" y="1874519"/>
            <a:ext cx="182880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6"/>
          <p:cNvSpPr txBox="1"/>
          <p:nvPr/>
        </p:nvSpPr>
        <p:spPr>
          <a:xfrm>
            <a:off x="6025896" y="1984248"/>
            <a:ext cx="1755648" cy="18288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FFFFFF"/>
                </a:solidFill>
                <a:latin typeface="Arial"/>
                <a:ea typeface="Arial"/>
                <a:cs typeface="Arial"/>
                <a:sym typeface="Arial"/>
              </a:rPr>
              <a:t>Radius</a:t>
            </a:r>
            <a:endParaRPr/>
          </a:p>
        </p:txBody>
      </p:sp>
      <p:sp>
        <p:nvSpPr>
          <p:cNvPr id="205" name="Google Shape;205;p6"/>
          <p:cNvSpPr/>
          <p:nvPr/>
        </p:nvSpPr>
        <p:spPr>
          <a:xfrm>
            <a:off x="7909560" y="1874519"/>
            <a:ext cx="182880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6"/>
          <p:cNvSpPr txBox="1"/>
          <p:nvPr/>
        </p:nvSpPr>
        <p:spPr>
          <a:xfrm>
            <a:off x="7946136" y="1984248"/>
            <a:ext cx="1755648" cy="18288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FFFFFF"/>
                </a:solidFill>
                <a:latin typeface="Arial"/>
                <a:ea typeface="Arial"/>
                <a:cs typeface="Arial"/>
                <a:sym typeface="Arial"/>
              </a:rPr>
              <a:t>Orbit (AU)</a:t>
            </a:r>
            <a:endParaRPr/>
          </a:p>
        </p:txBody>
      </p:sp>
      <p:sp>
        <p:nvSpPr>
          <p:cNvPr id="207" name="Google Shape;207;p6"/>
          <p:cNvSpPr/>
          <p:nvPr/>
        </p:nvSpPr>
        <p:spPr>
          <a:xfrm>
            <a:off x="9738360" y="1874519"/>
            <a:ext cx="173736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6"/>
          <p:cNvSpPr txBox="1"/>
          <p:nvPr/>
        </p:nvSpPr>
        <p:spPr>
          <a:xfrm>
            <a:off x="9774936" y="1984248"/>
            <a:ext cx="1664207" cy="182880"/>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FFFFFF"/>
                </a:solidFill>
                <a:latin typeface="Arial"/>
                <a:ea typeface="Arial"/>
                <a:cs typeface="Arial"/>
                <a:sym typeface="Arial"/>
              </a:rPr>
              <a:t>HZ (AU)</a:t>
            </a:r>
            <a:endParaRPr/>
          </a:p>
        </p:txBody>
      </p:sp>
      <p:sp>
        <p:nvSpPr>
          <p:cNvPr id="209" name="Google Shape;209;p6"/>
          <p:cNvSpPr/>
          <p:nvPr/>
        </p:nvSpPr>
        <p:spPr>
          <a:xfrm>
            <a:off x="685800" y="2395728"/>
            <a:ext cx="155448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6"/>
          <p:cNvSpPr txBox="1"/>
          <p:nvPr/>
        </p:nvSpPr>
        <p:spPr>
          <a:xfrm>
            <a:off x="722376" y="2523744"/>
            <a:ext cx="148132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1F3752"/>
                </a:solidFill>
                <a:latin typeface="Arial"/>
                <a:ea typeface="Arial"/>
                <a:cs typeface="Arial"/>
                <a:sym typeface="Arial"/>
              </a:rPr>
              <a:t>STAC-1</a:t>
            </a:r>
            <a:endParaRPr/>
          </a:p>
        </p:txBody>
      </p:sp>
      <p:sp>
        <p:nvSpPr>
          <p:cNvPr id="211" name="Google Shape;211;p6"/>
          <p:cNvSpPr/>
          <p:nvPr/>
        </p:nvSpPr>
        <p:spPr>
          <a:xfrm>
            <a:off x="2331720" y="2395728"/>
            <a:ext cx="173736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6"/>
          <p:cNvSpPr txBox="1"/>
          <p:nvPr/>
        </p:nvSpPr>
        <p:spPr>
          <a:xfrm>
            <a:off x="2368296" y="2523744"/>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~4 days</a:t>
            </a:r>
            <a:endParaRPr/>
          </a:p>
        </p:txBody>
      </p:sp>
      <p:sp>
        <p:nvSpPr>
          <p:cNvPr id="213" name="Google Shape;213;p6"/>
          <p:cNvSpPr/>
          <p:nvPr/>
        </p:nvSpPr>
        <p:spPr>
          <a:xfrm>
            <a:off x="4160520" y="2395728"/>
            <a:ext cx="173736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6"/>
          <p:cNvSpPr txBox="1"/>
          <p:nvPr/>
        </p:nvSpPr>
        <p:spPr>
          <a:xfrm>
            <a:off x="4197096" y="2523744"/>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0.003</a:t>
            </a:r>
            <a:endParaRPr/>
          </a:p>
        </p:txBody>
      </p:sp>
      <p:sp>
        <p:nvSpPr>
          <p:cNvPr id="215" name="Google Shape;215;p6"/>
          <p:cNvSpPr/>
          <p:nvPr/>
        </p:nvSpPr>
        <p:spPr>
          <a:xfrm>
            <a:off x="5989320" y="2395728"/>
            <a:ext cx="182880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6"/>
          <p:cNvSpPr txBox="1"/>
          <p:nvPr/>
        </p:nvSpPr>
        <p:spPr>
          <a:xfrm>
            <a:off x="6025896" y="2523744"/>
            <a:ext cx="175564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5.98 R⊕</a:t>
            </a:r>
            <a:endParaRPr/>
          </a:p>
        </p:txBody>
      </p:sp>
      <p:sp>
        <p:nvSpPr>
          <p:cNvPr id="217" name="Google Shape;217;p6"/>
          <p:cNvSpPr/>
          <p:nvPr/>
        </p:nvSpPr>
        <p:spPr>
          <a:xfrm>
            <a:off x="7909560" y="2395728"/>
            <a:ext cx="182880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6"/>
          <p:cNvSpPr txBox="1"/>
          <p:nvPr/>
        </p:nvSpPr>
        <p:spPr>
          <a:xfrm>
            <a:off x="7946136" y="2523744"/>
            <a:ext cx="175564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0.0493</a:t>
            </a:r>
            <a:endParaRPr/>
          </a:p>
        </p:txBody>
      </p:sp>
      <p:sp>
        <p:nvSpPr>
          <p:cNvPr id="219" name="Google Shape;219;p6"/>
          <p:cNvSpPr/>
          <p:nvPr/>
        </p:nvSpPr>
        <p:spPr>
          <a:xfrm>
            <a:off x="9738360" y="2395728"/>
            <a:ext cx="173736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6"/>
          <p:cNvSpPr txBox="1"/>
          <p:nvPr/>
        </p:nvSpPr>
        <p:spPr>
          <a:xfrm>
            <a:off x="9774936" y="2523744"/>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1.000</a:t>
            </a:r>
            <a:endParaRPr/>
          </a:p>
        </p:txBody>
      </p:sp>
      <p:sp>
        <p:nvSpPr>
          <p:cNvPr id="221" name="Google Shape;221;p6"/>
          <p:cNvSpPr/>
          <p:nvPr/>
        </p:nvSpPr>
        <p:spPr>
          <a:xfrm>
            <a:off x="685800" y="2962656"/>
            <a:ext cx="1554480" cy="493776"/>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6"/>
          <p:cNvSpPr txBox="1"/>
          <p:nvPr/>
        </p:nvSpPr>
        <p:spPr>
          <a:xfrm>
            <a:off x="722376" y="3090672"/>
            <a:ext cx="148132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1F3752"/>
                </a:solidFill>
                <a:latin typeface="Arial"/>
                <a:ea typeface="Arial"/>
                <a:cs typeface="Arial"/>
                <a:sym typeface="Arial"/>
              </a:rPr>
              <a:t>STAC-2</a:t>
            </a:r>
            <a:endParaRPr/>
          </a:p>
        </p:txBody>
      </p:sp>
      <p:sp>
        <p:nvSpPr>
          <p:cNvPr id="223" name="Google Shape;223;p6"/>
          <p:cNvSpPr/>
          <p:nvPr/>
        </p:nvSpPr>
        <p:spPr>
          <a:xfrm>
            <a:off x="2331720" y="2962656"/>
            <a:ext cx="1737360" cy="493776"/>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6"/>
          <p:cNvSpPr txBox="1"/>
          <p:nvPr/>
        </p:nvSpPr>
        <p:spPr>
          <a:xfrm>
            <a:off x="2368296" y="3090672"/>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80 days</a:t>
            </a:r>
            <a:endParaRPr/>
          </a:p>
        </p:txBody>
      </p:sp>
      <p:sp>
        <p:nvSpPr>
          <p:cNvPr id="225" name="Google Shape;225;p6"/>
          <p:cNvSpPr/>
          <p:nvPr/>
        </p:nvSpPr>
        <p:spPr>
          <a:xfrm>
            <a:off x="4160520" y="2962656"/>
            <a:ext cx="1737360" cy="493776"/>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6"/>
          <p:cNvSpPr txBox="1"/>
          <p:nvPr/>
        </p:nvSpPr>
        <p:spPr>
          <a:xfrm>
            <a:off x="4197096" y="3090672"/>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0.001</a:t>
            </a:r>
            <a:endParaRPr/>
          </a:p>
        </p:txBody>
      </p:sp>
      <p:sp>
        <p:nvSpPr>
          <p:cNvPr id="227" name="Google Shape;227;p6"/>
          <p:cNvSpPr/>
          <p:nvPr/>
        </p:nvSpPr>
        <p:spPr>
          <a:xfrm>
            <a:off x="5989320" y="2962656"/>
            <a:ext cx="1828800" cy="493776"/>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6"/>
          <p:cNvSpPr txBox="1"/>
          <p:nvPr/>
        </p:nvSpPr>
        <p:spPr>
          <a:xfrm>
            <a:off x="6025896" y="3090672"/>
            <a:ext cx="175564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2.76 R⊕</a:t>
            </a:r>
            <a:endParaRPr/>
          </a:p>
        </p:txBody>
      </p:sp>
      <p:sp>
        <p:nvSpPr>
          <p:cNvPr id="229" name="Google Shape;229;p6"/>
          <p:cNvSpPr/>
          <p:nvPr/>
        </p:nvSpPr>
        <p:spPr>
          <a:xfrm>
            <a:off x="7909560" y="2962656"/>
            <a:ext cx="1828800" cy="493776"/>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6"/>
          <p:cNvSpPr txBox="1"/>
          <p:nvPr/>
        </p:nvSpPr>
        <p:spPr>
          <a:xfrm>
            <a:off x="7946136" y="3090672"/>
            <a:ext cx="175564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0.337</a:t>
            </a:r>
            <a:endParaRPr/>
          </a:p>
        </p:txBody>
      </p:sp>
      <p:sp>
        <p:nvSpPr>
          <p:cNvPr id="231" name="Google Shape;231;p6"/>
          <p:cNvSpPr/>
          <p:nvPr/>
        </p:nvSpPr>
        <p:spPr>
          <a:xfrm>
            <a:off x="9738360" y="2962656"/>
            <a:ext cx="1737360" cy="493776"/>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6"/>
          <p:cNvSpPr txBox="1"/>
          <p:nvPr/>
        </p:nvSpPr>
        <p:spPr>
          <a:xfrm>
            <a:off x="9774936" y="3090672"/>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0.632</a:t>
            </a:r>
            <a:endParaRPr/>
          </a:p>
        </p:txBody>
      </p:sp>
      <p:sp>
        <p:nvSpPr>
          <p:cNvPr id="233" name="Google Shape;233;p6"/>
          <p:cNvSpPr/>
          <p:nvPr/>
        </p:nvSpPr>
        <p:spPr>
          <a:xfrm>
            <a:off x="685800" y="3529584"/>
            <a:ext cx="155448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6"/>
          <p:cNvSpPr txBox="1"/>
          <p:nvPr/>
        </p:nvSpPr>
        <p:spPr>
          <a:xfrm>
            <a:off x="722376" y="3657600"/>
            <a:ext cx="148132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1" i="0" lang="en-US" sz="950" u="none" cap="none" strike="noStrike">
                <a:solidFill>
                  <a:srgbClr val="1F3752"/>
                </a:solidFill>
                <a:latin typeface="Arial"/>
                <a:ea typeface="Arial"/>
                <a:cs typeface="Arial"/>
                <a:sym typeface="Arial"/>
              </a:rPr>
              <a:t>STAC-3</a:t>
            </a:r>
            <a:endParaRPr/>
          </a:p>
        </p:txBody>
      </p:sp>
      <p:sp>
        <p:nvSpPr>
          <p:cNvPr id="235" name="Google Shape;235;p6"/>
          <p:cNvSpPr/>
          <p:nvPr/>
        </p:nvSpPr>
        <p:spPr>
          <a:xfrm>
            <a:off x="2331720" y="3529584"/>
            <a:ext cx="173736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6"/>
          <p:cNvSpPr txBox="1"/>
          <p:nvPr/>
        </p:nvSpPr>
        <p:spPr>
          <a:xfrm>
            <a:off x="2368296" y="3657600"/>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~40 days*</a:t>
            </a:r>
            <a:endParaRPr/>
          </a:p>
        </p:txBody>
      </p:sp>
      <p:sp>
        <p:nvSpPr>
          <p:cNvPr id="237" name="Google Shape;237;p6"/>
          <p:cNvSpPr/>
          <p:nvPr/>
        </p:nvSpPr>
        <p:spPr>
          <a:xfrm>
            <a:off x="4160520" y="3529584"/>
            <a:ext cx="173736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6"/>
          <p:cNvSpPr txBox="1"/>
          <p:nvPr/>
        </p:nvSpPr>
        <p:spPr>
          <a:xfrm>
            <a:off x="4197096" y="3657600"/>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0.00088</a:t>
            </a:r>
            <a:endParaRPr/>
          </a:p>
        </p:txBody>
      </p:sp>
      <p:sp>
        <p:nvSpPr>
          <p:cNvPr id="239" name="Google Shape;239;p6"/>
          <p:cNvSpPr/>
          <p:nvPr/>
        </p:nvSpPr>
        <p:spPr>
          <a:xfrm>
            <a:off x="5989320" y="3529584"/>
            <a:ext cx="182880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6"/>
          <p:cNvSpPr txBox="1"/>
          <p:nvPr/>
        </p:nvSpPr>
        <p:spPr>
          <a:xfrm>
            <a:off x="6025896" y="3657600"/>
            <a:ext cx="175564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1.62 R⊕</a:t>
            </a:r>
            <a:endParaRPr/>
          </a:p>
        </p:txBody>
      </p:sp>
      <p:sp>
        <p:nvSpPr>
          <p:cNvPr id="241" name="Google Shape;241;p6"/>
          <p:cNvSpPr/>
          <p:nvPr/>
        </p:nvSpPr>
        <p:spPr>
          <a:xfrm>
            <a:off x="7909560" y="3529584"/>
            <a:ext cx="182880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6"/>
          <p:cNvSpPr txBox="1"/>
          <p:nvPr/>
        </p:nvSpPr>
        <p:spPr>
          <a:xfrm>
            <a:off x="7946136" y="3657600"/>
            <a:ext cx="1755648"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0.182</a:t>
            </a:r>
            <a:endParaRPr/>
          </a:p>
        </p:txBody>
      </p:sp>
      <p:sp>
        <p:nvSpPr>
          <p:cNvPr id="243" name="Google Shape;243;p6"/>
          <p:cNvSpPr/>
          <p:nvPr/>
        </p:nvSpPr>
        <p:spPr>
          <a:xfrm>
            <a:off x="9738360" y="3529584"/>
            <a:ext cx="1737360" cy="493776"/>
          </a:xfrm>
          <a:prstGeom prst="rect">
            <a:avLst/>
          </a:prstGeom>
          <a:solidFill>
            <a:srgbClr val="E8EFF5"/>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6"/>
          <p:cNvSpPr txBox="1"/>
          <p:nvPr/>
        </p:nvSpPr>
        <p:spPr>
          <a:xfrm>
            <a:off x="9774936" y="3657600"/>
            <a:ext cx="1664207" cy="201168"/>
          </a:xfrm>
          <a:prstGeom prst="rect">
            <a:avLst/>
          </a:prstGeom>
          <a:noFill/>
          <a:ln>
            <a:noFill/>
          </a:ln>
        </p:spPr>
        <p:txBody>
          <a:bodyPr anchorCtr="0" anchor="t" bIns="22850" lIns="45700" spcFirstLastPara="1" rIns="45700" wrap="square" tIns="22850">
            <a:spAutoFit/>
          </a:bodyPr>
          <a:lstStyle/>
          <a:p>
            <a:pPr indent="0" lvl="0" marL="0" marR="0" rtl="0" algn="ctr">
              <a:spcBef>
                <a:spcPts val="0"/>
              </a:spcBef>
              <a:spcAft>
                <a:spcPts val="0"/>
              </a:spcAft>
              <a:buNone/>
            </a:pPr>
            <a:r>
              <a:rPr b="0" i="0" lang="en-US" sz="950" u="none" cap="none" strike="noStrike">
                <a:solidFill>
                  <a:srgbClr val="262F3A"/>
                </a:solidFill>
                <a:latin typeface="Arial"/>
                <a:ea typeface="Arial"/>
                <a:cs typeface="Arial"/>
                <a:sym typeface="Arial"/>
              </a:rPr>
              <a:t>0.283</a:t>
            </a:r>
            <a:endParaRPr/>
          </a:p>
        </p:txBody>
      </p:sp>
      <p:sp>
        <p:nvSpPr>
          <p:cNvPr id="245" name="Google Shape;245;p6"/>
          <p:cNvSpPr txBox="1"/>
          <p:nvPr/>
        </p:nvSpPr>
        <p:spPr>
          <a:xfrm>
            <a:off x="777240" y="4343400"/>
            <a:ext cx="10515600" cy="36576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000" u="none" cap="none" strike="noStrike">
                <a:solidFill>
                  <a:srgbClr val="B67930"/>
                </a:solidFill>
                <a:latin typeface="Arial"/>
                <a:ea typeface="Arial"/>
                <a:cs typeface="Arial"/>
                <a:sym typeface="Arial"/>
              </a:rPr>
              <a:t>*STAC-3 shows four 40-day intervals followed by a 30-day interval; the period estimate is not settled.</a:t>
            </a:r>
            <a:endParaRPr/>
          </a:p>
        </p:txBody>
      </p:sp>
      <p:sp>
        <p:nvSpPr>
          <p:cNvPr id="246" name="Google Shape;246;p6"/>
          <p:cNvSpPr/>
          <p:nvPr/>
        </p:nvSpPr>
        <p:spPr>
          <a:xfrm>
            <a:off x="731520" y="4892040"/>
            <a:ext cx="5212080" cy="9144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6"/>
          <p:cNvSpPr txBox="1"/>
          <p:nvPr/>
        </p:nvSpPr>
        <p:spPr>
          <a:xfrm>
            <a:off x="868680" y="5001768"/>
            <a:ext cx="493776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Preliminary conclusion</a:t>
            </a:r>
            <a:endParaRPr/>
          </a:p>
        </p:txBody>
      </p:sp>
      <p:sp>
        <p:nvSpPr>
          <p:cNvPr id="248" name="Google Shape;248;p6"/>
          <p:cNvSpPr txBox="1"/>
          <p:nvPr/>
        </p:nvSpPr>
        <p:spPr>
          <a:xfrm>
            <a:off x="868680" y="5321807"/>
            <a:ext cx="4937760" cy="4297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00" u="none" cap="none" strike="noStrike">
                <a:solidFill>
                  <a:srgbClr val="262F3A"/>
                </a:solidFill>
                <a:latin typeface="Arial"/>
                <a:ea typeface="Arial"/>
                <a:cs typeface="Arial"/>
                <a:sym typeface="Arial"/>
              </a:rPr>
              <a:t>STAC-3 is the most promising candidate in the supplied comparison.</a:t>
            </a:r>
            <a:endParaRPr/>
          </a:p>
        </p:txBody>
      </p:sp>
      <p:sp>
        <p:nvSpPr>
          <p:cNvPr id="249" name="Google Shape;249;p6"/>
          <p:cNvSpPr/>
          <p:nvPr/>
        </p:nvSpPr>
        <p:spPr>
          <a:xfrm>
            <a:off x="6217920" y="4892040"/>
            <a:ext cx="5212080" cy="91440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6"/>
          <p:cNvSpPr txBox="1"/>
          <p:nvPr/>
        </p:nvSpPr>
        <p:spPr>
          <a:xfrm>
            <a:off x="6355080" y="5001768"/>
            <a:ext cx="493776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B67930"/>
                </a:solidFill>
                <a:latin typeface="Arial"/>
                <a:ea typeface="Arial"/>
                <a:cs typeface="Arial"/>
                <a:sym typeface="Arial"/>
              </a:rPr>
              <a:t>Do not overclaim</a:t>
            </a:r>
            <a:endParaRPr/>
          </a:p>
        </p:txBody>
      </p:sp>
      <p:sp>
        <p:nvSpPr>
          <p:cNvPr id="251" name="Google Shape;251;p6"/>
          <p:cNvSpPr txBox="1"/>
          <p:nvPr/>
        </p:nvSpPr>
        <p:spPr>
          <a:xfrm>
            <a:off x="6355080" y="5321807"/>
            <a:ext cx="4937760" cy="4297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00" u="none" cap="none" strike="noStrike">
                <a:solidFill>
                  <a:srgbClr val="262F3A"/>
                </a:solidFill>
                <a:latin typeface="Arial"/>
                <a:ea typeface="Arial"/>
                <a:cs typeface="Arial"/>
                <a:sym typeface="Arial"/>
              </a:rPr>
              <a:t>Being nearer to an estimated habitable zone does not prove liquid water or life.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7"/>
          <p:cNvSpPr txBox="1"/>
          <p:nvPr/>
        </p:nvSpPr>
        <p:spPr>
          <a:xfrm>
            <a:off x="502920" y="201168"/>
            <a:ext cx="7315200" cy="20116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PROJECT OVERVIEW | 07</a:t>
            </a:r>
            <a:endParaRPr/>
          </a:p>
        </p:txBody>
      </p:sp>
      <p:sp>
        <p:nvSpPr>
          <p:cNvPr id="257" name="Google Shape;257;p7"/>
          <p:cNvSpPr txBox="1"/>
          <p:nvPr/>
        </p:nvSpPr>
        <p:spPr>
          <a:xfrm>
            <a:off x="502920" y="502920"/>
            <a:ext cx="11155680" cy="50292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PS3 — What the calculations mean</a:t>
            </a:r>
            <a:endParaRPr/>
          </a:p>
        </p:txBody>
      </p:sp>
      <p:sp>
        <p:nvSpPr>
          <p:cNvPr id="258" name="Google Shape;258;p7"/>
          <p:cNvSpPr txBox="1"/>
          <p:nvPr/>
        </p:nvSpPr>
        <p:spPr>
          <a:xfrm>
            <a:off x="530352" y="1033271"/>
            <a:ext cx="10972800" cy="310896"/>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606C78"/>
                </a:solidFill>
                <a:latin typeface="Arial"/>
                <a:ea typeface="Arial"/>
                <a:cs typeface="Arial"/>
                <a:sym typeface="Arial"/>
              </a:rPr>
              <a:t>Equations connect the brightness signal to approximate physical properties.</a:t>
            </a:r>
            <a:endParaRPr/>
          </a:p>
        </p:txBody>
      </p:sp>
      <p:sp>
        <p:nvSpPr>
          <p:cNvPr id="259" name="Google Shape;259;p7"/>
          <p:cNvSpPr/>
          <p:nvPr/>
        </p:nvSpPr>
        <p:spPr>
          <a:xfrm>
            <a:off x="530352" y="1417320"/>
            <a:ext cx="11064240" cy="13716"/>
          </a:xfrm>
          <a:prstGeom prst="rect">
            <a:avLst/>
          </a:prstGeom>
          <a:solidFill>
            <a:srgbClr val="CCD7E1"/>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7"/>
          <p:cNvSpPr txBox="1"/>
          <p:nvPr/>
        </p:nvSpPr>
        <p:spPr>
          <a:xfrm>
            <a:off x="11155680" y="6519672"/>
            <a:ext cx="411480" cy="164592"/>
          </a:xfrm>
          <a:prstGeom prst="rect">
            <a:avLst/>
          </a:prstGeom>
          <a:noFill/>
          <a:ln>
            <a:noFill/>
          </a:ln>
        </p:spPr>
        <p:txBody>
          <a:bodyPr anchorCtr="0" anchor="t" bIns="22850" lIns="45700" spcFirstLastPara="1" rIns="45700" wrap="square" tIns="22850">
            <a:spAutoFit/>
          </a:bodyPr>
          <a:lstStyle/>
          <a:p>
            <a:pPr indent="0" lvl="0" marL="0" marR="0" rtl="0" algn="r">
              <a:spcBef>
                <a:spcPts val="0"/>
              </a:spcBef>
              <a:spcAft>
                <a:spcPts val="0"/>
              </a:spcAft>
              <a:buNone/>
            </a:pPr>
            <a:r>
              <a:rPr b="1" i="0" lang="en-US" sz="900" u="none" cap="none" strike="noStrike">
                <a:solidFill>
                  <a:srgbClr val="606C78"/>
                </a:solidFill>
                <a:latin typeface="Arial"/>
                <a:ea typeface="Arial"/>
                <a:cs typeface="Arial"/>
                <a:sym typeface="Arial"/>
              </a:rPr>
              <a:t>7</a:t>
            </a:r>
            <a:endParaRPr/>
          </a:p>
        </p:txBody>
      </p:sp>
      <p:sp>
        <p:nvSpPr>
          <p:cNvPr id="261" name="Google Shape;261;p7"/>
          <p:cNvSpPr/>
          <p:nvPr/>
        </p:nvSpPr>
        <p:spPr>
          <a:xfrm>
            <a:off x="640080" y="1828800"/>
            <a:ext cx="3520440" cy="15087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7"/>
          <p:cNvSpPr txBox="1"/>
          <p:nvPr/>
        </p:nvSpPr>
        <p:spPr>
          <a:xfrm>
            <a:off x="777240" y="1938528"/>
            <a:ext cx="324612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Transit depth</a:t>
            </a:r>
            <a:endParaRPr/>
          </a:p>
        </p:txBody>
      </p:sp>
      <p:sp>
        <p:nvSpPr>
          <p:cNvPr id="263" name="Google Shape;263;p7"/>
          <p:cNvSpPr txBox="1"/>
          <p:nvPr/>
        </p:nvSpPr>
        <p:spPr>
          <a:xfrm>
            <a:off x="777240" y="2258568"/>
            <a:ext cx="3246120" cy="10241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δ = (Fnormal − Ftransit) / Fnormal</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Brightness dip as a fraction of normal brightness.</a:t>
            </a:r>
            <a:endParaRPr/>
          </a:p>
        </p:txBody>
      </p:sp>
      <p:sp>
        <p:nvSpPr>
          <p:cNvPr id="264" name="Google Shape;264;p7"/>
          <p:cNvSpPr/>
          <p:nvPr/>
        </p:nvSpPr>
        <p:spPr>
          <a:xfrm>
            <a:off x="4343400" y="1828800"/>
            <a:ext cx="3520440" cy="15087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7"/>
          <p:cNvSpPr txBox="1"/>
          <p:nvPr/>
        </p:nvSpPr>
        <p:spPr>
          <a:xfrm>
            <a:off x="4480560" y="1938528"/>
            <a:ext cx="324612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Planet radius</a:t>
            </a:r>
            <a:endParaRPr/>
          </a:p>
        </p:txBody>
      </p:sp>
      <p:sp>
        <p:nvSpPr>
          <p:cNvPr id="266" name="Google Shape;266;p7"/>
          <p:cNvSpPr txBox="1"/>
          <p:nvPr/>
        </p:nvSpPr>
        <p:spPr>
          <a:xfrm>
            <a:off x="4480560" y="2258568"/>
            <a:ext cx="3246120" cy="10241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δ ≈ (rp / Rstar)²</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So rp ≈ Rstar × √δ, using the supplied stellar radius.</a:t>
            </a:r>
            <a:endParaRPr/>
          </a:p>
        </p:txBody>
      </p:sp>
      <p:sp>
        <p:nvSpPr>
          <p:cNvPr id="267" name="Google Shape;267;p7"/>
          <p:cNvSpPr/>
          <p:nvPr/>
        </p:nvSpPr>
        <p:spPr>
          <a:xfrm>
            <a:off x="8046720" y="1828800"/>
            <a:ext cx="3520440" cy="15087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7"/>
          <p:cNvSpPr txBox="1"/>
          <p:nvPr/>
        </p:nvSpPr>
        <p:spPr>
          <a:xfrm>
            <a:off x="8183880" y="1938528"/>
            <a:ext cx="324612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B67930"/>
                </a:solidFill>
                <a:latin typeface="Arial"/>
                <a:ea typeface="Arial"/>
                <a:cs typeface="Arial"/>
                <a:sym typeface="Arial"/>
              </a:rPr>
              <a:t>Orbital distance</a:t>
            </a:r>
            <a:endParaRPr/>
          </a:p>
        </p:txBody>
      </p:sp>
      <p:sp>
        <p:nvSpPr>
          <p:cNvPr id="269" name="Google Shape;269;p7"/>
          <p:cNvSpPr txBox="1"/>
          <p:nvPr/>
        </p:nvSpPr>
        <p:spPr>
          <a:xfrm>
            <a:off x="8183880" y="2258568"/>
            <a:ext cx="3246120" cy="10241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Kepler's third law: a³ = P²M</a:t>
            </a:r>
            <a:endParaRPr/>
          </a:p>
          <a:p>
            <a:pPr indent="0" lvl="0" marL="0" marR="0" rtl="0" algn="l">
              <a:spcBef>
                <a:spcPts val="300"/>
              </a:spcBef>
              <a:spcAft>
                <a:spcPts val="0"/>
              </a:spcAft>
              <a:buNone/>
            </a:pPr>
            <a:r>
              <a:t/>
            </a:r>
            <a:endParaRPr b="0" i="0" sz="1050" u="none" cap="none" strike="noStrike">
              <a:solidFill>
                <a:srgbClr val="262F3A"/>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62F3A"/>
                </a:solidFill>
                <a:latin typeface="Arial"/>
                <a:ea typeface="Arial"/>
                <a:cs typeface="Arial"/>
                <a:sym typeface="Arial"/>
              </a:rPr>
              <a:t>Use period in years and stellar mass in solar masses.</a:t>
            </a:r>
            <a:endParaRPr/>
          </a:p>
        </p:txBody>
      </p:sp>
      <p:sp>
        <p:nvSpPr>
          <p:cNvPr id="270" name="Google Shape;270;p7"/>
          <p:cNvSpPr/>
          <p:nvPr/>
        </p:nvSpPr>
        <p:spPr>
          <a:xfrm>
            <a:off x="640080" y="3749039"/>
            <a:ext cx="5303520" cy="15087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7"/>
          <p:cNvSpPr txBox="1"/>
          <p:nvPr/>
        </p:nvSpPr>
        <p:spPr>
          <a:xfrm>
            <a:off x="777240" y="3858768"/>
            <a:ext cx="502920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What to observe next</a:t>
            </a:r>
            <a:endParaRPr/>
          </a:p>
        </p:txBody>
      </p:sp>
      <p:sp>
        <p:nvSpPr>
          <p:cNvPr id="272" name="Google Shape;272;p7"/>
          <p:cNvSpPr txBox="1"/>
          <p:nvPr/>
        </p:nvSpPr>
        <p:spPr>
          <a:xfrm>
            <a:off x="777240" y="4178807"/>
            <a:ext cx="5029200" cy="10241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Collect more frequent observations over several predicted transits. Check whether dips repeat consistently and measure their shape.</a:t>
            </a:r>
            <a:endParaRPr/>
          </a:p>
        </p:txBody>
      </p:sp>
      <p:sp>
        <p:nvSpPr>
          <p:cNvPr id="273" name="Google Shape;273;p7"/>
          <p:cNvSpPr/>
          <p:nvPr/>
        </p:nvSpPr>
        <p:spPr>
          <a:xfrm>
            <a:off x="6217920" y="3749039"/>
            <a:ext cx="5349240" cy="1508760"/>
          </a:xfrm>
          <a:prstGeom prst="rect">
            <a:avLst/>
          </a:prstGeom>
          <a:solidFill>
            <a:srgbClr val="F4F7FA"/>
          </a:solidFill>
          <a:ln cap="flat" cmpd="sng" w="10150">
            <a:solidFill>
              <a:srgbClr val="CCD7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7"/>
          <p:cNvSpPr txBox="1"/>
          <p:nvPr/>
        </p:nvSpPr>
        <p:spPr>
          <a:xfrm>
            <a:off x="6355080" y="3858768"/>
            <a:ext cx="5074920" cy="246888"/>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1" i="0" lang="en-US" sz="1200" u="none" cap="none" strike="noStrike">
                <a:solidFill>
                  <a:srgbClr val="447E60"/>
                </a:solidFill>
                <a:latin typeface="Arial"/>
                <a:ea typeface="Arial"/>
                <a:cs typeface="Arial"/>
                <a:sym typeface="Arial"/>
              </a:rPr>
              <a:t>Further checks</a:t>
            </a:r>
            <a:endParaRPr/>
          </a:p>
        </p:txBody>
      </p:sp>
      <p:sp>
        <p:nvSpPr>
          <p:cNvPr id="275" name="Google Shape;275;p7"/>
          <p:cNvSpPr txBox="1"/>
          <p:nvPr/>
        </p:nvSpPr>
        <p:spPr>
          <a:xfrm>
            <a:off x="6355080" y="4178807"/>
            <a:ext cx="5074920" cy="1024127"/>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rPr b="0" i="0" lang="en-US" sz="1050" u="none" cap="none" strike="noStrike">
                <a:solidFill>
                  <a:srgbClr val="262F3A"/>
                </a:solidFill>
                <a:latin typeface="Arial"/>
                <a:ea typeface="Arial"/>
                <a:cs typeface="Arial"/>
                <a:sym typeface="Arial"/>
              </a:rPr>
              <a:t>Check instrumental effects and stellar variability; obtain more information about the star and planet atmosphere before making habitability claims.</a:t>
            </a:r>
            <a:endParaRPr/>
          </a:p>
        </p:txBody>
      </p:sp>
      <p:sp>
        <p:nvSpPr>
          <p:cNvPr id="276" name="Google Shape;276;p7"/>
          <p:cNvSpPr txBox="1"/>
          <p:nvPr/>
        </p:nvSpPr>
        <p:spPr>
          <a:xfrm>
            <a:off x="731520" y="5715000"/>
            <a:ext cx="10698600" cy="261600"/>
          </a:xfrm>
          <a:prstGeom prst="rect">
            <a:avLst/>
          </a:prstGeom>
          <a:noFill/>
          <a:ln>
            <a:noFill/>
          </a:ln>
        </p:spPr>
        <p:txBody>
          <a:bodyPr anchorCtr="0" anchor="t" bIns="22850" lIns="45700" spcFirstLastPara="1" rIns="45700" wrap="square" tIns="22850">
            <a:spAutoFit/>
          </a:bodyPr>
          <a:lstStyle/>
          <a:p>
            <a:pPr indent="0" lvl="0" marL="0" marR="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h708fe01af75ac3ab_0_115" title="fly now.jpg"/>
          <p:cNvPicPr preferRelativeResize="0"/>
          <p:nvPr/>
        </p:nvPicPr>
        <p:blipFill>
          <a:blip r:embed="rId3">
            <a:alphaModFix/>
          </a:blip>
          <a:stretch>
            <a:fillRect/>
          </a:stretch>
        </p:blipFill>
        <p:spPr>
          <a:xfrm>
            <a:off x="1539150" y="1518900"/>
            <a:ext cx="9619675" cy="5204750"/>
          </a:xfrm>
          <a:prstGeom prst="rect">
            <a:avLst/>
          </a:prstGeom>
          <a:noFill/>
          <a:ln>
            <a:noFill/>
          </a:ln>
        </p:spPr>
      </p:pic>
      <p:sp>
        <p:nvSpPr>
          <p:cNvPr id="282" name="Google Shape;282;h708fe01af75ac3ab_0_115"/>
          <p:cNvSpPr txBox="1"/>
          <p:nvPr/>
        </p:nvSpPr>
        <p:spPr>
          <a:xfrm>
            <a:off x="1539150" y="405050"/>
            <a:ext cx="9336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solidFill>
                  <a:schemeClr val="dk1"/>
                </a:solidFill>
                <a:latin typeface="Proxima Nova"/>
                <a:ea typeface="Proxima Nova"/>
                <a:cs typeface="Proxima Nova"/>
                <a:sym typeface="Proxima Nova"/>
              </a:rPr>
              <a:t>Calculations so tough that rewatching star war </a:t>
            </a:r>
            <a:r>
              <a:rPr lang="en-US" sz="2700">
                <a:solidFill>
                  <a:schemeClr val="dk1"/>
                </a:solidFill>
                <a:latin typeface="Proxima Nova"/>
                <a:ea typeface="Proxima Nova"/>
                <a:cs typeface="Proxima Nova"/>
                <a:sym typeface="Proxima Nova"/>
              </a:rPr>
              <a:t>sequels</a:t>
            </a:r>
            <a:r>
              <a:rPr lang="en-US" sz="2700">
                <a:solidFill>
                  <a:schemeClr val="dk1"/>
                </a:solidFill>
                <a:latin typeface="Proxima Nova"/>
                <a:ea typeface="Proxima Nova"/>
                <a:cs typeface="Proxima Nova"/>
                <a:sym typeface="Proxima Nova"/>
              </a:rPr>
              <a:t> seems like a better option….</a:t>
            </a:r>
            <a:endParaRPr sz="2700">
              <a:solidFill>
                <a:schemeClr val="dk1"/>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6" name="Shape 286"/>
        <p:cNvGrpSpPr/>
        <p:nvPr/>
      </p:nvGrpSpPr>
      <p:grpSpPr>
        <a:xfrm>
          <a:off x="0" y="0"/>
          <a:ext cx="0" cy="0"/>
          <a:chOff x="0" y="0"/>
          <a:chExt cx="0" cy="0"/>
        </a:xfrm>
      </p:grpSpPr>
      <p:sp>
        <p:nvSpPr>
          <p:cNvPr id="287" name="Google Shape;287;p9"/>
          <p:cNvSpPr txBox="1"/>
          <p:nvPr/>
        </p:nvSpPr>
        <p:spPr>
          <a:xfrm>
            <a:off x="777240" y="1508760"/>
            <a:ext cx="97842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88" name="Google Shape;288;p9"/>
          <p:cNvSpPr txBox="1"/>
          <p:nvPr/>
        </p:nvSpPr>
        <p:spPr>
          <a:xfrm>
            <a:off x="804672" y="2743200"/>
            <a:ext cx="87783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FF0000"/>
              </a:buClr>
              <a:buSzPts val="1800"/>
              <a:buFont typeface="Calibri"/>
              <a:buNone/>
            </a:pPr>
            <a:r>
              <a:rPr b="1" i="0" lang="en-US" sz="1800" u="none" cap="none" strike="noStrike">
                <a:solidFill>
                  <a:srgbClr val="FF0000"/>
                </a:solidFill>
                <a:highlight>
                  <a:schemeClr val="dk1"/>
                </a:highlight>
                <a:latin typeface="Calibri"/>
                <a:ea typeface="Calibri"/>
                <a:cs typeface="Calibri"/>
                <a:sym typeface="Calibri"/>
              </a:rPr>
              <a:t>This is where the fun begins…</a:t>
            </a:r>
            <a:endParaRPr b="1" i="0" sz="1800" u="none" cap="none" strike="noStrike">
              <a:solidFill>
                <a:srgbClr val="FF0000"/>
              </a:solidFill>
              <a:highlight>
                <a:schemeClr val="dk1"/>
              </a:highlight>
              <a:latin typeface="Calibri"/>
              <a:ea typeface="Calibri"/>
              <a:cs typeface="Calibri"/>
              <a:sym typeface="Calibri"/>
            </a:endParaRPr>
          </a:p>
        </p:txBody>
      </p:sp>
      <p:sp>
        <p:nvSpPr>
          <p:cNvPr id="289" name="Google Shape;289;p9"/>
          <p:cNvSpPr txBox="1"/>
          <p:nvPr/>
        </p:nvSpPr>
        <p:spPr>
          <a:xfrm>
            <a:off x="804672" y="3520440"/>
            <a:ext cx="8961000" cy="898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800"/>
              <a:buFont typeface="Calibri"/>
              <a:buNone/>
            </a:pPr>
            <a:r>
              <a:rPr b="0" i="0" lang="en-US" sz="1800" u="none" cap="none" strike="noStrike">
                <a:solidFill>
                  <a:srgbClr val="626E7A"/>
                </a:solidFill>
                <a:latin typeface="Calibri"/>
                <a:ea typeface="Calibri"/>
                <a:cs typeface="Calibri"/>
                <a:sym typeface="Calibri"/>
              </a:rPr>
              <a:t>Governments of the world have come together to create a massive deep space habitat and industrial complex at Earth-Sun L4 as a stepping stone to making humanity truly space faring and are looking for partners and suppliers for the same….</a:t>
            </a:r>
            <a:endParaRPr b="0" i="0" sz="1800" u="none" cap="none" strike="noStrike">
              <a:solidFill>
                <a:srgbClr val="626E7A"/>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b="0" i="0" sz="1800" u="none" cap="none" strike="noStrike">
              <a:solidFill>
                <a:srgbClr val="626E7A"/>
              </a:solidFill>
              <a:latin typeface="Calibri"/>
              <a:ea typeface="Calibri"/>
              <a:cs typeface="Calibri"/>
              <a:sym typeface="Calibri"/>
            </a:endParaRPr>
          </a:p>
        </p:txBody>
      </p:sp>
      <p:sp>
        <p:nvSpPr>
          <p:cNvPr id="290" name="Google Shape;290;p9"/>
          <p:cNvSpPr/>
          <p:nvPr/>
        </p:nvSpPr>
        <p:spPr>
          <a:xfrm>
            <a:off x="804672" y="4663440"/>
            <a:ext cx="4754880" cy="36576"/>
          </a:xfrm>
          <a:prstGeom prst="rect">
            <a:avLst/>
          </a:prstGeom>
          <a:solidFill>
            <a:srgbClr val="3E6897"/>
          </a:solidFill>
          <a:ln cap="flat" cmpd="sng" w="10150">
            <a:solidFill>
              <a:srgbClr val="3E689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1" name="Google Shape;291;p9"/>
          <p:cNvSpPr txBox="1"/>
          <p:nvPr/>
        </p:nvSpPr>
        <p:spPr>
          <a:xfrm>
            <a:off x="804672" y="4983480"/>
            <a:ext cx="36576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1400"/>
              <a:buFont typeface="Arial"/>
              <a:buNone/>
            </a:pPr>
            <a:r>
              <a:rPr b="1" i="0" lang="en-US" sz="1400" u="none" cap="none" strike="noStrike">
                <a:solidFill>
                  <a:srgbClr val="1F3752"/>
                </a:solidFill>
                <a:latin typeface="Arial"/>
                <a:ea typeface="Arial"/>
                <a:cs typeface="Arial"/>
                <a:sym typeface="Arial"/>
              </a:rPr>
              <a:t>Team: AKS-3   (Hello there!)</a:t>
            </a:r>
            <a:endParaRPr b="0" i="0" sz="1800" u="none" cap="none" strike="noStrike">
              <a:solidFill>
                <a:schemeClr val="dk1"/>
              </a:solidFill>
              <a:latin typeface="Calibri"/>
              <a:ea typeface="Calibri"/>
              <a:cs typeface="Calibri"/>
              <a:sym typeface="Calibri"/>
            </a:endParaRPr>
          </a:p>
        </p:txBody>
      </p:sp>
      <p:sp>
        <p:nvSpPr>
          <p:cNvPr id="292" name="Google Shape;292;p9"/>
          <p:cNvSpPr txBox="1"/>
          <p:nvPr/>
        </p:nvSpPr>
        <p:spPr>
          <a:xfrm>
            <a:off x="804672" y="6126480"/>
            <a:ext cx="91440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3" name="Google Shape;293;p9"/>
          <p:cNvSpPr txBox="1"/>
          <p:nvPr/>
        </p:nvSpPr>
        <p:spPr>
          <a:xfrm>
            <a:off x="1368278" y="1357850"/>
            <a:ext cx="8407800" cy="1077300"/>
          </a:xfrm>
          <a:prstGeom prst="rect">
            <a:avLst/>
          </a:prstGeom>
          <a:noFill/>
          <a:ln>
            <a:noFill/>
          </a:ln>
        </p:spPr>
        <p:txBody>
          <a:bodyPr anchorCtr="0" anchor="t" bIns="91425" lIns="91425" spcFirstLastPara="1" rIns="91425" wrap="square" tIns="91425">
            <a:spAutoFit/>
          </a:bodyPr>
          <a:lstStyle/>
          <a:p>
            <a:pPr indent="0" lvl="0" marL="0" marR="0" rtl="0" algn="ctr">
              <a:spcBef>
                <a:spcPts val="0"/>
              </a:spcBef>
              <a:spcAft>
                <a:spcPts val="0"/>
              </a:spcAft>
              <a:buClr>
                <a:schemeClr val="lt1"/>
              </a:buClr>
              <a:buSzPts val="2900"/>
              <a:buFont typeface="Average"/>
              <a:buNone/>
            </a:pPr>
            <a:r>
              <a:rPr b="1" i="0" lang="en-US" sz="2900" u="none" cap="none" strike="noStrike">
                <a:solidFill>
                  <a:schemeClr val="dk1"/>
                </a:solidFill>
                <a:latin typeface="Average"/>
                <a:ea typeface="Average"/>
                <a:cs typeface="Average"/>
                <a:sym typeface="Average"/>
              </a:rPr>
              <a:t>AKS-3 Presents</a:t>
            </a:r>
            <a:endParaRPr b="1" i="0" sz="2900" u="none" cap="none" strike="noStrike">
              <a:solidFill>
                <a:schemeClr val="dk1"/>
              </a:solidFill>
              <a:latin typeface="Average"/>
              <a:ea typeface="Average"/>
              <a:cs typeface="Average"/>
              <a:sym typeface="Average"/>
            </a:endParaRPr>
          </a:p>
          <a:p>
            <a:pPr indent="0" lvl="0" marL="0" marR="0" rtl="0" algn="ctr">
              <a:spcBef>
                <a:spcPts val="0"/>
              </a:spcBef>
              <a:spcAft>
                <a:spcPts val="0"/>
              </a:spcAft>
              <a:buClr>
                <a:schemeClr val="lt1"/>
              </a:buClr>
              <a:buSzPts val="2900"/>
              <a:buFont typeface="Average"/>
              <a:buNone/>
            </a:pPr>
            <a:r>
              <a:rPr b="1" i="0" lang="en-US" sz="2900" u="none" cap="none" strike="noStrike">
                <a:solidFill>
                  <a:schemeClr val="dk1"/>
                </a:solidFill>
                <a:latin typeface="Average"/>
                <a:ea typeface="Average"/>
                <a:cs typeface="Average"/>
                <a:sym typeface="Average"/>
              </a:rPr>
              <a:t>Mining the Asteroids with no propellant needed</a:t>
            </a:r>
            <a:endParaRPr b="1" i="0" sz="2900" u="none" cap="none" strike="noStrike">
              <a:solidFill>
                <a:schemeClr val="dk1"/>
              </a:solidFill>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7" name="Shape 297"/>
        <p:cNvGrpSpPr/>
        <p:nvPr/>
      </p:nvGrpSpPr>
      <p:grpSpPr>
        <a:xfrm>
          <a:off x="0" y="0"/>
          <a:ext cx="0" cy="0"/>
          <a:chOff x="0" y="0"/>
          <a:chExt cx="0" cy="0"/>
        </a:xfrm>
      </p:grpSpPr>
      <p:pic>
        <p:nvPicPr>
          <p:cNvPr id="298" name="Google Shape;298;p10" title="IMG_20261025_033008.jpg"/>
          <p:cNvPicPr preferRelativeResize="0"/>
          <p:nvPr/>
        </p:nvPicPr>
        <p:blipFill rotWithShape="1">
          <a:blip r:embed="rId3">
            <a:alphaModFix/>
          </a:blip>
          <a:srcRect b="0" l="0" r="0" t="0"/>
          <a:stretch/>
        </p:blipFill>
        <p:spPr>
          <a:xfrm>
            <a:off x="152400" y="0"/>
            <a:ext cx="12039276" cy="67056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02" name="Shape 302"/>
        <p:cNvGrpSpPr/>
        <p:nvPr/>
      </p:nvGrpSpPr>
      <p:grpSpPr>
        <a:xfrm>
          <a:off x="0" y="0"/>
          <a:ext cx="0" cy="0"/>
          <a:chOff x="0" y="0"/>
          <a:chExt cx="0" cy="0"/>
        </a:xfrm>
      </p:grpSpPr>
      <p:sp>
        <p:nvSpPr>
          <p:cNvPr id="303" name="Google Shape;303;p11"/>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900"/>
              <a:buFont typeface="Arial"/>
              <a:buNone/>
            </a:pPr>
            <a:r>
              <a:rPr b="1" i="0" lang="en-US" sz="900" u="none" cap="none" strike="noStrike">
                <a:solidFill>
                  <a:srgbClr val="3E6897"/>
                </a:solidFill>
                <a:latin typeface="Arial"/>
                <a:ea typeface="Arial"/>
                <a:cs typeface="Arial"/>
                <a:sym typeface="Arial"/>
              </a:rPr>
              <a:t>AKS-3  |  STAC WARS • PS 4  |  03</a:t>
            </a:r>
            <a:endParaRPr b="0" i="0" sz="1800" u="none" cap="none" strike="noStrike">
              <a:solidFill>
                <a:schemeClr val="dk1"/>
              </a:solidFill>
              <a:latin typeface="Calibri"/>
              <a:ea typeface="Calibri"/>
              <a:cs typeface="Calibri"/>
              <a:sym typeface="Calibri"/>
            </a:endParaRPr>
          </a:p>
        </p:txBody>
      </p:sp>
      <p:sp>
        <p:nvSpPr>
          <p:cNvPr id="304" name="Google Shape;304;p11"/>
          <p:cNvSpPr txBox="1"/>
          <p:nvPr/>
        </p:nvSpPr>
        <p:spPr>
          <a:xfrm>
            <a:off x="502920" y="530352"/>
            <a:ext cx="11064240" cy="5029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2400"/>
              <a:buFont typeface="Arial"/>
              <a:buNone/>
            </a:pPr>
            <a:r>
              <a:rPr b="1" i="0" lang="en-US" sz="2400" u="none" cap="none" strike="noStrike">
                <a:solidFill>
                  <a:srgbClr val="1F3752"/>
                </a:solidFill>
                <a:latin typeface="Arial"/>
                <a:ea typeface="Arial"/>
                <a:cs typeface="Arial"/>
                <a:sym typeface="Arial"/>
              </a:rPr>
              <a:t>How it operates</a:t>
            </a:r>
            <a:endParaRPr b="0" i="0" sz="1800" u="none" cap="none" strike="noStrike">
              <a:solidFill>
                <a:schemeClr val="dk1"/>
              </a:solidFill>
              <a:latin typeface="Calibri"/>
              <a:ea typeface="Calibri"/>
              <a:cs typeface="Calibri"/>
              <a:sym typeface="Calibri"/>
            </a:endParaRPr>
          </a:p>
        </p:txBody>
      </p:sp>
      <p:sp>
        <p:nvSpPr>
          <p:cNvPr id="305" name="Google Shape;305;p11"/>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6" name="Google Shape;306;p11"/>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Clr>
                <a:srgbClr val="626E7A"/>
              </a:buClr>
              <a:buSzPts val="900"/>
              <a:buFont typeface="Arial"/>
              <a:buNone/>
            </a:pPr>
            <a:r>
              <a:rPr b="1" i="0" lang="en-US" sz="900" u="none" cap="none" strike="noStrike">
                <a:solidFill>
                  <a:srgbClr val="626E7A"/>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307" name="Google Shape;307;p11"/>
          <p:cNvSpPr/>
          <p:nvPr/>
        </p:nvSpPr>
        <p:spPr>
          <a:xfrm>
            <a:off x="594360" y="1828800"/>
            <a:ext cx="534924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8" name="Google Shape;308;p11"/>
          <p:cNvSpPr txBox="1"/>
          <p:nvPr/>
        </p:nvSpPr>
        <p:spPr>
          <a:xfrm>
            <a:off x="740664" y="1938528"/>
            <a:ext cx="5056631"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1. Scout and anchor</a:t>
            </a:r>
            <a:endParaRPr b="0" i="0" sz="1800" u="none" cap="none" strike="noStrike">
              <a:solidFill>
                <a:schemeClr val="dk1"/>
              </a:solidFill>
              <a:latin typeface="Calibri"/>
              <a:ea typeface="Calibri"/>
              <a:cs typeface="Calibri"/>
              <a:sym typeface="Calibri"/>
            </a:endParaRPr>
          </a:p>
        </p:txBody>
      </p:sp>
      <p:sp>
        <p:nvSpPr>
          <p:cNvPr id="309" name="Google Shape;309;p11"/>
          <p:cNvSpPr txBox="1"/>
          <p:nvPr/>
        </p:nvSpPr>
        <p:spPr>
          <a:xfrm>
            <a:off x="740664" y="2267712"/>
            <a:ext cx="5056500" cy="360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Survey the targ</a:t>
            </a:r>
            <a:r>
              <a:rPr b="0" i="0" lang="en-US" sz="1050" u="none" cap="none" strike="noStrike">
                <a:solidFill>
                  <a:srgbClr val="232B34"/>
                </a:solidFill>
                <a:latin typeface="Calibri"/>
                <a:ea typeface="Calibri"/>
                <a:cs typeface="Calibri"/>
                <a:sym typeface="Calibri"/>
              </a:rPr>
              <a:t>e</a:t>
            </a:r>
            <a:r>
              <a:rPr b="0" i="0" lang="en-US" sz="1050" u="none" cap="none" strike="noStrike">
                <a:solidFill>
                  <a:srgbClr val="232B34"/>
                </a:solidFill>
                <a:latin typeface="Arial"/>
                <a:ea typeface="Arial"/>
                <a:cs typeface="Arial"/>
                <a:sym typeface="Arial"/>
              </a:rPr>
              <a:t>t</a:t>
            </a:r>
            <a:r>
              <a:rPr b="0" i="0" lang="en-US" sz="1050" u="none" cap="none" strike="noStrike">
                <a:solidFill>
                  <a:srgbClr val="232B34"/>
                </a:solidFill>
                <a:latin typeface="Calibri"/>
                <a:ea typeface="Calibri"/>
                <a:cs typeface="Calibri"/>
                <a:sym typeface="Calibri"/>
              </a:rPr>
              <a:t> near earth asteroid</a:t>
            </a:r>
            <a:r>
              <a:rPr b="0" i="0" lang="en-US" sz="1050" u="none" cap="none" strike="noStrike">
                <a:solidFill>
                  <a:srgbClr val="232B34"/>
                </a:solidFill>
                <a:latin typeface="Arial"/>
                <a:ea typeface="Arial"/>
                <a:cs typeface="Arial"/>
                <a:sym typeface="Arial"/>
              </a:rPr>
              <a:t>; approach at walking pace. Drill into solid rock or use a net/mesh for rubble piles</a:t>
            </a:r>
            <a:r>
              <a:rPr b="0" i="0" lang="en-US" sz="1050" u="none" cap="none" strike="noStrike">
                <a:solidFill>
                  <a:srgbClr val="232B3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10" name="Google Shape;310;p11"/>
          <p:cNvSpPr/>
          <p:nvPr/>
        </p:nvSpPr>
        <p:spPr>
          <a:xfrm>
            <a:off x="594360" y="2926080"/>
            <a:ext cx="534924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1" name="Google Shape;311;p11"/>
          <p:cNvSpPr txBox="1"/>
          <p:nvPr/>
        </p:nvSpPr>
        <p:spPr>
          <a:xfrm>
            <a:off x="740664" y="3035808"/>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2. </a:t>
            </a:r>
            <a:r>
              <a:rPr b="1" i="0" lang="en-US" sz="1200" u="none" cap="none" strike="noStrike">
                <a:solidFill>
                  <a:srgbClr val="3E6897"/>
                </a:solidFill>
                <a:latin typeface="Calibri"/>
                <a:ea typeface="Calibri"/>
                <a:cs typeface="Calibri"/>
                <a:sym typeface="Calibri"/>
              </a:rPr>
              <a:t>Mining and refining</a:t>
            </a:r>
            <a:endParaRPr b="0" i="0" sz="1800" u="none" cap="none" strike="noStrike">
              <a:solidFill>
                <a:schemeClr val="dk1"/>
              </a:solidFill>
              <a:latin typeface="Calibri"/>
              <a:ea typeface="Calibri"/>
              <a:cs typeface="Calibri"/>
              <a:sym typeface="Calibri"/>
            </a:endParaRPr>
          </a:p>
        </p:txBody>
      </p:sp>
      <p:sp>
        <p:nvSpPr>
          <p:cNvPr id="312" name="Google Shape;312;p11"/>
          <p:cNvSpPr txBox="1"/>
          <p:nvPr/>
        </p:nvSpPr>
        <p:spPr>
          <a:xfrm>
            <a:off x="740664" y="3364992"/>
            <a:ext cx="5056500" cy="360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robotic arms dig up rock and crush it. solar powered furnace separates metal from slag</a:t>
            </a:r>
            <a:endParaRPr b="0" i="0" sz="1800" u="none" cap="none" strike="noStrike">
              <a:solidFill>
                <a:schemeClr val="dk1"/>
              </a:solidFill>
              <a:latin typeface="Calibri"/>
              <a:ea typeface="Calibri"/>
              <a:cs typeface="Calibri"/>
              <a:sym typeface="Calibri"/>
            </a:endParaRPr>
          </a:p>
        </p:txBody>
      </p:sp>
      <p:sp>
        <p:nvSpPr>
          <p:cNvPr id="313" name="Google Shape;313;p11"/>
          <p:cNvSpPr/>
          <p:nvPr/>
        </p:nvSpPr>
        <p:spPr>
          <a:xfrm>
            <a:off x="594360" y="4023360"/>
            <a:ext cx="534924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4" name="Google Shape;314;p11"/>
          <p:cNvSpPr txBox="1"/>
          <p:nvPr/>
        </p:nvSpPr>
        <p:spPr>
          <a:xfrm>
            <a:off x="740664" y="4133088"/>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Calibri"/>
              <a:buNone/>
            </a:pPr>
            <a:r>
              <a:rPr b="1" i="0" lang="en-US" sz="1200" u="none" cap="none" strike="noStrike">
                <a:solidFill>
                  <a:srgbClr val="3E6897"/>
                </a:solidFill>
                <a:latin typeface="Calibri"/>
                <a:ea typeface="Calibri"/>
                <a:cs typeface="Calibri"/>
                <a:sym typeface="Calibri"/>
              </a:rPr>
              <a:t>3. launch and catch</a:t>
            </a:r>
            <a:endParaRPr b="0" i="0" sz="1800" u="none" cap="none" strike="noStrike">
              <a:solidFill>
                <a:schemeClr val="dk1"/>
              </a:solidFill>
              <a:latin typeface="Calibri"/>
              <a:ea typeface="Calibri"/>
              <a:cs typeface="Calibri"/>
              <a:sym typeface="Calibri"/>
            </a:endParaRPr>
          </a:p>
        </p:txBody>
      </p:sp>
      <p:sp>
        <p:nvSpPr>
          <p:cNvPr id="315" name="Google Shape;315;p11"/>
          <p:cNvSpPr txBox="1"/>
          <p:nvPr/>
        </p:nvSpPr>
        <p:spPr>
          <a:xfrm>
            <a:off x="740664" y="4462272"/>
            <a:ext cx="5056500" cy="5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the solar powered arms throw containers containing metal and slag towards the destination where robotic arms catch it using electromagnets after they are moving at little relative velocity</a:t>
            </a:r>
            <a:endParaRPr b="0" i="0" sz="1800" u="none" cap="none" strike="noStrike">
              <a:solidFill>
                <a:schemeClr val="dk1"/>
              </a:solidFill>
              <a:latin typeface="Calibri"/>
              <a:ea typeface="Calibri"/>
              <a:cs typeface="Calibri"/>
              <a:sym typeface="Calibri"/>
            </a:endParaRPr>
          </a:p>
        </p:txBody>
      </p:sp>
      <p:sp>
        <p:nvSpPr>
          <p:cNvPr id="316" name="Google Shape;316;p11"/>
          <p:cNvSpPr/>
          <p:nvPr/>
        </p:nvSpPr>
        <p:spPr>
          <a:xfrm>
            <a:off x="6217920" y="1828800"/>
            <a:ext cx="5349240" cy="132588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7" name="Google Shape;317;p11"/>
          <p:cNvSpPr txBox="1"/>
          <p:nvPr/>
        </p:nvSpPr>
        <p:spPr>
          <a:xfrm>
            <a:off x="6364225" y="1904199"/>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BE7D32"/>
              </a:buClr>
              <a:buSzPts val="1200"/>
              <a:buFont typeface="Calibri"/>
              <a:buNone/>
            </a:pPr>
            <a:r>
              <a:rPr b="1" i="0" lang="en-US" sz="1200" u="none" cap="none" strike="noStrike">
                <a:solidFill>
                  <a:srgbClr val="BE7D32"/>
                </a:solidFill>
                <a:latin typeface="Calibri"/>
                <a:ea typeface="Calibri"/>
                <a:cs typeface="Calibri"/>
                <a:sym typeface="Calibri"/>
              </a:rPr>
              <a:t> navigation and communication</a:t>
            </a:r>
            <a:endParaRPr b="0" i="0" sz="1800" u="none" cap="none" strike="noStrike">
              <a:solidFill>
                <a:schemeClr val="dk1"/>
              </a:solidFill>
              <a:latin typeface="Calibri"/>
              <a:ea typeface="Calibri"/>
              <a:cs typeface="Calibri"/>
              <a:sym typeface="Calibri"/>
            </a:endParaRPr>
          </a:p>
        </p:txBody>
      </p:sp>
      <p:sp>
        <p:nvSpPr>
          <p:cNvPr id="318" name="Google Shape;318;p11"/>
          <p:cNvSpPr txBox="1"/>
          <p:nvPr/>
        </p:nvSpPr>
        <p:spPr>
          <a:xfrm>
            <a:off x="6364225" y="2160224"/>
            <a:ext cx="5056500" cy="1006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containers only has basic star navigation along with transponder and communication devices. </a:t>
            </a:r>
            <a:endParaRPr b="0" i="0" sz="1050" u="none" cap="none" strike="noStrike">
              <a:solidFill>
                <a:srgbClr val="232B34"/>
              </a:solidFill>
              <a:latin typeface="Calibri"/>
              <a:ea typeface="Calibri"/>
              <a:cs typeface="Calibri"/>
              <a:sym typeface="Calibri"/>
            </a:endParaRPr>
          </a:p>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containers have small thrusters for maneuvering and are solar powered. autonomous control available to control thrusters, can also be remote controlled</a:t>
            </a:r>
            <a:endParaRPr b="0" i="0" sz="1050" u="none" cap="none" strike="noStrike">
              <a:solidFill>
                <a:srgbClr val="232B34"/>
              </a:solidFill>
              <a:latin typeface="Calibri"/>
              <a:ea typeface="Calibri"/>
              <a:cs typeface="Calibri"/>
              <a:sym typeface="Calibri"/>
            </a:endParaRPr>
          </a:p>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 Navigation is mostly handled from both L4 and asteroid mine acting as relay stations. </a:t>
            </a:r>
            <a:endParaRPr b="0" i="0" sz="1800" u="none" cap="none" strike="noStrike">
              <a:solidFill>
                <a:schemeClr val="dk1"/>
              </a:solidFill>
              <a:latin typeface="Calibri"/>
              <a:ea typeface="Calibri"/>
              <a:cs typeface="Calibri"/>
              <a:sym typeface="Calibri"/>
            </a:endParaRPr>
          </a:p>
        </p:txBody>
      </p:sp>
      <p:sp>
        <p:nvSpPr>
          <p:cNvPr id="319" name="Google Shape;319;p11"/>
          <p:cNvSpPr/>
          <p:nvPr/>
        </p:nvSpPr>
        <p:spPr>
          <a:xfrm>
            <a:off x="6217920" y="3383280"/>
            <a:ext cx="5349240" cy="155448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0" name="Google Shape;320;p11"/>
          <p:cNvSpPr txBox="1"/>
          <p:nvPr/>
        </p:nvSpPr>
        <p:spPr>
          <a:xfrm>
            <a:off x="6364224" y="3493008"/>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BE7D32"/>
              </a:buClr>
              <a:buSzPts val="1200"/>
              <a:buFont typeface="Calibri"/>
              <a:buNone/>
            </a:pPr>
            <a:r>
              <a:rPr b="1" i="0" lang="en-US" sz="1200" u="none" cap="none" strike="noStrike">
                <a:solidFill>
                  <a:srgbClr val="BE7D32"/>
                </a:solidFill>
                <a:latin typeface="Calibri"/>
                <a:ea typeface="Calibri"/>
                <a:cs typeface="Calibri"/>
                <a:sym typeface="Calibri"/>
              </a:rPr>
              <a:t>Repair and maintenance </a:t>
            </a:r>
            <a:endParaRPr b="0" i="0" sz="1800" u="none" cap="none" strike="noStrike">
              <a:solidFill>
                <a:schemeClr val="dk1"/>
              </a:solidFill>
              <a:latin typeface="Calibri"/>
              <a:ea typeface="Calibri"/>
              <a:cs typeface="Calibri"/>
              <a:sym typeface="Calibri"/>
            </a:endParaRPr>
          </a:p>
        </p:txBody>
      </p:sp>
      <p:sp>
        <p:nvSpPr>
          <p:cNvPr id="321" name="Google Shape;321;p11"/>
          <p:cNvSpPr txBox="1"/>
          <p:nvPr/>
        </p:nvSpPr>
        <p:spPr>
          <a:xfrm>
            <a:off x="6364224" y="3822191"/>
            <a:ext cx="5056500" cy="683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on site robots and spare parts available  for repairs. </a:t>
            </a:r>
            <a:endParaRPr b="0" i="0" sz="1050" u="none" cap="none" strike="noStrike">
              <a:solidFill>
                <a:srgbClr val="232B34"/>
              </a:solidFill>
              <a:latin typeface="Calibri"/>
              <a:ea typeface="Calibri"/>
              <a:cs typeface="Calibri"/>
              <a:sym typeface="Calibri"/>
            </a:endParaRPr>
          </a:p>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sensors installed to detect any damage or malfunction</a:t>
            </a:r>
            <a:endParaRPr b="0" i="0" sz="1050" u="none" cap="none" strike="noStrike">
              <a:solidFill>
                <a:srgbClr val="232B34"/>
              </a:solidFill>
              <a:latin typeface="Calibri"/>
              <a:ea typeface="Calibri"/>
              <a:cs typeface="Calibri"/>
              <a:sym typeface="Calibri"/>
            </a:endParaRPr>
          </a:p>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minimum complexity refining and no contact motors for minimum wear and tear</a:t>
            </a:r>
            <a:endParaRPr b="0" i="0" sz="1050" u="none" cap="none" strike="noStrike">
              <a:solidFill>
                <a:srgbClr val="232B34"/>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rgbClr val="232B34"/>
              </a:solidFill>
              <a:latin typeface="Calibri"/>
              <a:ea typeface="Calibri"/>
              <a:cs typeface="Calibri"/>
              <a:sym typeface="Calibri"/>
            </a:endParaRPr>
          </a:p>
        </p:txBody>
      </p:sp>
      <p:sp>
        <p:nvSpPr>
          <p:cNvPr id="322" name="Google Shape;322;p11"/>
          <p:cNvSpPr txBox="1"/>
          <p:nvPr/>
        </p:nvSpPr>
        <p:spPr>
          <a:xfrm>
            <a:off x="685800" y="5715000"/>
            <a:ext cx="10698600" cy="375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100"/>
              <a:buFont typeface="Calibri"/>
              <a:buNone/>
            </a:pPr>
            <a:r>
              <a:rPr b="1" i="0" lang="en-US" sz="1100" u="none" cap="none" strike="noStrike">
                <a:solidFill>
                  <a:srgbClr val="626E7A"/>
                </a:solidFill>
                <a:latin typeface="Calibri"/>
                <a:ea typeface="Calibri"/>
                <a:cs typeface="Calibri"/>
                <a:sym typeface="Calibri"/>
              </a:rPr>
              <a:t>bonus: materials existing in 2026 can be used to make the launcher for near earth asteroids’s but to ensure that the system can be scaled up to be used in astroid belt, we are proposing a technological breakthrough: carbon fibre nano tubes to maximum strength at the high velocities required at the hook</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26" name="Shape 326"/>
        <p:cNvGrpSpPr/>
        <p:nvPr/>
      </p:nvGrpSpPr>
      <p:grpSpPr>
        <a:xfrm>
          <a:off x="0" y="0"/>
          <a:ext cx="0" cy="0"/>
          <a:chOff x="0" y="0"/>
          <a:chExt cx="0" cy="0"/>
        </a:xfrm>
      </p:grpSpPr>
      <p:sp>
        <p:nvSpPr>
          <p:cNvPr id="327" name="Google Shape;327;p12"/>
          <p:cNvSpPr txBox="1"/>
          <p:nvPr/>
        </p:nvSpPr>
        <p:spPr>
          <a:xfrm>
            <a:off x="502920" y="228600"/>
            <a:ext cx="10789800" cy="201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900"/>
              <a:buFont typeface="Arial"/>
              <a:buNone/>
            </a:pPr>
            <a:r>
              <a:rPr b="1" i="0" lang="en-US" sz="900" u="none" cap="none" strike="noStrike">
                <a:solidFill>
                  <a:srgbClr val="3E6897"/>
                </a:solidFill>
                <a:latin typeface="Arial"/>
                <a:ea typeface="Arial"/>
                <a:cs typeface="Arial"/>
                <a:sym typeface="Arial"/>
              </a:rPr>
              <a:t>AKS-3  |  STAC WARS • PS 4  |  04</a:t>
            </a:r>
            <a:endParaRPr b="0" i="0" sz="1800" u="none" cap="none" strike="noStrike">
              <a:solidFill>
                <a:schemeClr val="dk1"/>
              </a:solidFill>
              <a:latin typeface="Calibri"/>
              <a:ea typeface="Calibri"/>
              <a:cs typeface="Calibri"/>
              <a:sym typeface="Calibri"/>
            </a:endParaRPr>
          </a:p>
        </p:txBody>
      </p:sp>
      <p:sp>
        <p:nvSpPr>
          <p:cNvPr id="328" name="Google Shape;328;p12"/>
          <p:cNvSpPr txBox="1"/>
          <p:nvPr/>
        </p:nvSpPr>
        <p:spPr>
          <a:xfrm>
            <a:off x="502920" y="530352"/>
            <a:ext cx="11064300" cy="502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2400"/>
              <a:buFont typeface="Arial"/>
              <a:buNone/>
            </a:pPr>
            <a:r>
              <a:rPr b="1" i="0" lang="en-US" sz="2400" u="none" cap="none" strike="noStrike">
                <a:solidFill>
                  <a:srgbClr val="1F3752"/>
                </a:solidFill>
                <a:latin typeface="Arial"/>
                <a:ea typeface="Arial"/>
                <a:cs typeface="Arial"/>
                <a:sym typeface="Arial"/>
              </a:rPr>
              <a:t>Three major cost drivers</a:t>
            </a:r>
            <a:endParaRPr b="0" i="0" sz="1800" u="none" cap="none" strike="noStrike">
              <a:solidFill>
                <a:schemeClr val="dk1"/>
              </a:solidFill>
              <a:latin typeface="Calibri"/>
              <a:ea typeface="Calibri"/>
              <a:cs typeface="Calibri"/>
              <a:sym typeface="Calibri"/>
            </a:endParaRPr>
          </a:p>
        </p:txBody>
      </p:sp>
      <p:sp>
        <p:nvSpPr>
          <p:cNvPr id="329" name="Google Shape;329;p12"/>
          <p:cNvSpPr txBox="1"/>
          <p:nvPr/>
        </p:nvSpPr>
        <p:spPr>
          <a:xfrm>
            <a:off x="530352" y="1078992"/>
            <a:ext cx="109728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0" name="Google Shape;330;p12"/>
          <p:cNvSpPr/>
          <p:nvPr/>
        </p:nvSpPr>
        <p:spPr>
          <a:xfrm>
            <a:off x="530352" y="1481328"/>
            <a:ext cx="11064300" cy="13800"/>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1" name="Google Shape;331;p12"/>
          <p:cNvSpPr txBox="1"/>
          <p:nvPr/>
        </p:nvSpPr>
        <p:spPr>
          <a:xfrm>
            <a:off x="11064240" y="6510528"/>
            <a:ext cx="457200" cy="18300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Clr>
                <a:srgbClr val="626E7A"/>
              </a:buClr>
              <a:buSzPts val="900"/>
              <a:buFont typeface="Arial"/>
              <a:buNone/>
            </a:pPr>
            <a:r>
              <a:rPr b="1" i="0" lang="en-US" sz="900" u="none" cap="none" strike="noStrike">
                <a:solidFill>
                  <a:srgbClr val="626E7A"/>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332" name="Google Shape;332;p12"/>
          <p:cNvSpPr/>
          <p:nvPr/>
        </p:nvSpPr>
        <p:spPr>
          <a:xfrm>
            <a:off x="594360" y="1828800"/>
            <a:ext cx="3584400" cy="32919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3" name="Google Shape;333;p12"/>
          <p:cNvSpPr txBox="1"/>
          <p:nvPr/>
        </p:nvSpPr>
        <p:spPr>
          <a:xfrm>
            <a:off x="740664" y="1938528"/>
            <a:ext cx="3291900" cy="255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BE7D32"/>
              </a:buClr>
              <a:buSzPts val="1200"/>
              <a:buFont typeface="Arial"/>
              <a:buNone/>
            </a:pPr>
            <a:r>
              <a:rPr b="1" i="0" lang="en-US" sz="1200" u="none" cap="none" strike="noStrike">
                <a:solidFill>
                  <a:srgbClr val="BE7D32"/>
                </a:solidFill>
                <a:latin typeface="Arial"/>
                <a:ea typeface="Arial"/>
                <a:cs typeface="Arial"/>
                <a:sym typeface="Arial"/>
              </a:rPr>
              <a:t>1. Hardware from Earth</a:t>
            </a:r>
            <a:endParaRPr b="0" i="0" sz="1800" u="none" cap="none" strike="noStrike">
              <a:solidFill>
                <a:schemeClr val="dk1"/>
              </a:solidFill>
              <a:latin typeface="Calibri"/>
              <a:ea typeface="Calibri"/>
              <a:cs typeface="Calibri"/>
              <a:sym typeface="Calibri"/>
            </a:endParaRPr>
          </a:p>
        </p:txBody>
      </p:sp>
      <p:sp>
        <p:nvSpPr>
          <p:cNvPr id="334" name="Google Shape;334;p12"/>
          <p:cNvSpPr txBox="1"/>
          <p:nvPr/>
        </p:nvSpPr>
        <p:spPr>
          <a:xfrm>
            <a:off x="740664" y="2267712"/>
            <a:ext cx="3291900" cy="13221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Problem: launching every replacement part is expensive.</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Proposed fix: make frames and wear parts from asteroid iro</a:t>
            </a:r>
            <a:r>
              <a:rPr b="0" i="0" lang="en-US" sz="1050" u="none" cap="none" strike="noStrike">
                <a:solidFill>
                  <a:srgbClr val="232B34"/>
                </a:solidFill>
                <a:latin typeface="Calibri"/>
                <a:ea typeface="Calibri"/>
                <a:cs typeface="Calibri"/>
                <a:sym typeface="Calibri"/>
              </a:rPr>
              <a:t>n.</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Assumption: on-site iron processing work</a:t>
            </a:r>
            <a:r>
              <a:rPr b="0" i="0" lang="en-US" sz="1050" u="none" cap="none" strike="noStrike">
                <a:solidFill>
                  <a:srgbClr val="232B34"/>
                </a:solidFill>
                <a:latin typeface="Calibri"/>
                <a:ea typeface="Calibri"/>
                <a:cs typeface="Calibri"/>
                <a:sym typeface="Calibri"/>
              </a:rPr>
              <a:t>s.</a:t>
            </a:r>
            <a:endParaRPr b="0" i="0" sz="1800" u="none" cap="none" strike="noStrike">
              <a:solidFill>
                <a:schemeClr val="dk1"/>
              </a:solidFill>
              <a:latin typeface="Calibri"/>
              <a:ea typeface="Calibri"/>
              <a:cs typeface="Calibri"/>
              <a:sym typeface="Calibri"/>
            </a:endParaRPr>
          </a:p>
        </p:txBody>
      </p:sp>
      <p:sp>
        <p:nvSpPr>
          <p:cNvPr id="335" name="Google Shape;335;p12"/>
          <p:cNvSpPr/>
          <p:nvPr/>
        </p:nvSpPr>
        <p:spPr>
          <a:xfrm>
            <a:off x="4416552" y="1828800"/>
            <a:ext cx="3584400" cy="32919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6" name="Google Shape;336;p12"/>
          <p:cNvSpPr txBox="1"/>
          <p:nvPr/>
        </p:nvSpPr>
        <p:spPr>
          <a:xfrm>
            <a:off x="4562856" y="1938528"/>
            <a:ext cx="3291900" cy="255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2. Moving the cargo</a:t>
            </a:r>
            <a:endParaRPr b="0" i="0" sz="1800" u="none" cap="none" strike="noStrike">
              <a:solidFill>
                <a:schemeClr val="dk1"/>
              </a:solidFill>
              <a:latin typeface="Calibri"/>
              <a:ea typeface="Calibri"/>
              <a:cs typeface="Calibri"/>
              <a:sym typeface="Calibri"/>
            </a:endParaRPr>
          </a:p>
        </p:txBody>
      </p:sp>
      <p:sp>
        <p:nvSpPr>
          <p:cNvPr id="337" name="Google Shape;337;p12"/>
          <p:cNvSpPr txBox="1"/>
          <p:nvPr/>
        </p:nvSpPr>
        <p:spPr>
          <a:xfrm>
            <a:off x="4562856" y="2267712"/>
            <a:ext cx="3291900" cy="2788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Problem: tugs need engines and propellant to move each load.</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Proposed fix: solar tether launch plus light reusable containers.</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Assumption: shell mass is ~2% of payload.</a:t>
            </a:r>
            <a:endParaRPr b="0" i="0" sz="1800" u="none" cap="none" strike="noStrike">
              <a:solidFill>
                <a:schemeClr val="dk1"/>
              </a:solidFill>
              <a:latin typeface="Calibri"/>
              <a:ea typeface="Calibri"/>
              <a:cs typeface="Calibri"/>
              <a:sym typeface="Calibri"/>
            </a:endParaRPr>
          </a:p>
        </p:txBody>
      </p:sp>
      <p:sp>
        <p:nvSpPr>
          <p:cNvPr id="338" name="Google Shape;338;p12"/>
          <p:cNvSpPr/>
          <p:nvPr/>
        </p:nvSpPr>
        <p:spPr>
          <a:xfrm>
            <a:off x="8238744" y="1828800"/>
            <a:ext cx="3584400" cy="32919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9" name="Google Shape;339;p12"/>
          <p:cNvSpPr txBox="1"/>
          <p:nvPr/>
        </p:nvSpPr>
        <p:spPr>
          <a:xfrm>
            <a:off x="8385048" y="1938528"/>
            <a:ext cx="3291900" cy="255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498267"/>
              </a:buClr>
              <a:buSzPts val="1200"/>
              <a:buFont typeface="Arial"/>
              <a:buNone/>
            </a:pPr>
            <a:r>
              <a:rPr b="1" i="0" lang="en-US" sz="1200" u="none" cap="none" strike="noStrike">
                <a:solidFill>
                  <a:srgbClr val="498267"/>
                </a:solidFill>
                <a:latin typeface="Arial"/>
                <a:ea typeface="Arial"/>
                <a:cs typeface="Arial"/>
                <a:sym typeface="Arial"/>
              </a:rPr>
              <a:t>3. Downtime and repair</a:t>
            </a:r>
            <a:endParaRPr b="0" i="0" sz="1800" u="none" cap="none" strike="noStrike">
              <a:solidFill>
                <a:schemeClr val="dk1"/>
              </a:solidFill>
              <a:latin typeface="Calibri"/>
              <a:ea typeface="Calibri"/>
              <a:cs typeface="Calibri"/>
              <a:sym typeface="Calibri"/>
            </a:endParaRPr>
          </a:p>
        </p:txBody>
      </p:sp>
      <p:sp>
        <p:nvSpPr>
          <p:cNvPr id="340" name="Google Shape;340;p12"/>
          <p:cNvSpPr txBox="1"/>
          <p:nvPr/>
        </p:nvSpPr>
        <p:spPr>
          <a:xfrm>
            <a:off x="8385048" y="2267712"/>
            <a:ext cx="3291900" cy="2788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Problem: help is far away and repairs can take a long time.</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Proposed fix: modular parts, parallel units and repair robots.</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Assumption: robots can replace parts autonomously.</a:t>
            </a:r>
            <a:endParaRPr b="0" i="0" sz="1800" u="none" cap="none" strike="noStrike">
              <a:solidFill>
                <a:schemeClr val="dk1"/>
              </a:solidFill>
              <a:latin typeface="Calibri"/>
              <a:ea typeface="Calibri"/>
              <a:cs typeface="Calibri"/>
              <a:sym typeface="Calibri"/>
            </a:endParaRPr>
          </a:p>
        </p:txBody>
      </p:sp>
      <p:sp>
        <p:nvSpPr>
          <p:cNvPr id="341" name="Google Shape;341;p12"/>
          <p:cNvSpPr/>
          <p:nvPr/>
        </p:nvSpPr>
        <p:spPr>
          <a:xfrm>
            <a:off x="594360" y="5394960"/>
            <a:ext cx="11018400" cy="658500"/>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2" name="Google Shape;342;p12"/>
          <p:cNvSpPr txBox="1"/>
          <p:nvPr/>
        </p:nvSpPr>
        <p:spPr>
          <a:xfrm>
            <a:off x="757639" y="5559552"/>
            <a:ext cx="10607100" cy="2061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1100"/>
              <a:buFont typeface="Arial"/>
              <a:buNone/>
            </a:pPr>
            <a:r>
              <a:rPr b="1" i="0" lang="en-US" sz="1100" u="none" cap="none" strike="noStrike">
                <a:solidFill>
                  <a:srgbClr val="1F3752"/>
                </a:solidFill>
                <a:latin typeface="Arial"/>
                <a:ea typeface="Arial"/>
                <a:cs typeface="Arial"/>
                <a:sym typeface="Arial"/>
              </a:rPr>
              <a:t>Model baseline: 100,000 t/year</a:t>
            </a:r>
            <a:r>
              <a:rPr b="1" i="0" lang="en-US" sz="1100" u="none" cap="none" strike="noStrike">
                <a:solidFill>
                  <a:srgbClr val="1F3752"/>
                </a:solidFill>
                <a:latin typeface="Calibri"/>
                <a:ea typeface="Calibri"/>
                <a:cs typeface="Calibri"/>
                <a:sym typeface="Calibri"/>
              </a:rPr>
              <a:t>; </a:t>
            </a:r>
            <a:r>
              <a:rPr b="1" i="0" lang="en-US" sz="1100" u="none" cap="none" strike="noStrike">
                <a:solidFill>
                  <a:srgbClr val="1F3752"/>
                </a:solidFill>
                <a:latin typeface="Arial"/>
                <a:ea typeface="Arial"/>
                <a:cs typeface="Arial"/>
                <a:sym typeface="Arial"/>
              </a:rPr>
              <a:t> 1</a:t>
            </a:r>
            <a:r>
              <a:rPr b="1" i="0" lang="en-US" sz="1100" u="none" cap="none" strike="noStrike">
                <a:solidFill>
                  <a:srgbClr val="1F3752"/>
                </a:solidFill>
                <a:latin typeface="Calibri"/>
                <a:ea typeface="Calibri"/>
                <a:cs typeface="Calibri"/>
                <a:sym typeface="Calibri"/>
              </a:rPr>
              <a:t>5</a:t>
            </a:r>
            <a:r>
              <a:rPr b="1" i="0" lang="en-US" sz="1100" u="none" cap="none" strike="noStrike">
                <a:solidFill>
                  <a:srgbClr val="1F3752"/>
                </a:solidFill>
                <a:latin typeface="Arial"/>
                <a:ea typeface="Arial"/>
                <a:cs typeface="Arial"/>
                <a:sym typeface="Arial"/>
              </a:rPr>
              <a:t>-year </a:t>
            </a:r>
            <a:r>
              <a:rPr b="1" i="0" lang="en-US" sz="1100" u="none" cap="none" strike="noStrike">
                <a:solidFill>
                  <a:srgbClr val="1F3752"/>
                </a:solidFill>
                <a:latin typeface="Calibri"/>
                <a:ea typeface="Calibri"/>
                <a:cs typeface="Calibri"/>
                <a:sym typeface="Calibri"/>
              </a:rPr>
              <a:t>expected life; </a:t>
            </a:r>
            <a:r>
              <a:rPr b="1" i="0" lang="en-US" sz="1100" u="none" cap="none" strike="noStrike">
                <a:solidFill>
                  <a:srgbClr val="1F3752"/>
                </a:solidFill>
                <a:latin typeface="Arial"/>
                <a:ea typeface="Arial"/>
                <a:cs typeface="Arial"/>
                <a:sym typeface="Arial"/>
              </a:rPr>
              <a:t>container fleet estimated at ~90% of transport cost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46" name="Shape 346"/>
        <p:cNvGrpSpPr/>
        <p:nvPr/>
      </p:nvGrpSpPr>
      <p:grpSpPr>
        <a:xfrm>
          <a:off x="0" y="0"/>
          <a:ext cx="0" cy="0"/>
          <a:chOff x="0" y="0"/>
          <a:chExt cx="0" cy="0"/>
        </a:xfrm>
      </p:grpSpPr>
      <p:sp>
        <p:nvSpPr>
          <p:cNvPr id="347" name="Google Shape;347;p13"/>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900"/>
              <a:buFont typeface="Arial"/>
              <a:buNone/>
            </a:pPr>
            <a:r>
              <a:rPr b="1" i="0" lang="en-US" sz="900" u="none" cap="none" strike="noStrike">
                <a:solidFill>
                  <a:srgbClr val="3E6897"/>
                </a:solidFill>
                <a:latin typeface="Arial"/>
                <a:ea typeface="Arial"/>
                <a:cs typeface="Arial"/>
                <a:sym typeface="Arial"/>
              </a:rPr>
              <a:t>AKS-3  |  STAC WARS • PS 4  |  05</a:t>
            </a:r>
            <a:endParaRPr b="0" i="0" sz="1800" u="none" cap="none" strike="noStrike">
              <a:solidFill>
                <a:schemeClr val="dk1"/>
              </a:solidFill>
              <a:latin typeface="Calibri"/>
              <a:ea typeface="Calibri"/>
              <a:cs typeface="Calibri"/>
              <a:sym typeface="Calibri"/>
            </a:endParaRPr>
          </a:p>
        </p:txBody>
      </p:sp>
      <p:sp>
        <p:nvSpPr>
          <p:cNvPr id="348" name="Google Shape;348;p13"/>
          <p:cNvSpPr txBox="1"/>
          <p:nvPr/>
        </p:nvSpPr>
        <p:spPr>
          <a:xfrm>
            <a:off x="502920" y="530352"/>
            <a:ext cx="11064240" cy="5029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2400"/>
              <a:buFont typeface="Arial"/>
              <a:buNone/>
            </a:pPr>
            <a:r>
              <a:rPr b="1" i="0" lang="en-US" sz="2400" u="none" cap="none" strike="noStrike">
                <a:solidFill>
                  <a:srgbClr val="1F3752"/>
                </a:solidFill>
                <a:latin typeface="Arial"/>
                <a:ea typeface="Arial"/>
                <a:cs typeface="Arial"/>
                <a:sym typeface="Arial"/>
              </a:rPr>
              <a:t>Comparison with other approaches</a:t>
            </a:r>
            <a:endParaRPr b="0" i="0" sz="1800" u="none" cap="none" strike="noStrike">
              <a:solidFill>
                <a:schemeClr val="dk1"/>
              </a:solidFill>
              <a:latin typeface="Calibri"/>
              <a:ea typeface="Calibri"/>
              <a:cs typeface="Calibri"/>
              <a:sym typeface="Calibri"/>
            </a:endParaRPr>
          </a:p>
        </p:txBody>
      </p:sp>
      <p:sp>
        <p:nvSpPr>
          <p:cNvPr id="349" name="Google Shape;349;p13"/>
          <p:cNvSpPr txBox="1"/>
          <p:nvPr/>
        </p:nvSpPr>
        <p:spPr>
          <a:xfrm>
            <a:off x="530352" y="1078992"/>
            <a:ext cx="10972800" cy="375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FF0000"/>
              </a:buClr>
              <a:buSzPts val="1100"/>
              <a:buFont typeface="Calibri"/>
              <a:buNone/>
            </a:pPr>
            <a:r>
              <a:rPr b="1" i="0" lang="en-US" sz="1100" u="none" cap="none" strike="noStrike">
                <a:solidFill>
                  <a:srgbClr val="FF0000"/>
                </a:solidFill>
                <a:latin typeface="Calibri"/>
                <a:ea typeface="Calibri"/>
                <a:cs typeface="Calibri"/>
                <a:sym typeface="Calibri"/>
              </a:rPr>
              <a:t>“Never tell me the odds” -Han solo</a:t>
            </a:r>
            <a:endParaRPr b="0" i="0" sz="1800" u="none" cap="none" strike="noStrike">
              <a:solidFill>
                <a:srgbClr val="FF0000"/>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rgbClr val="FF0000"/>
              </a:solidFill>
              <a:latin typeface="Calibri"/>
              <a:ea typeface="Calibri"/>
              <a:cs typeface="Calibri"/>
              <a:sym typeface="Calibri"/>
            </a:endParaRPr>
          </a:p>
        </p:txBody>
      </p:sp>
      <p:sp>
        <p:nvSpPr>
          <p:cNvPr id="350" name="Google Shape;350;p13"/>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1" name="Google Shape;351;p13"/>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Clr>
                <a:srgbClr val="626E7A"/>
              </a:buClr>
              <a:buSzPts val="900"/>
              <a:buFont typeface="Arial"/>
              <a:buNone/>
            </a:pPr>
            <a:r>
              <a:rPr b="1" i="0" lang="en-US" sz="900" u="none" cap="none" strike="noStrike">
                <a:solidFill>
                  <a:srgbClr val="626E7A"/>
                </a:solidFill>
                <a:latin typeface="Arial"/>
                <a:ea typeface="Arial"/>
                <a:cs typeface="Arial"/>
                <a:sym typeface="Arial"/>
              </a:rPr>
              <a:t>5</a:t>
            </a:r>
            <a:endParaRPr b="0" i="0" sz="1800" u="none" cap="none" strike="noStrike">
              <a:solidFill>
                <a:schemeClr val="dk1"/>
              </a:solidFill>
              <a:latin typeface="Calibri"/>
              <a:ea typeface="Calibri"/>
              <a:cs typeface="Calibri"/>
              <a:sym typeface="Calibri"/>
            </a:endParaRPr>
          </a:p>
        </p:txBody>
      </p:sp>
      <p:sp>
        <p:nvSpPr>
          <p:cNvPr id="352" name="Google Shape;352;p13"/>
          <p:cNvSpPr/>
          <p:nvPr/>
        </p:nvSpPr>
        <p:spPr>
          <a:xfrm>
            <a:off x="594360" y="1828800"/>
            <a:ext cx="164592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3" name="Google Shape;353;p13"/>
          <p:cNvSpPr txBox="1"/>
          <p:nvPr/>
        </p:nvSpPr>
        <p:spPr>
          <a:xfrm>
            <a:off x="667512" y="1938528"/>
            <a:ext cx="1499616"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Dimension</a:t>
            </a:r>
            <a:endParaRPr b="0" i="0" sz="1800" u="none" cap="none" strike="noStrike">
              <a:solidFill>
                <a:schemeClr val="dk1"/>
              </a:solidFill>
              <a:latin typeface="Calibri"/>
              <a:ea typeface="Calibri"/>
              <a:cs typeface="Calibri"/>
              <a:sym typeface="Calibri"/>
            </a:endParaRPr>
          </a:p>
        </p:txBody>
      </p:sp>
      <p:sp>
        <p:nvSpPr>
          <p:cNvPr id="354" name="Google Shape;354;p13"/>
          <p:cNvSpPr/>
          <p:nvPr/>
        </p:nvSpPr>
        <p:spPr>
          <a:xfrm>
            <a:off x="2331720" y="1828800"/>
            <a:ext cx="274320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5" name="Google Shape;355;p13"/>
          <p:cNvSpPr txBox="1"/>
          <p:nvPr/>
        </p:nvSpPr>
        <p:spPr>
          <a:xfrm>
            <a:off x="2404872" y="1938528"/>
            <a:ext cx="2596896"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Tug-based mining</a:t>
            </a:r>
            <a:endParaRPr b="0" i="0" sz="1800" u="none" cap="none" strike="noStrike">
              <a:solidFill>
                <a:schemeClr val="dk1"/>
              </a:solidFill>
              <a:latin typeface="Calibri"/>
              <a:ea typeface="Calibri"/>
              <a:cs typeface="Calibri"/>
              <a:sym typeface="Calibri"/>
            </a:endParaRPr>
          </a:p>
        </p:txBody>
      </p:sp>
      <p:sp>
        <p:nvSpPr>
          <p:cNvPr id="356" name="Google Shape;356;p13"/>
          <p:cNvSpPr/>
          <p:nvPr/>
        </p:nvSpPr>
        <p:spPr>
          <a:xfrm>
            <a:off x="5166360" y="1828800"/>
            <a:ext cx="274320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7" name="Google Shape;357;p13"/>
          <p:cNvSpPr/>
          <p:nvPr/>
        </p:nvSpPr>
        <p:spPr>
          <a:xfrm>
            <a:off x="8001000" y="1828800"/>
            <a:ext cx="361188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8" name="Google Shape;358;p13"/>
          <p:cNvSpPr txBox="1"/>
          <p:nvPr/>
        </p:nvSpPr>
        <p:spPr>
          <a:xfrm>
            <a:off x="8074152" y="1938528"/>
            <a:ext cx="3465576"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AKS-3 concept</a:t>
            </a:r>
            <a:endParaRPr b="0" i="0" sz="1800" u="none" cap="none" strike="noStrike">
              <a:solidFill>
                <a:schemeClr val="dk1"/>
              </a:solidFill>
              <a:latin typeface="Calibri"/>
              <a:ea typeface="Calibri"/>
              <a:cs typeface="Calibri"/>
              <a:sym typeface="Calibri"/>
            </a:endParaRPr>
          </a:p>
        </p:txBody>
      </p:sp>
      <p:sp>
        <p:nvSpPr>
          <p:cNvPr id="359" name="Google Shape;359;p13"/>
          <p:cNvSpPr/>
          <p:nvPr/>
        </p:nvSpPr>
        <p:spPr>
          <a:xfrm>
            <a:off x="594360" y="2359152"/>
            <a:ext cx="164592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0" name="Google Shape;360;p13"/>
          <p:cNvSpPr txBox="1"/>
          <p:nvPr/>
        </p:nvSpPr>
        <p:spPr>
          <a:xfrm>
            <a:off x="667512" y="2441448"/>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950"/>
              <a:buFont typeface="Arial"/>
              <a:buNone/>
            </a:pPr>
            <a:r>
              <a:rPr b="1" i="0" lang="en-US" sz="950" u="none" cap="none" strike="noStrike">
                <a:solidFill>
                  <a:srgbClr val="1F3752"/>
                </a:solidFill>
                <a:latin typeface="Arial"/>
                <a:ea typeface="Arial"/>
                <a:cs typeface="Arial"/>
                <a:sym typeface="Arial"/>
              </a:rPr>
              <a:t>Cargo movement</a:t>
            </a:r>
            <a:endParaRPr b="0" i="0" sz="1800" u="none" cap="none" strike="noStrike">
              <a:solidFill>
                <a:schemeClr val="dk1"/>
              </a:solidFill>
              <a:latin typeface="Calibri"/>
              <a:ea typeface="Calibri"/>
              <a:cs typeface="Calibri"/>
              <a:sym typeface="Calibri"/>
            </a:endParaRPr>
          </a:p>
        </p:txBody>
      </p:sp>
      <p:sp>
        <p:nvSpPr>
          <p:cNvPr id="361" name="Google Shape;361;p13"/>
          <p:cNvSpPr/>
          <p:nvPr/>
        </p:nvSpPr>
        <p:spPr>
          <a:xfrm>
            <a:off x="2331720" y="2359152"/>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2" name="Google Shape;362;p13"/>
          <p:cNvSpPr txBox="1"/>
          <p:nvPr/>
        </p:nvSpPr>
        <p:spPr>
          <a:xfrm>
            <a:off x="2404872" y="2441448"/>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Tug carries each load with its own engines</a:t>
            </a:r>
            <a:endParaRPr b="0" i="0" sz="1800" u="none" cap="none" strike="noStrike">
              <a:solidFill>
                <a:schemeClr val="dk1"/>
              </a:solidFill>
              <a:latin typeface="Calibri"/>
              <a:ea typeface="Calibri"/>
              <a:cs typeface="Calibri"/>
              <a:sym typeface="Calibri"/>
            </a:endParaRPr>
          </a:p>
        </p:txBody>
      </p:sp>
      <p:sp>
        <p:nvSpPr>
          <p:cNvPr id="363" name="Google Shape;363;p13"/>
          <p:cNvSpPr/>
          <p:nvPr/>
        </p:nvSpPr>
        <p:spPr>
          <a:xfrm>
            <a:off x="5166360" y="2359152"/>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4" name="Google Shape;364;p13"/>
          <p:cNvSpPr txBox="1"/>
          <p:nvPr/>
        </p:nvSpPr>
        <p:spPr>
          <a:xfrm>
            <a:off x="5239512" y="2441448"/>
            <a:ext cx="25968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Calibri"/>
              <a:buNone/>
            </a:pPr>
            <a:r>
              <a:rPr b="0" i="0" lang="en-US" sz="950" u="none" cap="none" strike="noStrike">
                <a:solidFill>
                  <a:srgbClr val="232B34"/>
                </a:solidFill>
                <a:latin typeface="Calibri"/>
                <a:ea typeface="Calibri"/>
                <a:cs typeface="Calibri"/>
                <a:sym typeface="Calibri"/>
              </a:rPr>
              <a:t>Complete asteroid moved </a:t>
            </a:r>
            <a:endParaRPr b="0" i="0" sz="1800" u="none" cap="none" strike="noStrike">
              <a:solidFill>
                <a:schemeClr val="dk1"/>
              </a:solidFill>
              <a:latin typeface="Calibri"/>
              <a:ea typeface="Calibri"/>
              <a:cs typeface="Calibri"/>
              <a:sym typeface="Calibri"/>
            </a:endParaRPr>
          </a:p>
        </p:txBody>
      </p:sp>
      <p:sp>
        <p:nvSpPr>
          <p:cNvPr id="365" name="Google Shape;365;p13"/>
          <p:cNvSpPr/>
          <p:nvPr/>
        </p:nvSpPr>
        <p:spPr>
          <a:xfrm>
            <a:off x="8001000" y="2359152"/>
            <a:ext cx="361188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6" name="Google Shape;366;p13"/>
          <p:cNvSpPr txBox="1"/>
          <p:nvPr/>
        </p:nvSpPr>
        <p:spPr>
          <a:xfrm>
            <a:off x="8074152" y="2441448"/>
            <a:ext cx="346557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Solar tether and reusable containers</a:t>
            </a:r>
            <a:endParaRPr b="0" i="0" sz="1800" u="none" cap="none" strike="noStrike">
              <a:solidFill>
                <a:schemeClr val="dk1"/>
              </a:solidFill>
              <a:latin typeface="Calibri"/>
              <a:ea typeface="Calibri"/>
              <a:cs typeface="Calibri"/>
              <a:sym typeface="Calibri"/>
            </a:endParaRPr>
          </a:p>
        </p:txBody>
      </p:sp>
      <p:sp>
        <p:nvSpPr>
          <p:cNvPr id="367" name="Google Shape;367;p13"/>
          <p:cNvSpPr/>
          <p:nvPr/>
        </p:nvSpPr>
        <p:spPr>
          <a:xfrm>
            <a:off x="594360" y="3090672"/>
            <a:ext cx="164592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8" name="Google Shape;368;p13"/>
          <p:cNvSpPr txBox="1"/>
          <p:nvPr/>
        </p:nvSpPr>
        <p:spPr>
          <a:xfrm>
            <a:off x="667512" y="3172968"/>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950"/>
              <a:buFont typeface="Arial"/>
              <a:buNone/>
            </a:pPr>
            <a:r>
              <a:rPr b="1" i="0" lang="en-US" sz="950" u="none" cap="none" strike="noStrike">
                <a:solidFill>
                  <a:srgbClr val="1F3752"/>
                </a:solidFill>
                <a:latin typeface="Arial"/>
                <a:ea typeface="Arial"/>
                <a:cs typeface="Arial"/>
                <a:sym typeface="Arial"/>
              </a:rPr>
              <a:t>Propellant</a:t>
            </a:r>
            <a:endParaRPr b="0" i="0" sz="1800" u="none" cap="none" strike="noStrike">
              <a:solidFill>
                <a:schemeClr val="dk1"/>
              </a:solidFill>
              <a:latin typeface="Calibri"/>
              <a:ea typeface="Calibri"/>
              <a:cs typeface="Calibri"/>
              <a:sym typeface="Calibri"/>
            </a:endParaRPr>
          </a:p>
        </p:txBody>
      </p:sp>
      <p:sp>
        <p:nvSpPr>
          <p:cNvPr id="369" name="Google Shape;369;p13"/>
          <p:cNvSpPr/>
          <p:nvPr/>
        </p:nvSpPr>
        <p:spPr>
          <a:xfrm>
            <a:off x="2331720" y="309067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0" name="Google Shape;370;p13"/>
          <p:cNvSpPr txBox="1"/>
          <p:nvPr/>
        </p:nvSpPr>
        <p:spPr>
          <a:xfrm>
            <a:off x="2404872" y="3172968"/>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Chemical ~40% of cargo; electric ~5% at 1.5 km/s</a:t>
            </a:r>
            <a:endParaRPr b="0" i="0" sz="1800" u="none" cap="none" strike="noStrike">
              <a:solidFill>
                <a:schemeClr val="dk1"/>
              </a:solidFill>
              <a:latin typeface="Calibri"/>
              <a:ea typeface="Calibri"/>
              <a:cs typeface="Calibri"/>
              <a:sym typeface="Calibri"/>
            </a:endParaRPr>
          </a:p>
        </p:txBody>
      </p:sp>
      <p:sp>
        <p:nvSpPr>
          <p:cNvPr id="371" name="Google Shape;371;p13"/>
          <p:cNvSpPr/>
          <p:nvPr/>
        </p:nvSpPr>
        <p:spPr>
          <a:xfrm>
            <a:off x="5166360" y="309067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2" name="Google Shape;372;p13"/>
          <p:cNvSpPr txBox="1"/>
          <p:nvPr/>
        </p:nvSpPr>
        <p:spPr>
          <a:xfrm>
            <a:off x="5202950" y="3172968"/>
            <a:ext cx="25968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Calibri"/>
              <a:buNone/>
            </a:pPr>
            <a:r>
              <a:rPr b="0" i="0" lang="en-US" sz="950" u="none" cap="none" strike="noStrike">
                <a:solidFill>
                  <a:srgbClr val="232B34"/>
                </a:solidFill>
                <a:latin typeface="Calibri"/>
                <a:ea typeface="Calibri"/>
                <a:cs typeface="Calibri"/>
                <a:sym typeface="Calibri"/>
              </a:rPr>
              <a:t>alot of propellant required</a:t>
            </a:r>
            <a:endParaRPr b="0" i="0" sz="1800" u="none" cap="none" strike="noStrike">
              <a:solidFill>
                <a:schemeClr val="dk1"/>
              </a:solidFill>
              <a:latin typeface="Calibri"/>
              <a:ea typeface="Calibri"/>
              <a:cs typeface="Calibri"/>
              <a:sym typeface="Calibri"/>
            </a:endParaRPr>
          </a:p>
        </p:txBody>
      </p:sp>
      <p:sp>
        <p:nvSpPr>
          <p:cNvPr id="373" name="Google Shape;373;p13"/>
          <p:cNvSpPr/>
          <p:nvPr/>
        </p:nvSpPr>
        <p:spPr>
          <a:xfrm>
            <a:off x="8001000" y="3090672"/>
            <a:ext cx="361188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4" name="Google Shape;374;p13"/>
          <p:cNvSpPr txBox="1"/>
          <p:nvPr/>
        </p:nvSpPr>
        <p:spPr>
          <a:xfrm>
            <a:off x="8074152" y="3172968"/>
            <a:ext cx="346557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~0.3% for station-keeping (assumed)</a:t>
            </a:r>
            <a:endParaRPr b="0" i="0" sz="1800" u="none" cap="none" strike="noStrike">
              <a:solidFill>
                <a:schemeClr val="dk1"/>
              </a:solidFill>
              <a:latin typeface="Calibri"/>
              <a:ea typeface="Calibri"/>
              <a:cs typeface="Calibri"/>
              <a:sym typeface="Calibri"/>
            </a:endParaRPr>
          </a:p>
        </p:txBody>
      </p:sp>
      <p:sp>
        <p:nvSpPr>
          <p:cNvPr id="375" name="Google Shape;375;p13"/>
          <p:cNvSpPr/>
          <p:nvPr/>
        </p:nvSpPr>
        <p:spPr>
          <a:xfrm>
            <a:off x="594360" y="3822191"/>
            <a:ext cx="164592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6" name="Google Shape;376;p13"/>
          <p:cNvSpPr txBox="1"/>
          <p:nvPr/>
        </p:nvSpPr>
        <p:spPr>
          <a:xfrm>
            <a:off x="667512" y="3904487"/>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950"/>
              <a:buFont typeface="Arial"/>
              <a:buNone/>
            </a:pPr>
            <a:r>
              <a:rPr b="1" i="0" lang="en-US" sz="950" u="none" cap="none" strike="noStrike">
                <a:solidFill>
                  <a:srgbClr val="1F3752"/>
                </a:solidFill>
                <a:latin typeface="Arial"/>
                <a:ea typeface="Arial"/>
                <a:cs typeface="Arial"/>
                <a:sym typeface="Arial"/>
              </a:rPr>
              <a:t>Throughput</a:t>
            </a:r>
            <a:endParaRPr b="0" i="0" sz="1800" u="none" cap="none" strike="noStrike">
              <a:solidFill>
                <a:schemeClr val="dk1"/>
              </a:solidFill>
              <a:latin typeface="Calibri"/>
              <a:ea typeface="Calibri"/>
              <a:cs typeface="Calibri"/>
              <a:sym typeface="Calibri"/>
            </a:endParaRPr>
          </a:p>
        </p:txBody>
      </p:sp>
      <p:sp>
        <p:nvSpPr>
          <p:cNvPr id="377" name="Google Shape;377;p13"/>
          <p:cNvSpPr/>
          <p:nvPr/>
        </p:nvSpPr>
        <p:spPr>
          <a:xfrm>
            <a:off x="2331720" y="3822191"/>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8" name="Google Shape;378;p13"/>
          <p:cNvSpPr txBox="1"/>
          <p:nvPr/>
        </p:nvSpPr>
        <p:spPr>
          <a:xfrm>
            <a:off x="2404872" y="3904487"/>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Batches per trip</a:t>
            </a:r>
            <a:endParaRPr b="0" i="0" sz="1800" u="none" cap="none" strike="noStrike">
              <a:solidFill>
                <a:schemeClr val="dk1"/>
              </a:solidFill>
              <a:latin typeface="Calibri"/>
              <a:ea typeface="Calibri"/>
              <a:cs typeface="Calibri"/>
              <a:sym typeface="Calibri"/>
            </a:endParaRPr>
          </a:p>
        </p:txBody>
      </p:sp>
      <p:sp>
        <p:nvSpPr>
          <p:cNvPr id="379" name="Google Shape;379;p13"/>
          <p:cNvSpPr/>
          <p:nvPr/>
        </p:nvSpPr>
        <p:spPr>
          <a:xfrm>
            <a:off x="5166360" y="3822191"/>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0" name="Google Shape;380;p13"/>
          <p:cNvSpPr txBox="1"/>
          <p:nvPr/>
        </p:nvSpPr>
        <p:spPr>
          <a:xfrm>
            <a:off x="5166387" y="3904487"/>
            <a:ext cx="25968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Calibri"/>
              <a:buNone/>
            </a:pPr>
            <a:r>
              <a:rPr b="0" i="0" lang="en-US" sz="950" u="none" cap="none" strike="noStrike">
                <a:solidFill>
                  <a:srgbClr val="232B34"/>
                </a:solidFill>
                <a:latin typeface="Calibri"/>
                <a:ea typeface="Calibri"/>
                <a:cs typeface="Calibri"/>
                <a:sym typeface="Calibri"/>
              </a:rPr>
              <a:t>the entire asteroid</a:t>
            </a:r>
            <a:endParaRPr b="0" i="0" sz="1800" u="none" cap="none" strike="noStrike">
              <a:solidFill>
                <a:schemeClr val="dk1"/>
              </a:solidFill>
              <a:latin typeface="Calibri"/>
              <a:ea typeface="Calibri"/>
              <a:cs typeface="Calibri"/>
              <a:sym typeface="Calibri"/>
            </a:endParaRPr>
          </a:p>
        </p:txBody>
      </p:sp>
      <p:sp>
        <p:nvSpPr>
          <p:cNvPr id="381" name="Google Shape;381;p13"/>
          <p:cNvSpPr/>
          <p:nvPr/>
        </p:nvSpPr>
        <p:spPr>
          <a:xfrm>
            <a:off x="8001000" y="3822191"/>
            <a:ext cx="361188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2" name="Google Shape;382;p13"/>
          <p:cNvSpPr txBox="1"/>
          <p:nvPr/>
        </p:nvSpPr>
        <p:spPr>
          <a:xfrm>
            <a:off x="8074152" y="3904487"/>
            <a:ext cx="346557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Target: 100,000 t/year</a:t>
            </a:r>
            <a:endParaRPr b="0" i="0" sz="1800" u="none" cap="none" strike="noStrike">
              <a:solidFill>
                <a:schemeClr val="dk1"/>
              </a:solidFill>
              <a:latin typeface="Calibri"/>
              <a:ea typeface="Calibri"/>
              <a:cs typeface="Calibri"/>
              <a:sym typeface="Calibri"/>
            </a:endParaRPr>
          </a:p>
        </p:txBody>
      </p:sp>
      <p:sp>
        <p:nvSpPr>
          <p:cNvPr id="383" name="Google Shape;383;p13"/>
          <p:cNvSpPr/>
          <p:nvPr/>
        </p:nvSpPr>
        <p:spPr>
          <a:xfrm>
            <a:off x="594360" y="4553712"/>
            <a:ext cx="164592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4" name="Google Shape;384;p13"/>
          <p:cNvSpPr txBox="1"/>
          <p:nvPr/>
        </p:nvSpPr>
        <p:spPr>
          <a:xfrm>
            <a:off x="667512" y="4636008"/>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950"/>
              <a:buFont typeface="Arial"/>
              <a:buNone/>
            </a:pPr>
            <a:r>
              <a:rPr b="1" i="0" lang="en-US" sz="950" u="none" cap="none" strike="noStrike">
                <a:solidFill>
                  <a:srgbClr val="1F3752"/>
                </a:solidFill>
                <a:latin typeface="Arial"/>
                <a:ea typeface="Arial"/>
                <a:cs typeface="Arial"/>
                <a:sym typeface="Arial"/>
              </a:rPr>
              <a:t>Weak point</a:t>
            </a:r>
            <a:endParaRPr b="0" i="0" sz="1800" u="none" cap="none" strike="noStrike">
              <a:solidFill>
                <a:schemeClr val="dk1"/>
              </a:solidFill>
              <a:latin typeface="Calibri"/>
              <a:ea typeface="Calibri"/>
              <a:cs typeface="Calibri"/>
              <a:sym typeface="Calibri"/>
            </a:endParaRPr>
          </a:p>
        </p:txBody>
      </p:sp>
      <p:sp>
        <p:nvSpPr>
          <p:cNvPr id="385" name="Google Shape;385;p13"/>
          <p:cNvSpPr/>
          <p:nvPr/>
        </p:nvSpPr>
        <p:spPr>
          <a:xfrm>
            <a:off x="2331720" y="455371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6" name="Google Shape;386;p13"/>
          <p:cNvSpPr txBox="1"/>
          <p:nvPr/>
        </p:nvSpPr>
        <p:spPr>
          <a:xfrm>
            <a:off x="2404872" y="4636008"/>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Fleet cost rises with volume</a:t>
            </a:r>
            <a:endParaRPr b="0" i="0" sz="1800" u="none" cap="none" strike="noStrike">
              <a:solidFill>
                <a:schemeClr val="dk1"/>
              </a:solidFill>
              <a:latin typeface="Calibri"/>
              <a:ea typeface="Calibri"/>
              <a:cs typeface="Calibri"/>
              <a:sym typeface="Calibri"/>
            </a:endParaRPr>
          </a:p>
        </p:txBody>
      </p:sp>
      <p:sp>
        <p:nvSpPr>
          <p:cNvPr id="387" name="Google Shape;387;p13"/>
          <p:cNvSpPr/>
          <p:nvPr/>
        </p:nvSpPr>
        <p:spPr>
          <a:xfrm>
            <a:off x="5166360" y="455371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8" name="Google Shape;388;p13"/>
          <p:cNvSpPr txBox="1"/>
          <p:nvPr/>
        </p:nvSpPr>
        <p:spPr>
          <a:xfrm>
            <a:off x="5239512" y="4636008"/>
            <a:ext cx="2596800" cy="329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Calibri"/>
              <a:buNone/>
            </a:pPr>
            <a:r>
              <a:rPr b="0" i="0" lang="en-US" sz="950" u="none" cap="none" strike="noStrike">
                <a:solidFill>
                  <a:srgbClr val="232B34"/>
                </a:solidFill>
                <a:latin typeface="Calibri"/>
                <a:ea typeface="Calibri"/>
                <a:cs typeface="Calibri"/>
                <a:sym typeface="Calibri"/>
              </a:rPr>
              <a:t>a lot of fuel wasted in transporting; high risk near the habitat</a:t>
            </a:r>
            <a:endParaRPr b="0" i="0" sz="950" u="none" cap="none" strike="noStrike">
              <a:solidFill>
                <a:srgbClr val="232B34"/>
              </a:solidFill>
              <a:latin typeface="Calibri"/>
              <a:ea typeface="Calibri"/>
              <a:cs typeface="Calibri"/>
              <a:sym typeface="Calibri"/>
            </a:endParaRPr>
          </a:p>
        </p:txBody>
      </p:sp>
      <p:sp>
        <p:nvSpPr>
          <p:cNvPr id="389" name="Google Shape;389;p13"/>
          <p:cNvSpPr/>
          <p:nvPr/>
        </p:nvSpPr>
        <p:spPr>
          <a:xfrm>
            <a:off x="8001000" y="4553712"/>
            <a:ext cx="361188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0" name="Google Shape;390;p13"/>
          <p:cNvSpPr txBox="1"/>
          <p:nvPr/>
        </p:nvSpPr>
        <p:spPr>
          <a:xfrm>
            <a:off x="8074152" y="4636008"/>
            <a:ext cx="34656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Tether is unproven; container mass matters </a:t>
            </a:r>
            <a:endParaRPr b="0" i="0" sz="1800" u="none" cap="none" strike="noStrike">
              <a:solidFill>
                <a:schemeClr val="dk1"/>
              </a:solidFill>
              <a:latin typeface="Calibri"/>
              <a:ea typeface="Calibri"/>
              <a:cs typeface="Calibri"/>
              <a:sym typeface="Calibri"/>
            </a:endParaRPr>
          </a:p>
        </p:txBody>
      </p:sp>
      <p:sp>
        <p:nvSpPr>
          <p:cNvPr id="391" name="Google Shape;391;p13"/>
          <p:cNvSpPr/>
          <p:nvPr/>
        </p:nvSpPr>
        <p:spPr>
          <a:xfrm>
            <a:off x="594360" y="5486400"/>
            <a:ext cx="11018520" cy="621792"/>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2" name="Google Shape;392;p13"/>
          <p:cNvSpPr txBox="1"/>
          <p:nvPr/>
        </p:nvSpPr>
        <p:spPr>
          <a:xfrm>
            <a:off x="777240" y="5641848"/>
            <a:ext cx="106071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our concept is clearly superior to chemical propulsion and easily beats electric propulsion at higher volumes</a:t>
            </a:r>
            <a:endParaRPr b="0" i="0" sz="1800" u="none" cap="none" strike="noStrike">
              <a:solidFill>
                <a:schemeClr val="dk1"/>
              </a:solidFill>
              <a:latin typeface="Calibri"/>
              <a:ea typeface="Calibri"/>
              <a:cs typeface="Calibri"/>
              <a:sym typeface="Calibri"/>
            </a:endParaRPr>
          </a:p>
        </p:txBody>
      </p:sp>
      <p:sp>
        <p:nvSpPr>
          <p:cNvPr id="393" name="Google Shape;393;p13"/>
          <p:cNvSpPr txBox="1"/>
          <p:nvPr/>
        </p:nvSpPr>
        <p:spPr>
          <a:xfrm>
            <a:off x="5239572" y="1966578"/>
            <a:ext cx="2596800" cy="190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Full Astroid Relocation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97" name="Shape 397"/>
        <p:cNvGrpSpPr/>
        <p:nvPr/>
      </p:nvGrpSpPr>
      <p:grpSpPr>
        <a:xfrm>
          <a:off x="0" y="0"/>
          <a:ext cx="0" cy="0"/>
          <a:chOff x="0" y="0"/>
          <a:chExt cx="0" cy="0"/>
        </a:xfrm>
      </p:grpSpPr>
      <p:sp>
        <p:nvSpPr>
          <p:cNvPr id="398" name="Google Shape;398;p14"/>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900"/>
              <a:buFont typeface="Arial"/>
              <a:buNone/>
            </a:pPr>
            <a:r>
              <a:rPr b="1" i="0" lang="en-US" sz="900" u="none" cap="none" strike="noStrike">
                <a:solidFill>
                  <a:srgbClr val="3E6897"/>
                </a:solidFill>
                <a:latin typeface="Arial"/>
                <a:ea typeface="Arial"/>
                <a:cs typeface="Arial"/>
                <a:sym typeface="Arial"/>
              </a:rPr>
              <a:t>AKS-3  |  STAC WARS • PS 4  |  06</a:t>
            </a:r>
            <a:endParaRPr b="0" i="0" sz="1800" u="none" cap="none" strike="noStrike">
              <a:solidFill>
                <a:schemeClr val="dk1"/>
              </a:solidFill>
              <a:latin typeface="Calibri"/>
              <a:ea typeface="Calibri"/>
              <a:cs typeface="Calibri"/>
              <a:sym typeface="Calibri"/>
            </a:endParaRPr>
          </a:p>
        </p:txBody>
      </p:sp>
      <p:sp>
        <p:nvSpPr>
          <p:cNvPr id="399" name="Google Shape;399;p14"/>
          <p:cNvSpPr txBox="1"/>
          <p:nvPr/>
        </p:nvSpPr>
        <p:spPr>
          <a:xfrm>
            <a:off x="502920" y="530352"/>
            <a:ext cx="11064300" cy="4062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2400"/>
              <a:buFont typeface="Calibri"/>
              <a:buNone/>
            </a:pPr>
            <a:r>
              <a:rPr b="1" i="0" lang="en-US" sz="2400" u="none" cap="none" strike="noStrike">
                <a:solidFill>
                  <a:srgbClr val="1F3752"/>
                </a:solidFill>
                <a:latin typeface="Calibri"/>
                <a:ea typeface="Calibri"/>
                <a:cs typeface="Calibri"/>
                <a:sym typeface="Calibri"/>
              </a:rPr>
              <a:t>Part C: </a:t>
            </a:r>
            <a:r>
              <a:rPr b="1" i="0" lang="en-US" sz="2400" u="none" cap="none" strike="noStrike">
                <a:solidFill>
                  <a:srgbClr val="1F3752"/>
                </a:solidFill>
                <a:latin typeface="Arial"/>
                <a:ea typeface="Arial"/>
                <a:cs typeface="Arial"/>
                <a:sym typeface="Arial"/>
              </a:rPr>
              <a:t>Business model</a:t>
            </a:r>
            <a:endParaRPr b="0" i="0" sz="1800" u="none" cap="none" strike="noStrike">
              <a:solidFill>
                <a:schemeClr val="dk1"/>
              </a:solidFill>
              <a:latin typeface="Calibri"/>
              <a:ea typeface="Calibri"/>
              <a:cs typeface="Calibri"/>
              <a:sym typeface="Calibri"/>
            </a:endParaRPr>
          </a:p>
        </p:txBody>
      </p:sp>
      <p:sp>
        <p:nvSpPr>
          <p:cNvPr id="400" name="Google Shape;400;p14"/>
          <p:cNvSpPr txBox="1"/>
          <p:nvPr/>
        </p:nvSpPr>
        <p:spPr>
          <a:xfrm>
            <a:off x="530352" y="1078992"/>
            <a:ext cx="10972800" cy="3200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100"/>
              <a:buFont typeface="Arial"/>
              <a:buNone/>
            </a:pPr>
            <a:r>
              <a:rPr b="0" i="0" lang="en-US" sz="1100" u="none" cap="none" strike="noStrike">
                <a:solidFill>
                  <a:srgbClr val="626E7A"/>
                </a:solidFill>
                <a:latin typeface="Arial"/>
                <a:ea typeface="Arial"/>
                <a:cs typeface="Arial"/>
                <a:sym typeface="Arial"/>
              </a:rPr>
              <a:t>The business case depends on a reliable customer at L4.</a:t>
            </a:r>
            <a:endParaRPr b="0" i="0" sz="1800" u="none" cap="none" strike="noStrike">
              <a:solidFill>
                <a:schemeClr val="dk1"/>
              </a:solidFill>
              <a:latin typeface="Calibri"/>
              <a:ea typeface="Calibri"/>
              <a:cs typeface="Calibri"/>
              <a:sym typeface="Calibri"/>
            </a:endParaRPr>
          </a:p>
        </p:txBody>
      </p:sp>
      <p:sp>
        <p:nvSpPr>
          <p:cNvPr id="401" name="Google Shape;401;p14"/>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2" name="Google Shape;402;p14"/>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Clr>
                <a:srgbClr val="626E7A"/>
              </a:buClr>
              <a:buSzPts val="900"/>
              <a:buFont typeface="Arial"/>
              <a:buNone/>
            </a:pPr>
            <a:r>
              <a:rPr b="1" i="0" lang="en-US" sz="900" u="none" cap="none" strike="noStrike">
                <a:solidFill>
                  <a:srgbClr val="626E7A"/>
                </a:solidFill>
                <a:latin typeface="Arial"/>
                <a:ea typeface="Arial"/>
                <a:cs typeface="Arial"/>
                <a:sym typeface="Arial"/>
              </a:rPr>
              <a:t>6</a:t>
            </a:r>
            <a:endParaRPr b="0" i="0" sz="1800" u="none" cap="none" strike="noStrike">
              <a:solidFill>
                <a:schemeClr val="dk1"/>
              </a:solidFill>
              <a:latin typeface="Calibri"/>
              <a:ea typeface="Calibri"/>
              <a:cs typeface="Calibri"/>
              <a:sym typeface="Calibri"/>
            </a:endParaRPr>
          </a:p>
        </p:txBody>
      </p:sp>
      <p:sp>
        <p:nvSpPr>
          <p:cNvPr id="403" name="Google Shape;403;p14"/>
          <p:cNvSpPr/>
          <p:nvPr/>
        </p:nvSpPr>
        <p:spPr>
          <a:xfrm>
            <a:off x="594360" y="1828800"/>
            <a:ext cx="3474720" cy="324612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4" name="Google Shape;404;p14"/>
          <p:cNvSpPr txBox="1"/>
          <p:nvPr/>
        </p:nvSpPr>
        <p:spPr>
          <a:xfrm>
            <a:off x="740664" y="1938528"/>
            <a:ext cx="318211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What we sell</a:t>
            </a:r>
            <a:endParaRPr b="0" i="0" sz="1800" u="none" cap="none" strike="noStrike">
              <a:solidFill>
                <a:schemeClr val="dk1"/>
              </a:solidFill>
              <a:latin typeface="Calibri"/>
              <a:ea typeface="Calibri"/>
              <a:cs typeface="Calibri"/>
              <a:sym typeface="Calibri"/>
            </a:endParaRPr>
          </a:p>
        </p:txBody>
      </p:sp>
      <p:sp>
        <p:nvSpPr>
          <p:cNvPr id="405" name="Google Shape;405;p14"/>
          <p:cNvSpPr txBox="1"/>
          <p:nvPr/>
        </p:nvSpPr>
        <p:spPr>
          <a:xfrm>
            <a:off x="740664" y="2267712"/>
            <a:ext cx="3182100" cy="1560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 Rubble for shielding</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 Iron-nickel for hulls</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 Water and volatiles. water as possible propellant feedstock as a later addition</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 Platinum-group metals as a byproduct</a:t>
            </a:r>
            <a:endParaRPr b="0" i="0" sz="1800" u="none" cap="none" strike="noStrike">
              <a:solidFill>
                <a:schemeClr val="dk1"/>
              </a:solidFill>
              <a:latin typeface="Calibri"/>
              <a:ea typeface="Calibri"/>
              <a:cs typeface="Calibri"/>
              <a:sym typeface="Calibri"/>
            </a:endParaRPr>
          </a:p>
        </p:txBody>
      </p:sp>
      <p:sp>
        <p:nvSpPr>
          <p:cNvPr id="406" name="Google Shape;406;p14"/>
          <p:cNvSpPr/>
          <p:nvPr/>
        </p:nvSpPr>
        <p:spPr>
          <a:xfrm>
            <a:off x="4343400" y="1828800"/>
            <a:ext cx="3474720" cy="324612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7" name="Google Shape;407;p14"/>
          <p:cNvSpPr txBox="1"/>
          <p:nvPr/>
        </p:nvSpPr>
        <p:spPr>
          <a:xfrm>
            <a:off x="4489704" y="1938528"/>
            <a:ext cx="318211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BE7D32"/>
              </a:buClr>
              <a:buSzPts val="1200"/>
              <a:buFont typeface="Arial"/>
              <a:buNone/>
            </a:pPr>
            <a:r>
              <a:rPr b="1" i="0" lang="en-US" sz="1200" u="none" cap="none" strike="noStrike">
                <a:solidFill>
                  <a:srgbClr val="BE7D32"/>
                </a:solidFill>
                <a:latin typeface="Arial"/>
                <a:ea typeface="Arial"/>
                <a:cs typeface="Arial"/>
                <a:sym typeface="Arial"/>
              </a:rPr>
              <a:t>Who buys it?</a:t>
            </a:r>
            <a:endParaRPr b="0" i="0" sz="1800" u="none" cap="none" strike="noStrike">
              <a:solidFill>
                <a:schemeClr val="dk1"/>
              </a:solidFill>
              <a:latin typeface="Calibri"/>
              <a:ea typeface="Calibri"/>
              <a:cs typeface="Calibri"/>
              <a:sym typeface="Calibri"/>
            </a:endParaRPr>
          </a:p>
        </p:txBody>
      </p:sp>
      <p:sp>
        <p:nvSpPr>
          <p:cNvPr id="408" name="Google Shape;408;p14"/>
          <p:cNvSpPr txBox="1"/>
          <p:nvPr/>
        </p:nvSpPr>
        <p:spPr>
          <a:xfrm>
            <a:off x="4489704" y="2267712"/>
            <a:ext cx="3182112" cy="27432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Anchor customer: L4 project organising committee.</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Possible second buyer: a shipyard building deep-space craft at L4.</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Assumption: customers value in-space supply because it avoids launching from Earth.</a:t>
            </a:r>
            <a:endParaRPr b="0" i="0" sz="1800" u="none" cap="none" strike="noStrike">
              <a:solidFill>
                <a:schemeClr val="dk1"/>
              </a:solidFill>
              <a:latin typeface="Calibri"/>
              <a:ea typeface="Calibri"/>
              <a:cs typeface="Calibri"/>
              <a:sym typeface="Calibri"/>
            </a:endParaRPr>
          </a:p>
        </p:txBody>
      </p:sp>
      <p:sp>
        <p:nvSpPr>
          <p:cNvPr id="409" name="Google Shape;409;p14"/>
          <p:cNvSpPr/>
          <p:nvPr/>
        </p:nvSpPr>
        <p:spPr>
          <a:xfrm>
            <a:off x="8092440" y="1828800"/>
            <a:ext cx="3520440" cy="324612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0" name="Google Shape;410;p14"/>
          <p:cNvSpPr txBox="1"/>
          <p:nvPr/>
        </p:nvSpPr>
        <p:spPr>
          <a:xfrm>
            <a:off x="8238744" y="1938528"/>
            <a:ext cx="322783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498267"/>
              </a:buClr>
              <a:buSzPts val="1200"/>
              <a:buFont typeface="Arial"/>
              <a:buNone/>
            </a:pPr>
            <a:r>
              <a:rPr b="1" i="0" lang="en-US" sz="1200" u="none" cap="none" strike="noStrike">
                <a:solidFill>
                  <a:srgbClr val="498267"/>
                </a:solidFill>
                <a:latin typeface="Arial"/>
                <a:ea typeface="Arial"/>
                <a:cs typeface="Arial"/>
                <a:sym typeface="Arial"/>
              </a:rPr>
              <a:t>How funding works</a:t>
            </a:r>
            <a:endParaRPr b="0" i="0" sz="1800" u="none" cap="none" strike="noStrike">
              <a:solidFill>
                <a:schemeClr val="dk1"/>
              </a:solidFill>
              <a:latin typeface="Calibri"/>
              <a:ea typeface="Calibri"/>
              <a:cs typeface="Calibri"/>
              <a:sym typeface="Calibri"/>
            </a:endParaRPr>
          </a:p>
        </p:txBody>
      </p:sp>
      <p:sp>
        <p:nvSpPr>
          <p:cNvPr id="411" name="Google Shape;411;p14"/>
          <p:cNvSpPr txBox="1"/>
          <p:nvPr/>
        </p:nvSpPr>
        <p:spPr>
          <a:xfrm>
            <a:off x="8238744" y="2267712"/>
            <a:ext cx="3227700" cy="172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1. Han funds a technical demo.</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2. Demo milestones unlock a capex advance</a:t>
            </a:r>
            <a:r>
              <a:rPr b="0" i="0" lang="en-US" sz="1050" u="none" cap="none" strike="noStrike">
                <a:solidFill>
                  <a:srgbClr val="232B34"/>
                </a:solidFill>
                <a:latin typeface="Calibri"/>
                <a:ea typeface="Calibri"/>
                <a:cs typeface="Calibri"/>
                <a:sym typeface="Calibri"/>
              </a:rPr>
              <a:t> from the L4 organising committee</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3. Deliveries repay the advance through rebates.</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050"/>
              <a:buFont typeface="Calibri"/>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4. Expand to the asteroid belt if near-Earth targets deplete.</a:t>
            </a:r>
            <a:endParaRPr b="0" i="0" sz="1800" u="none" cap="none" strike="noStrike">
              <a:solidFill>
                <a:schemeClr val="dk1"/>
              </a:solidFill>
              <a:latin typeface="Calibri"/>
              <a:ea typeface="Calibri"/>
              <a:cs typeface="Calibri"/>
              <a:sym typeface="Calibri"/>
            </a:endParaRPr>
          </a:p>
        </p:txBody>
      </p:sp>
      <p:sp>
        <p:nvSpPr>
          <p:cNvPr id="412" name="Google Shape;412;p14"/>
          <p:cNvSpPr txBox="1"/>
          <p:nvPr/>
        </p:nvSpPr>
        <p:spPr>
          <a:xfrm>
            <a:off x="685800" y="5486400"/>
            <a:ext cx="10789920" cy="41148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000"/>
              <a:buFont typeface="Arial"/>
              <a:buNone/>
            </a:pPr>
            <a:r>
              <a:rPr b="0" i="0" lang="en-US" sz="1000" u="none" cap="none" strike="noStrike">
                <a:solidFill>
                  <a:srgbClr val="626E7A"/>
                </a:solidFill>
                <a:latin typeface="Arial"/>
                <a:ea typeface="Arial"/>
                <a:cs typeface="Arial"/>
                <a:sym typeface="Arial"/>
              </a:rPr>
              <a:t>Revenue: per-tonne supply contract. Pricing below Earth-launch cost is an assumption, not a confirmed market price.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16" name="Shape 416"/>
        <p:cNvGrpSpPr/>
        <p:nvPr/>
      </p:nvGrpSpPr>
      <p:grpSpPr>
        <a:xfrm>
          <a:off x="0" y="0"/>
          <a:ext cx="0" cy="0"/>
          <a:chOff x="0" y="0"/>
          <a:chExt cx="0" cy="0"/>
        </a:xfrm>
      </p:grpSpPr>
      <p:sp>
        <p:nvSpPr>
          <p:cNvPr id="417" name="Google Shape;417;p15"/>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900"/>
              <a:buFont typeface="Arial"/>
              <a:buNone/>
            </a:pPr>
            <a:r>
              <a:rPr b="1" i="0" lang="en-US" sz="900" u="none" cap="none" strike="noStrike">
                <a:solidFill>
                  <a:srgbClr val="3E6897"/>
                </a:solidFill>
                <a:latin typeface="Arial"/>
                <a:ea typeface="Arial"/>
                <a:cs typeface="Arial"/>
                <a:sym typeface="Arial"/>
              </a:rPr>
              <a:t>AKS-3  |  STAC WARS • PS 4  |  07</a:t>
            </a:r>
            <a:endParaRPr b="0" i="0" sz="1800" u="none" cap="none" strike="noStrike">
              <a:solidFill>
                <a:schemeClr val="dk1"/>
              </a:solidFill>
              <a:latin typeface="Calibri"/>
              <a:ea typeface="Calibri"/>
              <a:cs typeface="Calibri"/>
              <a:sym typeface="Calibri"/>
            </a:endParaRPr>
          </a:p>
        </p:txBody>
      </p:sp>
      <p:sp>
        <p:nvSpPr>
          <p:cNvPr id="418" name="Google Shape;418;p15"/>
          <p:cNvSpPr txBox="1"/>
          <p:nvPr/>
        </p:nvSpPr>
        <p:spPr>
          <a:xfrm>
            <a:off x="502920" y="530352"/>
            <a:ext cx="11064240" cy="5029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1F3752"/>
              </a:buClr>
              <a:buSzPts val="2400"/>
              <a:buFont typeface="Arial"/>
              <a:buNone/>
            </a:pPr>
            <a:r>
              <a:rPr b="1" i="0" lang="en-US" sz="2400" u="none" cap="none" strike="noStrike">
                <a:solidFill>
                  <a:srgbClr val="1F3752"/>
                </a:solidFill>
                <a:latin typeface="Arial"/>
                <a:ea typeface="Arial"/>
                <a:cs typeface="Arial"/>
                <a:sym typeface="Arial"/>
              </a:rPr>
              <a:t>Risks and roadmap</a:t>
            </a:r>
            <a:endParaRPr b="0" i="0" sz="1800" u="none" cap="none" strike="noStrike">
              <a:solidFill>
                <a:schemeClr val="dk1"/>
              </a:solidFill>
              <a:latin typeface="Calibri"/>
              <a:ea typeface="Calibri"/>
              <a:cs typeface="Calibri"/>
              <a:sym typeface="Calibri"/>
            </a:endParaRPr>
          </a:p>
        </p:txBody>
      </p:sp>
      <p:sp>
        <p:nvSpPr>
          <p:cNvPr id="419" name="Google Shape;419;p15"/>
          <p:cNvSpPr txBox="1"/>
          <p:nvPr/>
        </p:nvSpPr>
        <p:spPr>
          <a:xfrm>
            <a:off x="530352" y="1078992"/>
            <a:ext cx="10972800" cy="3200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100"/>
              <a:buFont typeface="Arial"/>
              <a:buNone/>
            </a:pPr>
            <a:r>
              <a:rPr b="0" i="0" lang="en-US" sz="1100" u="none" cap="none" strike="noStrike">
                <a:solidFill>
                  <a:srgbClr val="626E7A"/>
                </a:solidFill>
                <a:latin typeface="Arial"/>
                <a:ea typeface="Arial"/>
                <a:cs typeface="Arial"/>
                <a:sym typeface="Arial"/>
              </a:rPr>
              <a:t>Test the difficult parts early before committing to the full system.</a:t>
            </a:r>
            <a:endParaRPr b="0" i="0" sz="1800" u="none" cap="none" strike="noStrike">
              <a:solidFill>
                <a:schemeClr val="dk1"/>
              </a:solidFill>
              <a:latin typeface="Calibri"/>
              <a:ea typeface="Calibri"/>
              <a:cs typeface="Calibri"/>
              <a:sym typeface="Calibri"/>
            </a:endParaRPr>
          </a:p>
        </p:txBody>
      </p:sp>
      <p:sp>
        <p:nvSpPr>
          <p:cNvPr id="420" name="Google Shape;420;p15"/>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1" name="Google Shape;421;p15"/>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Clr>
                <a:srgbClr val="626E7A"/>
              </a:buClr>
              <a:buSzPts val="900"/>
              <a:buFont typeface="Arial"/>
              <a:buNone/>
            </a:pPr>
            <a:r>
              <a:rPr b="1" i="0" lang="en-US" sz="900" u="none" cap="none" strike="noStrike">
                <a:solidFill>
                  <a:srgbClr val="626E7A"/>
                </a:solidFill>
                <a:latin typeface="Arial"/>
                <a:ea typeface="Arial"/>
                <a:cs typeface="Arial"/>
                <a:sym typeface="Arial"/>
              </a:rPr>
              <a:t>7</a:t>
            </a:r>
            <a:endParaRPr b="0" i="0" sz="1800" u="none" cap="none" strike="noStrike">
              <a:solidFill>
                <a:schemeClr val="dk1"/>
              </a:solidFill>
              <a:latin typeface="Calibri"/>
              <a:ea typeface="Calibri"/>
              <a:cs typeface="Calibri"/>
              <a:sym typeface="Calibri"/>
            </a:endParaRPr>
          </a:p>
        </p:txBody>
      </p:sp>
      <p:sp>
        <p:nvSpPr>
          <p:cNvPr id="422" name="Google Shape;422;p15"/>
          <p:cNvSpPr/>
          <p:nvPr/>
        </p:nvSpPr>
        <p:spPr>
          <a:xfrm>
            <a:off x="594360" y="1828800"/>
            <a:ext cx="525780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3" name="Google Shape;423;p15"/>
          <p:cNvSpPr txBox="1"/>
          <p:nvPr/>
        </p:nvSpPr>
        <p:spPr>
          <a:xfrm>
            <a:off x="740664" y="1938528"/>
            <a:ext cx="496519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Single customer</a:t>
            </a:r>
            <a:endParaRPr b="0" i="0" sz="1800" u="none" cap="none" strike="noStrike">
              <a:solidFill>
                <a:schemeClr val="dk1"/>
              </a:solidFill>
              <a:latin typeface="Calibri"/>
              <a:ea typeface="Calibri"/>
              <a:cs typeface="Calibri"/>
              <a:sym typeface="Calibri"/>
            </a:endParaRPr>
          </a:p>
        </p:txBody>
      </p:sp>
      <p:sp>
        <p:nvSpPr>
          <p:cNvPr id="424" name="Google Shape;424;p15"/>
          <p:cNvSpPr txBox="1"/>
          <p:nvPr/>
        </p:nvSpPr>
        <p:spPr>
          <a:xfrm>
            <a:off x="740664" y="2267712"/>
            <a:ext cx="4965192" cy="411479"/>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Minimum-purchase clause, termination payment for unrecovered capex, and a second buyer.</a:t>
            </a:r>
            <a:endParaRPr b="0" i="0" sz="1800" u="none" cap="none" strike="noStrike">
              <a:solidFill>
                <a:schemeClr val="dk1"/>
              </a:solidFill>
              <a:latin typeface="Calibri"/>
              <a:ea typeface="Calibri"/>
              <a:cs typeface="Calibri"/>
              <a:sym typeface="Calibri"/>
            </a:endParaRPr>
          </a:p>
        </p:txBody>
      </p:sp>
      <p:sp>
        <p:nvSpPr>
          <p:cNvPr id="425" name="Google Shape;425;p15"/>
          <p:cNvSpPr/>
          <p:nvPr/>
        </p:nvSpPr>
        <p:spPr>
          <a:xfrm>
            <a:off x="594360" y="2926080"/>
            <a:ext cx="525780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6" name="Google Shape;426;p15"/>
          <p:cNvSpPr txBox="1"/>
          <p:nvPr/>
        </p:nvSpPr>
        <p:spPr>
          <a:xfrm>
            <a:off x="740664" y="3035808"/>
            <a:ext cx="496519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Tether strength</a:t>
            </a:r>
            <a:endParaRPr b="0" i="0" sz="1800" u="none" cap="none" strike="noStrike">
              <a:solidFill>
                <a:schemeClr val="dk1"/>
              </a:solidFill>
              <a:latin typeface="Calibri"/>
              <a:ea typeface="Calibri"/>
              <a:cs typeface="Calibri"/>
              <a:sym typeface="Calibri"/>
            </a:endParaRPr>
          </a:p>
        </p:txBody>
      </p:sp>
      <p:sp>
        <p:nvSpPr>
          <p:cNvPr id="427" name="Google Shape;427;p15"/>
          <p:cNvSpPr txBox="1"/>
          <p:nvPr/>
        </p:nvSpPr>
        <p:spPr>
          <a:xfrm>
            <a:off x="740664" y="3364992"/>
            <a:ext cx="4965300" cy="360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Calibri"/>
              <a:buNone/>
            </a:pPr>
            <a:r>
              <a:rPr b="0" i="0" lang="en-US" sz="1050" u="none" cap="none" strike="noStrike">
                <a:solidFill>
                  <a:srgbClr val="232B34"/>
                </a:solidFill>
                <a:latin typeface="Calibri"/>
                <a:ea typeface="Calibri"/>
                <a:cs typeface="Calibri"/>
                <a:sym typeface="Calibri"/>
              </a:rPr>
              <a:t>carbon nanotubes for maximum strength  and spare tether on site in case of breakage</a:t>
            </a:r>
            <a:r>
              <a:rPr b="0" i="0" lang="en-US" sz="1050" u="none" cap="none" strike="noStrike">
                <a:solidFill>
                  <a:srgbClr val="232B34"/>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28" name="Google Shape;428;p15"/>
          <p:cNvSpPr/>
          <p:nvPr/>
        </p:nvSpPr>
        <p:spPr>
          <a:xfrm>
            <a:off x="594360" y="4023360"/>
            <a:ext cx="525780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9" name="Google Shape;429;p15"/>
          <p:cNvSpPr txBox="1"/>
          <p:nvPr/>
        </p:nvSpPr>
        <p:spPr>
          <a:xfrm>
            <a:off x="740664" y="4133088"/>
            <a:ext cx="496519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Anchoring failure</a:t>
            </a:r>
            <a:endParaRPr b="0" i="0" sz="1800" u="none" cap="none" strike="noStrike">
              <a:solidFill>
                <a:schemeClr val="dk1"/>
              </a:solidFill>
              <a:latin typeface="Calibri"/>
              <a:ea typeface="Calibri"/>
              <a:cs typeface="Calibri"/>
              <a:sym typeface="Calibri"/>
            </a:endParaRPr>
          </a:p>
        </p:txBody>
      </p:sp>
      <p:sp>
        <p:nvSpPr>
          <p:cNvPr id="430" name="Google Shape;430;p15"/>
          <p:cNvSpPr txBox="1"/>
          <p:nvPr/>
        </p:nvSpPr>
        <p:spPr>
          <a:xfrm>
            <a:off x="740664" y="4462272"/>
            <a:ext cx="4965192" cy="411479"/>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1050"/>
              <a:buFont typeface="Arial"/>
              <a:buNone/>
            </a:pPr>
            <a:r>
              <a:rPr b="0" i="0" lang="en-US" sz="1050" u="none" cap="none" strike="noStrike">
                <a:solidFill>
                  <a:srgbClr val="232B34"/>
                </a:solidFill>
                <a:latin typeface="Arial"/>
                <a:ea typeface="Arial"/>
                <a:cs typeface="Arial"/>
                <a:sym typeface="Arial"/>
              </a:rPr>
              <a:t>Survey each target and choose drilled anchors, netting or wrapping as appropriate.</a:t>
            </a:r>
            <a:endParaRPr b="0" i="0" sz="1800" u="none" cap="none" strike="noStrike">
              <a:solidFill>
                <a:schemeClr val="dk1"/>
              </a:solidFill>
              <a:latin typeface="Calibri"/>
              <a:ea typeface="Calibri"/>
              <a:cs typeface="Calibri"/>
              <a:sym typeface="Calibri"/>
            </a:endParaRPr>
          </a:p>
        </p:txBody>
      </p:sp>
      <p:sp>
        <p:nvSpPr>
          <p:cNvPr id="431" name="Google Shape;431;p15"/>
          <p:cNvSpPr txBox="1"/>
          <p:nvPr/>
        </p:nvSpPr>
        <p:spPr>
          <a:xfrm>
            <a:off x="6263640" y="1828800"/>
            <a:ext cx="4754880" cy="2743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200"/>
              <a:buFont typeface="Arial"/>
              <a:buNone/>
            </a:pPr>
            <a:r>
              <a:rPr b="1" i="0" lang="en-US" sz="1200" u="none" cap="none" strike="noStrike">
                <a:solidFill>
                  <a:srgbClr val="3E6897"/>
                </a:solidFill>
                <a:latin typeface="Arial"/>
                <a:ea typeface="Arial"/>
                <a:cs typeface="Arial"/>
                <a:sym typeface="Arial"/>
              </a:rPr>
              <a:t>PROPOSED ROADMAP</a:t>
            </a:r>
            <a:endParaRPr b="0" i="0" sz="1800" u="none" cap="none" strike="noStrike">
              <a:solidFill>
                <a:schemeClr val="dk1"/>
              </a:solidFill>
              <a:latin typeface="Calibri"/>
              <a:ea typeface="Calibri"/>
              <a:cs typeface="Calibri"/>
              <a:sym typeface="Calibri"/>
            </a:endParaRPr>
          </a:p>
        </p:txBody>
      </p:sp>
      <p:sp>
        <p:nvSpPr>
          <p:cNvPr id="432" name="Google Shape;432;p15"/>
          <p:cNvSpPr/>
          <p:nvPr/>
        </p:nvSpPr>
        <p:spPr>
          <a:xfrm>
            <a:off x="6263640" y="2331720"/>
            <a:ext cx="5029200" cy="59436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3" name="Google Shape;433;p15"/>
          <p:cNvSpPr txBox="1"/>
          <p:nvPr/>
        </p:nvSpPr>
        <p:spPr>
          <a:xfrm>
            <a:off x="6400800" y="2404872"/>
            <a:ext cx="1417320" cy="21945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000"/>
              <a:buFont typeface="Arial"/>
              <a:buNone/>
            </a:pPr>
            <a:r>
              <a:rPr b="1" i="0" lang="en-US" sz="1000" u="none" cap="none" strike="noStrike">
                <a:solidFill>
                  <a:srgbClr val="3E6897"/>
                </a:solidFill>
                <a:latin typeface="Arial"/>
                <a:ea typeface="Arial"/>
                <a:cs typeface="Arial"/>
                <a:sym typeface="Arial"/>
              </a:rPr>
              <a:t>1. Demo</a:t>
            </a:r>
            <a:endParaRPr b="0" i="0" sz="1800" u="none" cap="none" strike="noStrike">
              <a:solidFill>
                <a:schemeClr val="dk1"/>
              </a:solidFill>
              <a:latin typeface="Calibri"/>
              <a:ea typeface="Calibri"/>
              <a:cs typeface="Calibri"/>
              <a:sym typeface="Calibri"/>
            </a:endParaRPr>
          </a:p>
        </p:txBody>
      </p:sp>
      <p:sp>
        <p:nvSpPr>
          <p:cNvPr id="434" name="Google Shape;434;p15"/>
          <p:cNvSpPr txBox="1"/>
          <p:nvPr/>
        </p:nvSpPr>
        <p:spPr>
          <a:xfrm>
            <a:off x="7863840" y="2404872"/>
            <a:ext cx="3246000" cy="329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Scout, anchor, small launch and catch in order to seqire funding</a:t>
            </a:r>
            <a:endParaRPr b="0" i="0" sz="1800" u="none" cap="none" strike="noStrike">
              <a:solidFill>
                <a:schemeClr val="dk1"/>
              </a:solidFill>
              <a:latin typeface="Calibri"/>
              <a:ea typeface="Calibri"/>
              <a:cs typeface="Calibri"/>
              <a:sym typeface="Calibri"/>
            </a:endParaRPr>
          </a:p>
        </p:txBody>
      </p:sp>
      <p:sp>
        <p:nvSpPr>
          <p:cNvPr id="435" name="Google Shape;435;p15"/>
          <p:cNvSpPr/>
          <p:nvPr/>
        </p:nvSpPr>
        <p:spPr>
          <a:xfrm>
            <a:off x="6263640" y="3108960"/>
            <a:ext cx="5029200" cy="59436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6" name="Google Shape;436;p15"/>
          <p:cNvSpPr txBox="1"/>
          <p:nvPr/>
        </p:nvSpPr>
        <p:spPr>
          <a:xfrm>
            <a:off x="6400800" y="3182112"/>
            <a:ext cx="1417200" cy="344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000"/>
              <a:buFont typeface="Arial"/>
              <a:buNone/>
            </a:pPr>
            <a:r>
              <a:rPr b="1" i="0" lang="en-US" sz="1000" u="none" cap="none" strike="noStrike">
                <a:solidFill>
                  <a:srgbClr val="3E6897"/>
                </a:solidFill>
                <a:latin typeface="Arial"/>
                <a:ea typeface="Arial"/>
                <a:cs typeface="Arial"/>
                <a:sym typeface="Arial"/>
              </a:rPr>
              <a:t>2.</a:t>
            </a:r>
            <a:r>
              <a:rPr b="1" i="0" lang="en-US" sz="1000" u="none" cap="none" strike="noStrike">
                <a:solidFill>
                  <a:srgbClr val="3E6897"/>
                </a:solidFill>
                <a:latin typeface="Calibri"/>
                <a:ea typeface="Calibri"/>
                <a:cs typeface="Calibri"/>
                <a:sym typeface="Calibri"/>
              </a:rPr>
              <a:t>rubble and </a:t>
            </a:r>
            <a:endParaRPr b="1" i="0" sz="1000" u="none" cap="none" strike="noStrike">
              <a:solidFill>
                <a:srgbClr val="3E6897"/>
              </a:solidFill>
              <a:latin typeface="Calibri"/>
              <a:ea typeface="Calibri"/>
              <a:cs typeface="Calibri"/>
              <a:sym typeface="Calibri"/>
            </a:endParaRPr>
          </a:p>
          <a:p>
            <a:pPr indent="0" lvl="0" marL="0" marR="0" rtl="0" algn="l">
              <a:spcBef>
                <a:spcPts val="0"/>
              </a:spcBef>
              <a:spcAft>
                <a:spcPts val="0"/>
              </a:spcAft>
              <a:buClr>
                <a:srgbClr val="3E6897"/>
              </a:buClr>
              <a:buSzPts val="1000"/>
              <a:buFont typeface="Calibri"/>
              <a:buNone/>
            </a:pPr>
            <a:r>
              <a:rPr b="1" i="0" lang="en-US" sz="1000" u="none" cap="none" strike="noStrike">
                <a:solidFill>
                  <a:srgbClr val="3E6897"/>
                </a:solidFill>
                <a:latin typeface="Calibri"/>
                <a:ea typeface="Calibri"/>
                <a:cs typeface="Calibri"/>
                <a:sym typeface="Calibri"/>
              </a:rPr>
              <a:t>metal</a:t>
            </a:r>
            <a:endParaRPr b="1" i="0" sz="1000" u="none" cap="none" strike="noStrike">
              <a:solidFill>
                <a:srgbClr val="3E6897"/>
              </a:solidFill>
              <a:latin typeface="Calibri"/>
              <a:ea typeface="Calibri"/>
              <a:cs typeface="Calibri"/>
              <a:sym typeface="Calibri"/>
            </a:endParaRPr>
          </a:p>
        </p:txBody>
      </p:sp>
      <p:sp>
        <p:nvSpPr>
          <p:cNvPr id="437" name="Google Shape;437;p15"/>
          <p:cNvSpPr txBox="1"/>
          <p:nvPr/>
        </p:nvSpPr>
        <p:spPr>
          <a:xfrm>
            <a:off x="7924596" y="3182112"/>
            <a:ext cx="32460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Arial"/>
              <a:buNone/>
            </a:pPr>
            <a:r>
              <a:rPr b="0" i="0" lang="en-US" sz="950" u="none" cap="none" strike="noStrike">
                <a:solidFill>
                  <a:srgbClr val="232B34"/>
                </a:solidFill>
                <a:latin typeface="Arial"/>
                <a:ea typeface="Arial"/>
                <a:cs typeface="Arial"/>
                <a:sym typeface="Arial"/>
              </a:rPr>
              <a:t>Deliver shielding mass to L4</a:t>
            </a:r>
            <a:r>
              <a:rPr b="0" i="0" lang="en-US" sz="950" u="none" cap="none" strike="noStrike">
                <a:solidFill>
                  <a:srgbClr val="232B34"/>
                </a:solidFill>
                <a:latin typeface="Calibri"/>
                <a:ea typeface="Calibri"/>
                <a:cs typeface="Calibri"/>
                <a:sym typeface="Calibri"/>
              </a:rPr>
              <a:t>; provide hull building material</a:t>
            </a:r>
            <a:endParaRPr b="0" i="0" sz="950" u="none" cap="none" strike="noStrike">
              <a:solidFill>
                <a:srgbClr val="232B34"/>
              </a:solidFill>
              <a:latin typeface="Calibri"/>
              <a:ea typeface="Calibri"/>
              <a:cs typeface="Calibri"/>
              <a:sym typeface="Calibri"/>
            </a:endParaRPr>
          </a:p>
        </p:txBody>
      </p:sp>
      <p:sp>
        <p:nvSpPr>
          <p:cNvPr id="438" name="Google Shape;438;p15"/>
          <p:cNvSpPr/>
          <p:nvPr/>
        </p:nvSpPr>
        <p:spPr>
          <a:xfrm>
            <a:off x="6263640" y="3886225"/>
            <a:ext cx="5029200" cy="5943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9" name="Google Shape;439;p15"/>
          <p:cNvSpPr txBox="1"/>
          <p:nvPr/>
        </p:nvSpPr>
        <p:spPr>
          <a:xfrm>
            <a:off x="6380548" y="3999724"/>
            <a:ext cx="2732700" cy="344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000"/>
              <a:buFont typeface="Arial"/>
              <a:buNone/>
            </a:pPr>
            <a:r>
              <a:rPr b="1" i="0" lang="en-US" sz="1000" u="none" cap="none" strike="noStrike">
                <a:solidFill>
                  <a:srgbClr val="3E6897"/>
                </a:solidFill>
                <a:latin typeface="Arial"/>
                <a:ea typeface="Arial"/>
                <a:cs typeface="Arial"/>
                <a:sym typeface="Arial"/>
              </a:rPr>
              <a:t>3. </a:t>
            </a:r>
            <a:r>
              <a:rPr b="1" i="0" lang="en-US" sz="1000" u="none" cap="none" strike="noStrike">
                <a:solidFill>
                  <a:srgbClr val="3E6897"/>
                </a:solidFill>
                <a:latin typeface="Calibri"/>
                <a:ea typeface="Calibri"/>
                <a:cs typeface="Calibri"/>
                <a:sym typeface="Calibri"/>
              </a:rPr>
              <a:t>volatiles and </a:t>
            </a:r>
            <a:endParaRPr b="1" i="0" sz="1000" u="none" cap="none" strike="noStrike">
              <a:solidFill>
                <a:srgbClr val="3E6897"/>
              </a:solidFill>
              <a:latin typeface="Calibri"/>
              <a:ea typeface="Calibri"/>
              <a:cs typeface="Calibri"/>
              <a:sym typeface="Calibri"/>
            </a:endParaRPr>
          </a:p>
          <a:p>
            <a:pPr indent="0" lvl="0" marL="0" marR="0" rtl="0" algn="l">
              <a:spcBef>
                <a:spcPts val="0"/>
              </a:spcBef>
              <a:spcAft>
                <a:spcPts val="0"/>
              </a:spcAft>
              <a:buClr>
                <a:srgbClr val="3E6897"/>
              </a:buClr>
              <a:buSzPts val="1000"/>
              <a:buFont typeface="Calibri"/>
              <a:buNone/>
            </a:pPr>
            <a:r>
              <a:rPr b="1" i="0" lang="en-US" sz="1000" u="none" cap="none" strike="noStrike">
                <a:solidFill>
                  <a:srgbClr val="3E6897"/>
                </a:solidFill>
                <a:latin typeface="Calibri"/>
                <a:ea typeface="Calibri"/>
                <a:cs typeface="Calibri"/>
                <a:sym typeface="Calibri"/>
              </a:rPr>
              <a:t>propellant</a:t>
            </a:r>
            <a:endParaRPr b="1" i="0" sz="1000" u="none" cap="none" strike="noStrike">
              <a:solidFill>
                <a:srgbClr val="3E6897"/>
              </a:solidFill>
              <a:latin typeface="Calibri"/>
              <a:ea typeface="Calibri"/>
              <a:cs typeface="Calibri"/>
              <a:sym typeface="Calibri"/>
            </a:endParaRPr>
          </a:p>
        </p:txBody>
      </p:sp>
      <p:sp>
        <p:nvSpPr>
          <p:cNvPr id="440" name="Google Shape;440;p15"/>
          <p:cNvSpPr txBox="1"/>
          <p:nvPr/>
        </p:nvSpPr>
        <p:spPr>
          <a:xfrm>
            <a:off x="7863840" y="3959352"/>
            <a:ext cx="3246000" cy="475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232B34"/>
              </a:buClr>
              <a:buSzPts val="950"/>
              <a:buFont typeface="Calibri"/>
              <a:buNone/>
            </a:pPr>
            <a:r>
              <a:rPr b="0" i="0" lang="en-US" sz="950" u="none" cap="none" strike="noStrike">
                <a:solidFill>
                  <a:srgbClr val="232B34"/>
                </a:solidFill>
                <a:latin typeface="Calibri"/>
                <a:ea typeface="Calibri"/>
                <a:cs typeface="Calibri"/>
                <a:sym typeface="Calibri"/>
              </a:rPr>
              <a:t>start selling water as propellant; provide habitat with volatiles like carbon, hydrogen, oxygen, nitrogen from c-type asteroids</a:t>
            </a:r>
            <a:endParaRPr b="0" i="0" sz="1800" u="none" cap="none" strike="noStrike">
              <a:solidFill>
                <a:schemeClr val="dk1"/>
              </a:solidFill>
              <a:latin typeface="Calibri"/>
              <a:ea typeface="Calibri"/>
              <a:cs typeface="Calibri"/>
              <a:sym typeface="Calibri"/>
            </a:endParaRPr>
          </a:p>
        </p:txBody>
      </p:sp>
      <p:sp>
        <p:nvSpPr>
          <p:cNvPr id="441" name="Google Shape;441;p15"/>
          <p:cNvSpPr/>
          <p:nvPr/>
        </p:nvSpPr>
        <p:spPr>
          <a:xfrm>
            <a:off x="6263640" y="4663440"/>
            <a:ext cx="5029200" cy="59436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2" name="Google Shape;442;p15"/>
          <p:cNvSpPr txBox="1"/>
          <p:nvPr/>
        </p:nvSpPr>
        <p:spPr>
          <a:xfrm>
            <a:off x="6400800" y="4736592"/>
            <a:ext cx="1417200" cy="344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000"/>
              <a:buFont typeface="Arial"/>
              <a:buNone/>
            </a:pPr>
            <a:r>
              <a:rPr b="1" i="0" lang="en-US" sz="1000" u="none" cap="none" strike="noStrike">
                <a:solidFill>
                  <a:srgbClr val="3E6897"/>
                </a:solidFill>
                <a:latin typeface="Arial"/>
                <a:ea typeface="Arial"/>
                <a:cs typeface="Arial"/>
                <a:sym typeface="Arial"/>
              </a:rPr>
              <a:t>4.</a:t>
            </a:r>
            <a:r>
              <a:rPr b="1" i="0" lang="en-US" sz="1000" u="none" cap="none" strike="noStrike">
                <a:solidFill>
                  <a:srgbClr val="3E6897"/>
                </a:solidFill>
                <a:latin typeface="Calibri"/>
                <a:ea typeface="Calibri"/>
                <a:cs typeface="Calibri"/>
                <a:sym typeface="Calibri"/>
              </a:rPr>
              <a:t>expand the operations</a:t>
            </a:r>
            <a:endParaRPr b="0" i="0" sz="1800" u="none" cap="none" strike="noStrike">
              <a:solidFill>
                <a:schemeClr val="dk1"/>
              </a:solidFill>
              <a:latin typeface="Calibri"/>
              <a:ea typeface="Calibri"/>
              <a:cs typeface="Calibri"/>
              <a:sym typeface="Calibri"/>
            </a:endParaRPr>
          </a:p>
        </p:txBody>
      </p:sp>
      <p:sp>
        <p:nvSpPr>
          <p:cNvPr id="443" name="Google Shape;443;p15"/>
          <p:cNvSpPr txBox="1"/>
          <p:nvPr/>
        </p:nvSpPr>
        <p:spPr>
          <a:xfrm>
            <a:off x="7863840" y="4736592"/>
            <a:ext cx="3246000" cy="475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start mining in  asteroid belt as the demand increases, start supplying to the ship building and other industries at L4 and beyond  </a:t>
            </a:r>
            <a:endParaRPr b="0" i="0" sz="950" u="none" cap="none" strike="noStrike">
              <a:solidFill>
                <a:schemeClr val="dk1"/>
              </a:solidFill>
              <a:latin typeface="Calibri"/>
              <a:ea typeface="Calibri"/>
              <a:cs typeface="Calibri"/>
              <a:sym typeface="Calibri"/>
            </a:endParaRPr>
          </a:p>
        </p:txBody>
      </p:sp>
      <p:sp>
        <p:nvSpPr>
          <p:cNvPr id="444" name="Google Shape;444;p15"/>
          <p:cNvSpPr txBox="1"/>
          <p:nvPr/>
        </p:nvSpPr>
        <p:spPr>
          <a:xfrm>
            <a:off x="685800" y="5806440"/>
            <a:ext cx="10698600" cy="190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000"/>
              <a:buFont typeface="Calibri"/>
              <a:buNone/>
            </a:pPr>
            <a:r>
              <a:rPr b="0" i="0" lang="en-US" sz="1000" u="none" cap="none" strike="noStrike">
                <a:solidFill>
                  <a:srgbClr val="626E7A"/>
                </a:solidFill>
                <a:latin typeface="Calibri"/>
                <a:ea typeface="Calibri"/>
                <a:cs typeface="Calibri"/>
                <a:sym typeface="Calibri"/>
              </a:rPr>
              <a:t>note: </a:t>
            </a:r>
            <a:r>
              <a:rPr b="0" i="0" lang="en-US" sz="1000" u="none" cap="none" strike="noStrike">
                <a:solidFill>
                  <a:srgbClr val="626E7A"/>
                </a:solidFill>
                <a:latin typeface="Arial"/>
                <a:ea typeface="Arial"/>
                <a:cs typeface="Arial"/>
                <a:sym typeface="Arial"/>
              </a:rPr>
              <a:t>Han's </a:t>
            </a:r>
            <a:r>
              <a:rPr b="0" i="0" lang="en-US" sz="1000" u="none" cap="none" strike="noStrike">
                <a:solidFill>
                  <a:srgbClr val="626E7A"/>
                </a:solidFill>
                <a:latin typeface="Calibri"/>
                <a:ea typeface="Calibri"/>
                <a:cs typeface="Calibri"/>
                <a:sym typeface="Calibri"/>
              </a:rPr>
              <a:t>equity in the company and other </a:t>
            </a:r>
            <a:r>
              <a:rPr b="0" i="0" lang="en-US" sz="1000" u="none" cap="none" strike="noStrike">
                <a:solidFill>
                  <a:srgbClr val="626E7A"/>
                </a:solidFill>
                <a:latin typeface="Arial"/>
                <a:ea typeface="Arial"/>
                <a:cs typeface="Arial"/>
                <a:sym typeface="Arial"/>
              </a:rPr>
              <a:t>terms still to be agreed.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lin ang="5400012" scaled="0"/>
        </a:gradFill>
      </p:bgPr>
    </p:bg>
    <p:spTree>
      <p:nvGrpSpPr>
        <p:cNvPr id="448" name="Shape 448"/>
        <p:cNvGrpSpPr/>
        <p:nvPr/>
      </p:nvGrpSpPr>
      <p:grpSpPr>
        <a:xfrm>
          <a:off x="0" y="0"/>
          <a:ext cx="0" cy="0"/>
          <a:chOff x="0" y="0"/>
          <a:chExt cx="0" cy="0"/>
        </a:xfrm>
      </p:grpSpPr>
      <p:sp>
        <p:nvSpPr>
          <p:cNvPr id="449" name="Google Shape;449;p16"/>
          <p:cNvSpPr txBox="1"/>
          <p:nvPr/>
        </p:nvSpPr>
        <p:spPr>
          <a:xfrm>
            <a:off x="777240" y="777240"/>
            <a:ext cx="4572000" cy="2742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3E6897"/>
              </a:buClr>
              <a:buSzPts val="1100"/>
              <a:buFont typeface="Arial"/>
              <a:buNone/>
            </a:pPr>
            <a:r>
              <a:rPr b="1" i="0" lang="en-US" sz="1100" u="none" cap="none" strike="noStrike">
                <a:solidFill>
                  <a:srgbClr val="3E6897"/>
                </a:solidFill>
                <a:latin typeface="Arial"/>
                <a:ea typeface="Arial"/>
                <a:cs typeface="Arial"/>
                <a:sym typeface="Arial"/>
              </a:rPr>
              <a:t>AKS-3  |  STAC WARS • PS 4</a:t>
            </a:r>
            <a:endParaRPr b="0" i="0" sz="1800" u="none" cap="none" strike="noStrike">
              <a:solidFill>
                <a:schemeClr val="dk1"/>
              </a:solidFill>
              <a:latin typeface="Calibri"/>
              <a:ea typeface="Calibri"/>
              <a:cs typeface="Calibri"/>
              <a:sym typeface="Calibri"/>
            </a:endParaRPr>
          </a:p>
        </p:txBody>
      </p:sp>
      <p:sp>
        <p:nvSpPr>
          <p:cNvPr id="450" name="Google Shape;450;p16"/>
          <p:cNvSpPr txBox="1"/>
          <p:nvPr/>
        </p:nvSpPr>
        <p:spPr>
          <a:xfrm>
            <a:off x="2904615" y="1697675"/>
            <a:ext cx="6858000" cy="28383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Clr>
                <a:srgbClr val="1F3752"/>
              </a:buClr>
              <a:buSzPts val="3400"/>
              <a:buFont typeface="Arial"/>
              <a:buNone/>
            </a:pPr>
            <a:r>
              <a:rPr b="1" i="0" lang="en-US" sz="9100" u="none" cap="none" strike="noStrike">
                <a:solidFill>
                  <a:srgbClr val="1F3752"/>
                </a:solidFill>
                <a:latin typeface="Arial"/>
                <a:ea typeface="Arial"/>
                <a:cs typeface="Arial"/>
                <a:sym typeface="Arial"/>
              </a:rPr>
              <a:t>T</a:t>
            </a:r>
            <a:r>
              <a:rPr b="1" lang="en-US" sz="9100">
                <a:solidFill>
                  <a:srgbClr val="1F3752"/>
                </a:solidFill>
              </a:rPr>
              <a:t>HANK YOU</a:t>
            </a:r>
            <a:endParaRPr b="0" i="0" sz="7500" u="none" cap="none" strike="noStrike">
              <a:solidFill>
                <a:schemeClr val="dk1"/>
              </a:solidFill>
              <a:latin typeface="Calibri"/>
              <a:ea typeface="Calibri"/>
              <a:cs typeface="Calibri"/>
              <a:sym typeface="Calibri"/>
            </a:endParaRPr>
          </a:p>
        </p:txBody>
      </p:sp>
      <p:sp>
        <p:nvSpPr>
          <p:cNvPr id="451" name="Google Shape;451;p16"/>
          <p:cNvSpPr txBox="1"/>
          <p:nvPr/>
        </p:nvSpPr>
        <p:spPr>
          <a:xfrm>
            <a:off x="1615335" y="4698000"/>
            <a:ext cx="8961000" cy="4062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Clr>
                <a:srgbClr val="3E6897"/>
              </a:buClr>
              <a:buSzPts val="1900"/>
              <a:buFont typeface="Calibri"/>
              <a:buNone/>
            </a:pPr>
            <a:r>
              <a:rPr b="1" i="0" lang="en-US" sz="2400" u="none" cap="none" strike="noStrike">
                <a:solidFill>
                  <a:srgbClr val="3E6897"/>
                </a:solidFill>
                <a:latin typeface="Calibri"/>
                <a:ea typeface="Calibri"/>
                <a:cs typeface="Calibri"/>
                <a:sym typeface="Calibri"/>
              </a:rPr>
              <a:t>May the code be with you…</a:t>
            </a:r>
            <a:endParaRPr b="0" i="0" sz="2300" u="none" cap="none" strike="noStrike">
              <a:solidFill>
                <a:schemeClr val="dk1"/>
              </a:solidFill>
              <a:latin typeface="Calibri"/>
              <a:ea typeface="Calibri"/>
              <a:cs typeface="Calibri"/>
              <a:sym typeface="Calibri"/>
            </a:endParaRPr>
          </a:p>
        </p:txBody>
      </p:sp>
      <p:sp>
        <p:nvSpPr>
          <p:cNvPr id="452" name="Google Shape;452;p16"/>
          <p:cNvSpPr/>
          <p:nvPr/>
        </p:nvSpPr>
        <p:spPr>
          <a:xfrm>
            <a:off x="804672" y="3520440"/>
            <a:ext cx="731400" cy="36600"/>
          </a:xfrm>
          <a:prstGeom prst="rect">
            <a:avLst/>
          </a:prstGeom>
          <a:solidFill>
            <a:srgbClr val="3E6897"/>
          </a:solidFill>
          <a:ln cap="flat" cmpd="sng" w="10150">
            <a:solidFill>
              <a:srgbClr val="3E689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3" name="Google Shape;453;p16"/>
          <p:cNvSpPr txBox="1"/>
          <p:nvPr/>
        </p:nvSpPr>
        <p:spPr>
          <a:xfrm>
            <a:off x="1270447" y="5850650"/>
            <a:ext cx="8046600" cy="4371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Clr>
                <a:srgbClr val="626E7A"/>
              </a:buClr>
              <a:buSzPts val="1300"/>
              <a:buFont typeface="Calibri"/>
              <a:buNone/>
            </a:pPr>
            <a:r>
              <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AKS-3</dc:creator>
</cp:coreProperties>
</file>